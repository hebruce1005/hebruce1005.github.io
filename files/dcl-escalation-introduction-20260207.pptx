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287" r:id="rId2"/>
    <p:sldId id="295" r:id="rId3"/>
    <p:sldId id="296" r:id="rId4"/>
    <p:sldId id="305" r:id="rId5"/>
    <p:sldId id="306" r:id="rId6"/>
    <p:sldId id="307" r:id="rId7"/>
    <p:sldId id="308" r:id="rId8"/>
    <p:sldId id="309" r:id="rId9"/>
    <p:sldId id="312" r:id="rId10"/>
    <p:sldId id="313" r:id="rId11"/>
    <p:sldId id="310" r:id="rId12"/>
    <p:sldId id="311" r:id="rId13"/>
    <p:sldId id="314" r:id="rId14"/>
    <p:sldId id="315" r:id="rId15"/>
    <p:sldId id="316" r:id="rId16"/>
    <p:sldId id="317" r:id="rId17"/>
    <p:sldId id="319" r:id="rId18"/>
    <p:sldId id="320" r:id="rId19"/>
    <p:sldId id="322" r:id="rId20"/>
    <p:sldId id="321" r:id="rId21"/>
    <p:sldId id="327" r:id="rId22"/>
    <p:sldId id="326" r:id="rId23"/>
    <p:sldId id="323" r:id="rId24"/>
    <p:sldId id="341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41"/>
    <p:restoredTop sz="94702"/>
  </p:normalViewPr>
  <p:slideViewPr>
    <p:cSldViewPr snapToGrid="0" snapToObjects="1" showGuides="1">
      <p:cViewPr varScale="1">
        <p:scale>
          <a:sx n="91" d="100"/>
          <a:sy n="91" d="100"/>
        </p:scale>
        <p:origin x="932" y="44"/>
      </p:cViewPr>
      <p:guideLst>
        <p:guide orient="horz" pos="2160"/>
        <p:guide pos="2880"/>
      </p:guideLst>
    </p:cSldViewPr>
  </p:slideViewPr>
  <p:notesTextViewPr>
    <p:cViewPr>
      <p:scale>
        <a:sx n="45" d="100"/>
        <a:sy n="45" d="100"/>
      </p:scale>
      <p:origin x="0" y="0"/>
    </p:cViewPr>
  </p:notesTextViewPr>
  <p:notesViewPr>
    <p:cSldViewPr snapToGrid="0" snapToObjects="1">
      <p:cViewPr varScale="1">
        <p:scale>
          <a:sx n="90" d="100"/>
          <a:sy n="90" d="100"/>
        </p:scale>
        <p:origin x="3848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28A87-2868-AD4F-883B-B1C317F8A79D}" type="datetimeFigureOut">
              <a:rPr lang="zh-CN" altLang="en-US"/>
              <a:t>2026/2/7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467785-1917-A141-8FBA-382FFEE5CD00}" type="slidenum">
              <a:rPr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67785-1917-A141-8FBA-382FFEE5CD00}" type="slidenum">
              <a:rPr lang="en-US" altLang="zh-CN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9541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0" y="2561787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6096000" y="18498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内容占位符 11"/>
          <p:cNvGraphicFramePr/>
          <p:nvPr userDrawn="1"/>
        </p:nvGraphicFramePr>
        <p:xfrm>
          <a:off x="0" y="7315"/>
          <a:ext cx="7518402" cy="519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bg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研究问题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因果机制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研究设计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实证复现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案例研究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总结讨论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内容占位符 11"/>
          <p:cNvGraphicFramePr/>
          <p:nvPr userDrawn="1"/>
        </p:nvGraphicFramePr>
        <p:xfrm>
          <a:off x="0" y="7315"/>
          <a:ext cx="7518402" cy="519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研究问题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CN" altLang="en-US" sz="1500" b="1" kern="1200">
                          <a:solidFill>
                            <a:schemeClr val="bg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因果机制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研究设计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实证复现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案例研究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总结讨论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内容占位符 11"/>
          <p:cNvGraphicFramePr/>
          <p:nvPr userDrawn="1"/>
        </p:nvGraphicFramePr>
        <p:xfrm>
          <a:off x="0" y="7315"/>
          <a:ext cx="7518402" cy="519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研究问题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因果机制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CN" altLang="en-US" sz="1500" b="1" kern="1200">
                          <a:solidFill>
                            <a:schemeClr val="bg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研究设计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实证复现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案例研究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总结讨论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内容占位符 11"/>
          <p:cNvGraphicFramePr/>
          <p:nvPr userDrawn="1"/>
        </p:nvGraphicFramePr>
        <p:xfrm>
          <a:off x="0" y="7315"/>
          <a:ext cx="7518402" cy="519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研究问题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因果机制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研究设计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CN" altLang="en-US" sz="1500" b="1" kern="1200">
                          <a:solidFill>
                            <a:schemeClr val="bg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实证复现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案例研究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总结讨论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内容占位符 11"/>
          <p:cNvGraphicFramePr/>
          <p:nvPr userDrawn="1"/>
        </p:nvGraphicFramePr>
        <p:xfrm>
          <a:off x="0" y="7315"/>
          <a:ext cx="7518402" cy="519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研究问题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因果机制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研究设计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实证复现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CN" altLang="en-US" sz="1500" b="1" kern="1200">
                          <a:solidFill>
                            <a:schemeClr val="bg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案例研究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总结讨论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内容占位符 11"/>
          <p:cNvGraphicFramePr/>
          <p:nvPr userDrawn="1"/>
        </p:nvGraphicFramePr>
        <p:xfrm>
          <a:off x="0" y="7315"/>
          <a:ext cx="7518402" cy="519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2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研究问题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因果机制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研究设计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实证复现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>
                          <a:solidFill>
                            <a:schemeClr val="tx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案例研究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CN" altLang="en-US" sz="1500" b="1" kern="1200">
                          <a:solidFill>
                            <a:schemeClr val="bg1"/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+mn-cs"/>
                        </a:rPr>
                        <a:t>总结讨论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491054" y="54351"/>
            <a:ext cx="661923" cy="44923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057711" y="11768"/>
            <a:ext cx="417046" cy="49182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571804" y="33980"/>
            <a:ext cx="469610" cy="4696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4977" y="879383"/>
            <a:ext cx="8794045" cy="4139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altLang="zh-CN" sz="3000" b="1" dirty="0" err="1">
                <a:solidFill>
                  <a:schemeClr val="tx2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What</a:t>
            </a:r>
            <a:r>
              <a:rPr lang="fr-FR" altLang="zh-CN" sz="3000" b="1" dirty="0">
                <a:solidFill>
                  <a:schemeClr val="tx2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 </a:t>
            </a:r>
            <a:r>
              <a:rPr lang="fr-FR" altLang="zh-CN" sz="3000" b="1" dirty="0" err="1">
                <a:solidFill>
                  <a:schemeClr val="tx2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is</a:t>
            </a:r>
            <a:r>
              <a:rPr lang="fr-FR" altLang="zh-CN" sz="3000" b="1" dirty="0">
                <a:solidFill>
                  <a:schemeClr val="tx2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 </a:t>
            </a:r>
            <a:r>
              <a:rPr lang="fr-FR" altLang="zh-CN" sz="3000" b="1" dirty="0" err="1">
                <a:solidFill>
                  <a:schemeClr val="tx2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Escalation</a:t>
            </a:r>
            <a:r>
              <a:rPr lang="fr-FR" altLang="zh-CN" sz="3000" b="1" dirty="0">
                <a:solidFill>
                  <a:schemeClr val="tx2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? </a:t>
            </a:r>
            <a:r>
              <a:rPr lang="fr-FR" altLang="zh-CN" sz="3000" b="1" dirty="0" err="1">
                <a:solidFill>
                  <a:schemeClr val="tx2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Measuring</a:t>
            </a:r>
            <a:r>
              <a:rPr lang="fr-FR" altLang="zh-CN" sz="3000" b="1" dirty="0">
                <a:solidFill>
                  <a:schemeClr val="tx2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 Crisis Dynamics in</a:t>
            </a:r>
          </a:p>
          <a:p>
            <a:pPr algn="ctr">
              <a:lnSpc>
                <a:spcPct val="150000"/>
              </a:lnSpc>
            </a:pPr>
            <a:r>
              <a:rPr lang="fr-FR" altLang="zh-CN" sz="3000" b="1" dirty="0">
                <a:solidFill>
                  <a:schemeClr val="tx2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International Relations </a:t>
            </a:r>
            <a:r>
              <a:rPr lang="fr-FR" altLang="zh-CN" sz="3000" b="1" dirty="0" err="1">
                <a:solidFill>
                  <a:schemeClr val="tx2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with</a:t>
            </a:r>
            <a:r>
              <a:rPr lang="fr-FR" altLang="zh-CN" sz="3000" b="1" dirty="0">
                <a:solidFill>
                  <a:schemeClr val="tx2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 Human and LLM</a:t>
            </a:r>
          </a:p>
          <a:p>
            <a:pPr algn="ctr">
              <a:lnSpc>
                <a:spcPct val="150000"/>
              </a:lnSpc>
            </a:pPr>
            <a:r>
              <a:rPr lang="fr-FR" altLang="zh-CN" sz="3000" b="1" dirty="0" err="1">
                <a:solidFill>
                  <a:schemeClr val="tx2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Generated</a:t>
            </a:r>
            <a:r>
              <a:rPr lang="fr-FR" altLang="zh-CN" sz="3000" b="1" dirty="0">
                <a:solidFill>
                  <a:schemeClr val="tx2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 Event Data</a:t>
            </a:r>
            <a:endParaRPr lang="en-GB" altLang="zh-CN" sz="3000" b="1" dirty="0">
              <a:solidFill>
                <a:schemeClr val="tx2"/>
              </a:solidFill>
              <a:effectLst/>
              <a:latin typeface="Times New Roman" panose="02020503050405090304" pitchFamily="18" charset="0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0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什么是升级？利用人类与</a:t>
            </a:r>
            <a:r>
              <a:rPr lang="fr-FR" altLang="zh-CN" sz="30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LLM</a:t>
            </a:r>
            <a:r>
              <a:rPr lang="zh-CN" altLang="en-US" sz="30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生成的事件数据衡量国际关系中的危机动态 </a:t>
            </a:r>
          </a:p>
          <a:p>
            <a:pPr algn="ctr">
              <a:lnSpc>
                <a:spcPct val="150000"/>
              </a:lnSpc>
            </a:pPr>
            <a:endParaRPr lang="en-GB" altLang="zh-CN" sz="3000" b="1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27002" y="4605388"/>
            <a:ext cx="2012089" cy="1087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500" b="1" dirty="0">
                <a:latin typeface="Times New Roman" panose="02020503050405090304" pitchFamily="18" charset="0"/>
                <a:ea typeface="楷体" panose="02010609060101010101" pitchFamily="49" charset="-122"/>
              </a:rPr>
              <a:t>杨洁菡 何柄岐 修小苏</a:t>
            </a:r>
            <a:endParaRPr kumimoji="1" lang="en-US" altLang="zh-CN" sz="1500" b="1" dirty="0">
              <a:latin typeface="Times New Roman" panose="02020503050405090304" pitchFamily="18" charset="0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1500" b="1" dirty="0">
                <a:latin typeface="Times New Roman" panose="02020503050405090304" pitchFamily="18" charset="0"/>
                <a:ea typeface="楷体" panose="02010609060101010101" pitchFamily="49" charset="-122"/>
              </a:rPr>
              <a:t>北京外国语大学 </a:t>
            </a:r>
            <a:endParaRPr kumimoji="1" lang="en-US" altLang="zh-CN" sz="1500" b="1" dirty="0">
              <a:latin typeface="Times New Roman" panose="02020503050405090304" pitchFamily="18" charset="0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1500" b="1" dirty="0">
                <a:latin typeface="Times New Roman" panose="02020503050405090304" pitchFamily="18" charset="0"/>
                <a:ea typeface="楷体" panose="02010609060101010101" pitchFamily="49" charset="-122"/>
              </a:rPr>
              <a:t>2026</a:t>
            </a:r>
            <a:r>
              <a:rPr kumimoji="1" lang="zh-CN" altLang="en-US" sz="1500" b="1" dirty="0">
                <a:latin typeface="Times New Roman" panose="02020503050405090304" pitchFamily="18" charset="0"/>
                <a:ea typeface="楷体" panose="02010609060101010101" pitchFamily="49" charset="-122"/>
              </a:rPr>
              <a:t>年</a:t>
            </a:r>
            <a:r>
              <a:rPr kumimoji="1" lang="en-US" altLang="zh-CN" sz="1500" b="1" dirty="0">
                <a:latin typeface="Times New Roman" panose="02020503050405090304" pitchFamily="18" charset="0"/>
                <a:ea typeface="楷体" panose="02010609060101010101" pitchFamily="49" charset="-122"/>
              </a:rPr>
              <a:t>2</a:t>
            </a:r>
            <a:r>
              <a:rPr kumimoji="1" lang="zh-CN" altLang="en-US" sz="1500" b="1" dirty="0">
                <a:latin typeface="Times New Roman" panose="02020503050405090304" pitchFamily="18" charset="0"/>
                <a:ea typeface="楷体" panose="02010609060101010101" pitchFamily="49" charset="-122"/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383" y="38470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目录</a:t>
            </a:r>
            <a:endParaRPr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866420" y="1731651"/>
            <a:ext cx="6647935" cy="3394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研究背景与核心问题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理论重构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lang="zh-CN" altLang="en-US" sz="2800" b="1" dirty="0">
                <a:solidFill>
                  <a:srgbClr val="0F1115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数据革命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分析策略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总结与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发现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01269" y="201810"/>
            <a:ext cx="2539157" cy="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一、</a:t>
            </a:r>
            <a:r>
              <a:rPr kumimoji="0" lang="zh-CN" altLang="zh-CN" sz="1800" b="1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研究背景与核心</a:t>
            </a:r>
            <a:r>
              <a:rPr lang="zh-CN" altLang="en-US" sz="1800" b="1" dirty="0">
                <a:solidFill>
                  <a:srgbClr val="0F1115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问题</a:t>
            </a:r>
            <a:endParaRPr kumimoji="0" lang="zh-CN" altLang="zh-CN" sz="1800" b="1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09821" y="1312075"/>
            <a:ext cx="7495591" cy="4863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1" i="0" u="sng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传统困境：两种对立的理论</a:t>
            </a:r>
            <a:endParaRPr kumimoji="0" lang="en-US" altLang="zh-CN" b="1" i="0" u="sng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威慑模型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：示强以迫使对方退缩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螺旋模型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：示强会引发报复循环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zh-CN" sz="1600" dirty="0">
              <a:solidFill>
                <a:srgbClr val="0F1115"/>
              </a:solidFill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defTabSz="914400"/>
            <a:r>
              <a:rPr lang="zh-CN" altLang="zh-CN" b="1" u="sng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现实挑战：</a:t>
            </a:r>
            <a:endParaRPr lang="en-US" altLang="zh-CN" b="1" u="sng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defTabSz="914400"/>
            <a:endParaRPr lang="zh-CN" altLang="zh-CN" b="1" u="sng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两种理论政策建议矛盾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均缺乏坚实实证基础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决策者困惑：下一步行动会平息事态还是火上浇油？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zh-CN" sz="1600" dirty="0">
              <a:solidFill>
                <a:srgbClr val="0F1115"/>
              </a:solidFill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b="1" u="sng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本研究的核心转向：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不再争论“哪派理论正确”，而是追问：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</a:b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    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“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回顾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历史，什么行动真正缩短了危机，什么行动让危机拖得更久？”</a:t>
            </a: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01269" y="523782"/>
            <a:ext cx="2539157" cy="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1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一、</a:t>
            </a:r>
            <a:r>
              <a:rPr kumimoji="0" lang="zh-CN" altLang="zh-CN" sz="1800" b="1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  <a:t>研究背景与核心</a:t>
            </a:r>
            <a:r>
              <a:rPr lang="zh-CN" altLang="en-US" sz="1800" b="1" dirty="0">
                <a:solidFill>
                  <a:srgbClr val="0F1115"/>
                </a:solidFill>
                <a:latin typeface="SimSong" panose="02020300000000000000" pitchFamily="18" charset="-122"/>
                <a:ea typeface="SimSong" panose="02020300000000000000" pitchFamily="18" charset="-122"/>
              </a:rPr>
              <a:t>问题</a:t>
            </a:r>
            <a:endParaRPr kumimoji="0" lang="zh-CN" altLang="zh-CN" sz="1800" b="1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SimSong" panose="02020300000000000000" pitchFamily="18" charset="-122"/>
              <a:ea typeface="SimSong" panose="02020300000000000000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1269" y="1128699"/>
            <a:ext cx="7495591" cy="129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SimSong" panose="02020300000000000000" pitchFamily="18" charset="-122"/>
                <a:ea typeface="SimSong" panose="02020300000000000000" pitchFamily="18" charset="-122"/>
              </a:rPr>
            </a:b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    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“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回顾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历史，什么行动真正缩短了危机，什么行动让危机拖得更久？”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90204" pitchFamily="34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62841" y="2033929"/>
            <a:ext cx="8126613" cy="3077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0153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要科学回答这个问题，必须解决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三个方法论的挑战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：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概念测量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：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如何将抽象的“升级”转化为可测量的科学变量？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数据挑战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如何构建能刻画危机动态过程的新型数据库？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分析挑战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n-ea"/>
              </a:rPr>
              <a:t>如何从复杂历史中量化每个行动的独立影响？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01269" y="340309"/>
            <a:ext cx="3021661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二、理论重构：跳出循环论证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1269" y="1511834"/>
            <a:ext cx="22509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传统研究的根本困境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：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1269" y="2098758"/>
            <a:ext cx="8959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latin typeface="+mj-ea"/>
                <a:ea typeface="+mj-ea"/>
              </a:rPr>
              <a:t>研究者</a:t>
            </a:r>
            <a:r>
              <a:rPr lang="zh-CN" altLang="zh-CN" dirty="0">
                <a:latin typeface="+mj-ea"/>
                <a:ea typeface="+mj-ea"/>
              </a:rPr>
              <a:t>通过观察一系列</a:t>
            </a:r>
            <a:r>
              <a:rPr lang="en-US" altLang="zh-CN" dirty="0">
                <a:latin typeface="+mj-ea"/>
                <a:ea typeface="+mj-ea"/>
              </a:rPr>
              <a:t>“</a:t>
            </a:r>
            <a:r>
              <a:rPr lang="zh-CN" altLang="zh-CN" dirty="0">
                <a:latin typeface="+mj-ea"/>
                <a:ea typeface="+mj-ea"/>
              </a:rPr>
              <a:t>危机性行为</a:t>
            </a:r>
            <a:r>
              <a:rPr lang="en-US" altLang="zh-CN" dirty="0">
                <a:latin typeface="+mj-ea"/>
                <a:ea typeface="+mj-ea"/>
              </a:rPr>
              <a:t>”</a:t>
            </a:r>
            <a:r>
              <a:rPr lang="zh-CN" altLang="zh-CN" dirty="0">
                <a:latin typeface="+mj-ea"/>
                <a:ea typeface="+mj-ea"/>
              </a:rPr>
              <a:t>（如军事动员、最后通牒）来</a:t>
            </a:r>
            <a:r>
              <a:rPr lang="zh-CN" altLang="zh-CN" b="1" u="sng" dirty="0">
                <a:latin typeface="+mj-ea"/>
                <a:ea typeface="+mj-ea"/>
              </a:rPr>
              <a:t>界定</a:t>
            </a:r>
            <a:r>
              <a:rPr lang="zh-CN" altLang="zh-CN" dirty="0">
                <a:latin typeface="+mj-ea"/>
                <a:ea typeface="+mj-ea"/>
              </a:rPr>
              <a:t>一场</a:t>
            </a:r>
            <a:r>
              <a:rPr lang="en-US" altLang="zh-CN" dirty="0">
                <a:latin typeface="+mj-ea"/>
                <a:ea typeface="+mj-ea"/>
              </a:rPr>
              <a:t>“</a:t>
            </a:r>
            <a:r>
              <a:rPr lang="zh-CN" altLang="zh-CN" dirty="0">
                <a:latin typeface="+mj-ea"/>
                <a:ea typeface="+mj-ea"/>
              </a:rPr>
              <a:t>危机</a:t>
            </a:r>
            <a:r>
              <a:rPr lang="zh-CN" altLang="en-US" dirty="0">
                <a:latin typeface="+mj-ea"/>
                <a:ea typeface="+mj-ea"/>
              </a:rPr>
              <a:t>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zh-CN" b="1" dirty="0">
                <a:latin typeface="+mj-ea"/>
                <a:ea typeface="+mj-ea"/>
              </a:rPr>
              <a:t>决策者</a:t>
            </a:r>
            <a:r>
              <a:rPr lang="zh-CN" altLang="en-US" dirty="0">
                <a:latin typeface="+mj-ea"/>
                <a:ea typeface="+mj-ea"/>
              </a:rPr>
              <a:t>则思考</a:t>
            </a:r>
            <a:r>
              <a:rPr lang="zh-CN" altLang="zh-CN" dirty="0">
                <a:latin typeface="+mj-ea"/>
                <a:ea typeface="+mj-ea"/>
              </a:rPr>
              <a:t>在危机中，采取某个特定行为，是会</a:t>
            </a:r>
            <a:r>
              <a:rPr lang="zh-CN" altLang="zh-CN" b="1" u="sng" dirty="0">
                <a:latin typeface="+mj-ea"/>
                <a:ea typeface="+mj-ea"/>
              </a:rPr>
              <a:t>导致</a:t>
            </a:r>
            <a:r>
              <a:rPr lang="zh-CN" altLang="zh-CN" dirty="0">
                <a:latin typeface="+mj-ea"/>
                <a:ea typeface="+mj-ea"/>
              </a:rPr>
              <a:t>危机延续，还是促成危机解决？ 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82988" y="3162736"/>
            <a:ext cx="8396032" cy="215444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矛盾逻辑：用行为解释危机，又用行为定义危机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无法区分行动是危机的“原因”还是“症状”？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334850" y="3945735"/>
            <a:ext cx="7160653" cy="1754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0F1115"/>
                </a:solidFill>
                <a:latin typeface="+mj-ea"/>
                <a:ea typeface="+mj-ea"/>
              </a:rPr>
              <a:t>本文</a:t>
            </a:r>
            <a:r>
              <a:rPr lang="zh-CN" altLang="zh-CN" sz="1600" b="1" dirty="0">
                <a:solidFill>
                  <a:srgbClr val="0F1115"/>
                </a:solidFill>
                <a:latin typeface="+mj-ea"/>
                <a:ea typeface="+mj-ea"/>
              </a:rPr>
              <a:t>的解决方案：视角转换</a:t>
            </a:r>
            <a:endParaRPr lang="en-US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sz="1600" b="1" dirty="0">
                <a:solidFill>
                  <a:srgbClr val="0F1115"/>
                </a:solidFill>
                <a:latin typeface="+mj-ea"/>
                <a:ea typeface="+mj-ea"/>
              </a:rPr>
              <a:t>从诊断静态状态 → 观测动态过程</a:t>
            </a:r>
            <a:endParaRPr lang="en-US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zh-CN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sz="1600" b="1" dirty="0">
                <a:solidFill>
                  <a:srgbClr val="0F1115"/>
                </a:solidFill>
                <a:latin typeface="+mj-ea"/>
                <a:ea typeface="+mj-ea"/>
              </a:rPr>
              <a:t>不问“这是危机吗？” → 问“这场危机还要持续多久？”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88390" y="507734"/>
            <a:ext cx="3021661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二、理论重构：核心变量定义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0514" y="1334003"/>
            <a:ext cx="9045762" cy="4863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核心</a:t>
            </a:r>
            <a:r>
              <a:rPr lang="zh-CN" altLang="zh-CN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因变量：危机剩余时间</a:t>
            </a:r>
            <a:endParaRPr lang="en-US" altLang="zh-CN" b="1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zh-CN" b="1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sz="1600" b="1" dirty="0">
                <a:solidFill>
                  <a:srgbClr val="0F1115"/>
                </a:solidFill>
                <a:latin typeface="+mj-ea"/>
                <a:ea typeface="+mj-ea"/>
              </a:rPr>
              <a:t>操作定义：在危机时间点t，预测到危机结束还剩多少叙事单元</a:t>
            </a:r>
            <a:endParaRPr lang="en-US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zh-CN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sz="1600" b="1" dirty="0">
                <a:solidFill>
                  <a:srgbClr val="0F1115"/>
                </a:solidFill>
                <a:latin typeface="+mj-ea"/>
                <a:ea typeface="+mj-ea"/>
              </a:rPr>
              <a:t>性质：连续、直观、有明确政策含义的变量</a:t>
            </a:r>
            <a:endParaRPr lang="en-US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zh-CN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defTabSz="914400"/>
            <a:r>
              <a:rPr lang="zh-CN" altLang="zh-CN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“</a:t>
            </a: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危机</a:t>
            </a:r>
            <a:r>
              <a:rPr lang="zh-CN" altLang="zh-CN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升级”的操作化新定义：</a:t>
            </a:r>
            <a:endParaRPr lang="en-US" altLang="zh-CN" b="1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defTabSz="914400"/>
            <a:endParaRPr lang="zh-CN" altLang="zh-CN" b="1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sz="1600" b="1" dirty="0">
                <a:solidFill>
                  <a:srgbClr val="0F1115"/>
                </a:solidFill>
                <a:latin typeface="+mj-ea"/>
                <a:ea typeface="+mj-ea"/>
              </a:rPr>
              <a:t>升级行为：使预测的“危机剩余时间”系统性延长</a:t>
            </a:r>
            <a:endParaRPr lang="en-US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zh-CN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zh-CN" altLang="zh-CN" sz="1600" b="1" dirty="0">
                <a:solidFill>
                  <a:srgbClr val="0F1115"/>
                </a:solidFill>
                <a:latin typeface="+mj-ea"/>
                <a:ea typeface="+mj-ea"/>
              </a:rPr>
              <a:t>降级行为：使预测的“危机剩余时间”系统性缩短</a:t>
            </a:r>
            <a:endParaRPr lang="en-US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zh-CN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marR="0" lvl="0" indent="0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此种定义的</a:t>
            </a:r>
            <a:r>
              <a:rPr lang="zh-CN" altLang="zh-CN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两大优势：</a:t>
            </a:r>
            <a:endParaRPr lang="en-US" altLang="zh-CN" b="1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R="0" lvl="0" indent="0" defTabSz="914400">
              <a:lnSpc>
                <a:spcPct val="100000"/>
              </a:lnSpc>
              <a:buClrTx/>
              <a:buSzTx/>
              <a:buFontTx/>
              <a:buNone/>
            </a:pPr>
            <a:endParaRPr lang="zh-CN" altLang="zh-CN" b="1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zh-CN" altLang="zh-CN" sz="1600" b="1" dirty="0">
                <a:solidFill>
                  <a:srgbClr val="0F1115"/>
                </a:solidFill>
                <a:latin typeface="+mj-ea"/>
                <a:ea typeface="+mj-ea"/>
              </a:rPr>
              <a:t>避免对行为的先验理论分类</a:t>
            </a:r>
            <a:endParaRPr lang="en-US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endParaRPr lang="zh-CN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zh-CN" altLang="zh-CN" sz="1600" b="1" dirty="0">
                <a:solidFill>
                  <a:srgbClr val="0F1115"/>
                </a:solidFill>
                <a:latin typeface="+mj-ea"/>
                <a:ea typeface="+mj-ea"/>
              </a:rPr>
              <a:t>兼容复杂理论（如：暴力可能因揭示信息而终结危机）</a:t>
            </a:r>
          </a:p>
          <a:p>
            <a:pPr lvl="0" defTabSz="914400"/>
            <a:endParaRPr lang="zh-CN" altLang="zh-CN" sz="1600" b="1" dirty="0">
              <a:solidFill>
                <a:srgbClr val="0F1115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88390" y="507734"/>
            <a:ext cx="3254096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三、数据革命：现有数据的局限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70197" y="1745486"/>
          <a:ext cx="7886701" cy="2491740"/>
        </p:xfrm>
        <a:graphic>
          <a:graphicData uri="http://schemas.openxmlformats.org/drawingml/2006/table">
            <a:tbl>
              <a:tblPr/>
              <a:tblGrid>
                <a:gridCol w="1685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7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7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数据类型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代表项目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优势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effectLst/>
                        </a:rPr>
                        <a:t>对本研究的局限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>
                          <a:effectLst/>
                        </a:rPr>
                        <a:t>冲突数据</a:t>
                      </a:r>
                      <a:endParaRPr lang="zh-CN" altLang="en-US" sz="1800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>
                          <a:effectLst/>
                        </a:rPr>
                        <a:t>MIDS</a:t>
                      </a:r>
                      <a:r>
                        <a:rPr lang="zh-CN" altLang="en-US" sz="1800" dirty="0">
                          <a:effectLst/>
                        </a:rPr>
                        <a:t>数据集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记录结果，可靠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effectLst/>
                        </a:rPr>
                        <a:t>只有“是否打仗”，丢失全部过程细节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3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>
                          <a:effectLst/>
                        </a:rPr>
                        <a:t>事件数据</a:t>
                      </a:r>
                      <a:endParaRPr lang="zh-CN" altLang="en-US" sz="1800">
                        <a:effectLst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>
                          <a:effectLst/>
                        </a:rPr>
                        <a:t>CAMEO</a:t>
                      </a:r>
                      <a:r>
                        <a:rPr lang="zh-CN" altLang="en-US" sz="1800">
                          <a:effectLst/>
                        </a:rPr>
                        <a:t>等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记录过程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effectLst/>
                        </a:rPr>
                        <a:t>海量事件流缺乏理论框架，难以分析序列逻辑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70197" y="1241504"/>
            <a:ext cx="29722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两类传统数据都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存在缺陷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70197" y="4458470"/>
            <a:ext cx="55306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我们需要：既有过程细节，又有理论结构的新型数据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88390" y="507734"/>
            <a:ext cx="6747040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三、数据革命：</a:t>
            </a:r>
            <a:r>
              <a:rPr lang="fr-FR" altLang="zh-CN" sz="1800" b="1" dirty="0" err="1">
                <a:solidFill>
                  <a:srgbClr val="0F1115"/>
                </a:solidFill>
                <a:latin typeface="+mj-ea"/>
              </a:rPr>
              <a:t>ICBe</a:t>
            </a:r>
            <a:r>
              <a:rPr lang="fr-FR" altLang="zh-CN" sz="1800" b="1" dirty="0">
                <a:solidFill>
                  <a:srgbClr val="0F1115"/>
                </a:solidFill>
                <a:latin typeface="+mj-ea"/>
              </a:rPr>
              <a:t>-LLM</a:t>
            </a: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数据库构建</a:t>
            </a:r>
            <a:r>
              <a:rPr lang="en-US" altLang="zh-CN" sz="1800" b="1" dirty="0">
                <a:solidFill>
                  <a:srgbClr val="0F1115"/>
                </a:solidFill>
                <a:latin typeface="+mj-ea"/>
              </a:rPr>
              <a:t>——</a:t>
            </a: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标准化语言与编码流水线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759788" y="2882354"/>
            <a:ext cx="7495505" cy="307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0153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28411" y="1394323"/>
            <a:ext cx="8487177" cy="4956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44398" rIns="0" bIns="122199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构建新型危机数据库的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三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大支柱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确定分析范畴：建立完整的历史危机样本框</a:t>
            </a:r>
          </a:p>
          <a:p>
            <a:pPr lvl="0" defTabSz="914400">
              <a:lnSpc>
                <a:spcPct val="150000"/>
              </a:lnSpc>
            </a:pPr>
            <a:r>
              <a:rPr lang="zh-CN" altLang="en-US" sz="1600" dirty="0">
                <a:solidFill>
                  <a:srgbClr val="0F1115"/>
                </a:solidFill>
                <a:latin typeface="+mj-ea"/>
                <a:ea typeface="+mj-ea"/>
              </a:rPr>
              <a:t>   采用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 “国际危机行为”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（International Crisis Behavior, ICB）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第12版的数据，将其记录的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1918年至2019年间全球范围内的475场国际危机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作为分析的完整宇宙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（universe）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j-ea"/>
              <a:ea typeface="+mj-ea"/>
            </a:endParaRPr>
          </a:p>
          <a:p>
            <a:pPr lvl="0" defTabSz="914400">
              <a:lnSpc>
                <a:spcPct val="150000"/>
              </a:lnSpc>
            </a:pP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2. 创立标准化分析语言：ICBe本体论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（The ICBe Ontology）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数据编码的核心挑战在于“语言标准化”——如何让不同编码者（无论是人类还是机器）对同一段历史文本产生一致的解读。</a:t>
            </a:r>
            <a:endParaRPr kumimoji="0" lang="en-US" altLang="zh-CN" sz="1200" b="1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defTabSz="914400">
              <a:lnSpc>
                <a:spcPct val="150000"/>
              </a:lnSpc>
            </a:pPr>
            <a:r>
              <a:rPr lang="zh-CN" altLang="en-US" sz="1600" dirty="0">
                <a:solidFill>
                  <a:srgbClr val="0F1115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      </a:t>
            </a:r>
            <a:r>
              <a:rPr lang="zh-CN" altLang="zh-CN" sz="1600" dirty="0">
                <a:solidFill>
                  <a:srgbClr val="0F1115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ICBe本体论（The ICBe Ontology）</a:t>
            </a:r>
            <a:r>
              <a:rPr lang="zh-CN" altLang="zh-CN" sz="1600" dirty="0">
                <a:solidFill>
                  <a:srgbClr val="0F1115"/>
                </a:solidFill>
                <a:latin typeface="+mj-ea"/>
              </a:rPr>
              <a:t>的设计原则：</a:t>
            </a:r>
          </a:p>
          <a:p>
            <a:pPr lvl="1" defTabSz="914400">
              <a:lnSpc>
                <a:spcPct val="150000"/>
              </a:lnSpc>
              <a:buFontTx/>
              <a:buChar char="•"/>
            </a:pPr>
            <a:r>
              <a:rPr lang="zh-CN" altLang="zh-CN" sz="1600" b="1" dirty="0">
                <a:solidFill>
                  <a:srgbClr val="0F1115"/>
                </a:solidFill>
                <a:latin typeface="+mj-ea"/>
              </a:rPr>
              <a:t>互斥性与完备性：</a:t>
            </a:r>
            <a:r>
              <a:rPr lang="zh-CN" altLang="zh-CN" sz="1600" dirty="0">
                <a:solidFill>
                  <a:srgbClr val="0F1115"/>
                </a:solidFill>
                <a:latin typeface="+mj-ea"/>
              </a:rPr>
              <a:t>每个行为都能且只能归入一个类别，所有危机中</a:t>
            </a:r>
            <a:r>
              <a:rPr lang="zh-CN" altLang="en-US" sz="1600" dirty="0">
                <a:solidFill>
                  <a:srgbClr val="0F1115"/>
                </a:solidFill>
                <a:latin typeface="+mj-ea"/>
              </a:rPr>
              <a:t>可能会</a:t>
            </a:r>
            <a:r>
              <a:rPr lang="zh-CN" altLang="zh-CN" sz="1600" dirty="0">
                <a:solidFill>
                  <a:srgbClr val="0F1115"/>
                </a:solidFill>
                <a:latin typeface="+mj-ea"/>
              </a:rPr>
              <a:t>出现的关键行为都被涵盖</a:t>
            </a:r>
          </a:p>
          <a:p>
            <a:pPr lvl="1" defTabSz="914400">
              <a:lnSpc>
                <a:spcPct val="150000"/>
              </a:lnSpc>
              <a:buFontTx/>
              <a:buChar char="•"/>
            </a:pPr>
            <a:r>
              <a:rPr lang="zh-CN" altLang="zh-CN" sz="1600" b="1" dirty="0">
                <a:solidFill>
                  <a:srgbClr val="0F1115"/>
                </a:solidFill>
                <a:latin typeface="+mj-ea"/>
              </a:rPr>
              <a:t>理论中立性：</a:t>
            </a:r>
            <a:r>
              <a:rPr lang="zh-CN" altLang="zh-CN" sz="1600" dirty="0">
                <a:solidFill>
                  <a:srgbClr val="0F1115"/>
                </a:solidFill>
                <a:latin typeface="+mj-ea"/>
              </a:rPr>
              <a:t>避免预先赋予行为“升级”或“降级”的道德或理论标签，仅作客观描述</a:t>
            </a:r>
          </a:p>
          <a:p>
            <a:pPr lvl="1" defTabSz="914400">
              <a:lnSpc>
                <a:spcPct val="150000"/>
              </a:lnSpc>
              <a:buFontTx/>
              <a:buChar char="•"/>
            </a:pPr>
            <a:r>
              <a:rPr lang="zh-CN" altLang="zh-CN" sz="1600" b="1" dirty="0">
                <a:solidFill>
                  <a:srgbClr val="0F1115"/>
                </a:solidFill>
                <a:latin typeface="+mj-ea"/>
              </a:rPr>
              <a:t>可操作性：</a:t>
            </a:r>
            <a:r>
              <a:rPr lang="zh-CN" altLang="zh-CN" sz="1600" dirty="0">
                <a:solidFill>
                  <a:srgbClr val="0F1115"/>
                </a:solidFill>
                <a:latin typeface="+mj-ea"/>
              </a:rPr>
              <a:t>每个类别都有清晰的操作定义和编码示例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11116" y="164660"/>
            <a:ext cx="6747040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三、数据革命：</a:t>
            </a:r>
            <a:r>
              <a:rPr lang="fr-FR" altLang="zh-CN" sz="1800" b="1" dirty="0" err="1">
                <a:solidFill>
                  <a:srgbClr val="0F1115"/>
                </a:solidFill>
                <a:latin typeface="+mj-ea"/>
              </a:rPr>
              <a:t>ICBe</a:t>
            </a:r>
            <a:r>
              <a:rPr lang="fr-FR" altLang="zh-CN" sz="1800" b="1" dirty="0">
                <a:solidFill>
                  <a:srgbClr val="0F1115"/>
                </a:solidFill>
                <a:latin typeface="+mj-ea"/>
              </a:rPr>
              <a:t>-LLM</a:t>
            </a: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数据库构建</a:t>
            </a:r>
            <a:r>
              <a:rPr lang="en-US" altLang="zh-CN" sz="1800" b="1" dirty="0">
                <a:solidFill>
                  <a:srgbClr val="0F1115"/>
                </a:solidFill>
                <a:latin typeface="+mj-ea"/>
              </a:rPr>
              <a:t>——</a:t>
            </a: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标准化语言与编码流水线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759788" y="2882354"/>
            <a:ext cx="7495505" cy="307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0153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239872" y="713114"/>
            <a:ext cx="8487177" cy="1108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44398" rIns="0" bIns="122199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构建新型危机数据库的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三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大支柱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42837" y="1310080"/>
            <a:ext cx="8384212" cy="5325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2199" rIns="0" bIns="122199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3. 构建人机混合编码流水线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503050405090304" pitchFamily="18" charset="0"/>
              </a:rPr>
              <a:t>传统的纯人工编码面临成本高、速度慢、一致性难保证的瓶颈。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503050405090304" pitchFamily="18" charset="0"/>
              </a:rPr>
              <a:t>本文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Times New Roman" panose="02020503050405090304" pitchFamily="18" charset="0"/>
              </a:rPr>
              <a:t>的解决方案是建立一条人机协同的编码流水线。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第一步：高质量种子数据创建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由8名经过严格训练的国际关系研究生组成专家编码团队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每名编码员独立阅读危机叙事文本，按照ICBe本体论进行标注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定期进行编码一致性测试，确保团队间信度（inter-coder reliability）超过85%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第二步：训练ICBeLLM——基于大语言模型的自动化编码系统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模型架构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：在开源LLaMA模型基础上进行微调，构建了专门的ICBeLLM系统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训练数据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：使用上述人工编码的9,358条高质量事件作为训练集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任务设计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：模型的任务不是简单分类，而是完成结构化信息抽取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0" defTabSz="914400">
              <a:lnSpc>
                <a:spcPct val="150000"/>
              </a:lnSpc>
            </a:pPr>
            <a:r>
              <a:rPr lang="zh-CN" altLang="en-US" sz="1400" b="1" dirty="0">
                <a:solidFill>
                  <a:srgbClr val="0F111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第三步：严格的多重验证质控机制</a:t>
            </a:r>
            <a:endParaRPr lang="zh-CN" altLang="en-US" sz="1400" dirty="0">
              <a:solidFill>
                <a:srgbClr val="0F1115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0" defTabSz="914400">
              <a:lnSpc>
                <a:spcPct val="150000"/>
              </a:lnSpc>
              <a:buFontTx/>
              <a:buChar char="•"/>
            </a:pPr>
            <a:r>
              <a:rPr lang="zh-CN" altLang="en-US" sz="1400" dirty="0">
                <a:solidFill>
                  <a:srgbClr val="0F111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双重专家验证：事件需被至少两位人类专家独立编码并达成一致</a:t>
            </a:r>
          </a:p>
          <a:p>
            <a:pPr lvl="0" defTabSz="914400">
              <a:lnSpc>
                <a:spcPct val="150000"/>
              </a:lnSpc>
              <a:buFontTx/>
              <a:buChar char="•"/>
            </a:pPr>
            <a:r>
              <a:rPr lang="zh-CN" altLang="en-US" sz="1400" dirty="0">
                <a:solidFill>
                  <a:srgbClr val="0F111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专家</a:t>
            </a:r>
            <a:r>
              <a:rPr lang="en-US" altLang="zh-CN" sz="1400" dirty="0">
                <a:solidFill>
                  <a:srgbClr val="0F111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-</a:t>
            </a:r>
            <a:r>
              <a:rPr lang="zh-CN" altLang="en-US" sz="1400" dirty="0">
                <a:solidFill>
                  <a:srgbClr val="0F111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机器验证：事件被一位人类专家和</a:t>
            </a:r>
            <a:r>
              <a:rPr lang="fr-FR" altLang="zh-CN" sz="1400" dirty="0" err="1">
                <a:solidFill>
                  <a:srgbClr val="0F111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ICBeLLM</a:t>
            </a:r>
            <a:r>
              <a:rPr lang="zh-CN" altLang="en-US" sz="1400" dirty="0">
                <a:solidFill>
                  <a:srgbClr val="0F111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系统共同确认</a:t>
            </a:r>
          </a:p>
          <a:p>
            <a:pPr lvl="0" defTabSz="914400">
              <a:lnSpc>
                <a:spcPct val="150000"/>
              </a:lnSpc>
              <a:buFontTx/>
              <a:buChar char="•"/>
            </a:pPr>
            <a:r>
              <a:rPr lang="zh-CN" altLang="en-US" sz="1400" dirty="0">
                <a:solidFill>
                  <a:srgbClr val="0F111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争议解决机制：出现分歧时，由第三位高级研究员仲裁</a:t>
            </a:r>
          </a:p>
          <a:p>
            <a:pPr lvl="0" defTabSz="914400">
              <a:lnSpc>
                <a:spcPct val="150000"/>
              </a:lnSpc>
              <a:buFontTx/>
              <a:buChar char="•"/>
            </a:pPr>
            <a:r>
              <a:rPr lang="zh-CN" altLang="en-US" sz="1400" dirty="0">
                <a:solidFill>
                  <a:srgbClr val="0F1115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最终数据集中，每一个事件都有明确的“验证路径”标识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22983" y="396868"/>
            <a:ext cx="5230599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三、数据革命：定义“危机</a:t>
            </a:r>
            <a:r>
              <a:rPr lang="en-US" altLang="zh-CN" sz="1800" b="1" dirty="0">
                <a:solidFill>
                  <a:srgbClr val="0F1115"/>
                </a:solidFill>
                <a:latin typeface="+mj-ea"/>
              </a:rPr>
              <a:t>-</a:t>
            </a: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时间步”作为分析单元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2983" y="1121317"/>
            <a:ext cx="8698033" cy="503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为什么需要重新定义分析单元？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传统事件数据常以“天”或“周”为时间单位，但危机动态的变化速度可能更快。外交照会、军事调动、领导人声明可能在几小时内相继发生。为捕捉这种精细的时间序列模式，需要更灵敏的时间尺度。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“危机-时间步”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503050405090304" pitchFamily="18" charset="0"/>
                <a:ea typeface="KaiTi" panose="02010609060101010101" pitchFamily="49" charset="-122"/>
                <a:cs typeface="Times New Roman" panose="02020503050405090304" pitchFamily="18" charset="0"/>
              </a:rPr>
              <a:t>（Crisis-Time Step）</a:t>
            </a: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的操作化定义：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定义：</a:t>
            </a:r>
            <a:r>
              <a:rPr lang="zh-CN" altLang="en-US" dirty="0"/>
              <a:t>将危机叙事中每一个包含至少一个可编码ICBe事件的句子，定义为一个时间步。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示例：</a:t>
            </a:r>
            <a:r>
              <a:rPr lang="zh-CN" altLang="en-US" dirty="0"/>
              <a:t>“</a:t>
            </a:r>
            <a:r>
              <a:rPr lang="fr-FR" altLang="zh-CN" dirty="0"/>
              <a:t>A</a:t>
            </a:r>
            <a:r>
              <a:rPr lang="zh-CN" altLang="en-US" dirty="0"/>
              <a:t>国增兵两万，</a:t>
            </a:r>
            <a:r>
              <a:rPr lang="fr-FR" altLang="zh-CN" dirty="0"/>
              <a:t>B</a:t>
            </a:r>
            <a:r>
              <a:rPr lang="zh-CN" altLang="en-US" dirty="0"/>
              <a:t>国取消会谈” </a:t>
            </a:r>
            <a:r>
              <a:rPr lang="en-US" altLang="zh-CN" dirty="0"/>
              <a:t>= 1</a:t>
            </a:r>
            <a:r>
              <a:rPr lang="zh-CN" altLang="en-US" dirty="0"/>
              <a:t>个时间步（含</a:t>
            </a:r>
            <a:r>
              <a:rPr lang="en-US" altLang="zh-CN" dirty="0"/>
              <a:t>2</a:t>
            </a:r>
            <a:r>
              <a:rPr lang="zh-CN" altLang="en-US" dirty="0"/>
              <a:t>事件）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总量：</a:t>
            </a:r>
            <a:r>
              <a:rPr lang="en-US" altLang="zh-CN" dirty="0"/>
              <a:t>7126</a:t>
            </a:r>
            <a:r>
              <a:rPr lang="zh-CN" altLang="en-US" dirty="0"/>
              <a:t>个“危机</a:t>
            </a:r>
            <a:r>
              <a:rPr lang="en-US" altLang="zh-CN" dirty="0"/>
              <a:t>-</a:t>
            </a:r>
            <a:r>
              <a:rPr lang="zh-CN" altLang="en-US" dirty="0"/>
              <a:t>时间步”构成的面板数据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数据革命的成效：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事件记录：</a:t>
            </a:r>
            <a:r>
              <a:rPr lang="zh-CN" altLang="en-US" dirty="0"/>
              <a:t>从</a:t>
            </a:r>
            <a:r>
              <a:rPr lang="en-US" altLang="zh-CN" dirty="0"/>
              <a:t>9358</a:t>
            </a:r>
            <a:r>
              <a:rPr lang="zh-CN" altLang="en-US" dirty="0"/>
              <a:t>条（纯人工）→ </a:t>
            </a:r>
            <a:r>
              <a:rPr lang="en-US" altLang="zh-CN" dirty="0"/>
              <a:t>15487</a:t>
            </a:r>
            <a:r>
              <a:rPr lang="zh-CN" altLang="en-US" dirty="0"/>
              <a:t>条（人机混合）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样本量提升</a:t>
            </a:r>
            <a:r>
              <a:rPr lang="zh-CN" altLang="en-US" dirty="0"/>
              <a:t>：</a:t>
            </a:r>
            <a:r>
              <a:rPr lang="en-US" altLang="zh-CN" dirty="0"/>
              <a:t>+65%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关键优势：</a:t>
            </a:r>
            <a:r>
              <a:rPr lang="zh-CN" altLang="en-US" dirty="0"/>
              <a:t>零边际人力成本，实现“显微镜式”过程分析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88390" y="188801"/>
            <a:ext cx="3718967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三、数据革命：数据的内在规律验证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pic>
        <p:nvPicPr>
          <p:cNvPr id="4" name="图片 3" descr="图表, 折线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92" y="835977"/>
            <a:ext cx="8416216" cy="5605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75511" y="166286"/>
            <a:ext cx="3718967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三、数据革命：数据的内在规律验证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pic>
        <p:nvPicPr>
          <p:cNvPr id="7" name="图片 6" descr="图表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69" y="1062521"/>
            <a:ext cx="8759531" cy="56291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75511" y="166286"/>
            <a:ext cx="2556790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四、分析策略：测量目的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7389" y="1498594"/>
            <a:ext cx="8245699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待解决的问题：</a:t>
            </a:r>
            <a:endParaRPr lang="en-US" altLang="zh-CN" b="1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dirty="0"/>
          </a:p>
          <a:p>
            <a:r>
              <a:rPr lang="zh-CN" altLang="en-US" dirty="0"/>
              <a:t>如何从7,126个历史时间步中，量化140种行为各自对“危机剩余时间”的净影响？</a:t>
            </a:r>
          </a:p>
          <a:p>
            <a:endParaRPr lang="zh-CN" altLang="en-US" dirty="0"/>
          </a:p>
          <a:p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现实复杂性：</a:t>
            </a:r>
          </a:p>
          <a:p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非线性关系：</a:t>
            </a:r>
            <a:r>
              <a:rPr lang="zh-CN" altLang="en-US" dirty="0"/>
              <a:t>影响不是简单加减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交互作用：</a:t>
            </a:r>
            <a:r>
              <a:rPr lang="zh-CN" altLang="en-US" dirty="0"/>
              <a:t>“动员”后接“谈判”，效果不同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时间衰减：</a:t>
            </a:r>
            <a:r>
              <a:rPr lang="zh-CN" altLang="en-US" dirty="0"/>
              <a:t>三天前vs三个月前的威胁，效力不同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传统线性回归难以应对 → 需要更强大的分析工具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75511" y="166286"/>
            <a:ext cx="3718967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四、分析策略：模型选择与特征工程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9150" y="1163743"/>
            <a:ext cx="824569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核心工具：</a:t>
            </a:r>
            <a:r>
              <a:rPr lang="fr-FR" altLang="zh-CN" b="1" dirty="0" err="1">
                <a:solidFill>
                  <a:schemeClr val="tx2"/>
                </a:solidFill>
                <a:latin typeface="Times New Roman" panose="02020503050405090304" pitchFamily="18" charset="0"/>
                <a:ea typeface="KaiTi" panose="02010609060101010101" pitchFamily="49" charset="-122"/>
                <a:cs typeface="Times New Roman" panose="02020503050405090304" pitchFamily="18" charset="0"/>
              </a:rPr>
              <a:t>LightGBM</a:t>
            </a: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梯度提升树模型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·</a:t>
            </a:r>
            <a:r>
              <a:rPr lang="zh-CN" altLang="en-US" dirty="0"/>
              <a:t>非参数方法，无需预设线性关系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·</a:t>
            </a:r>
            <a:r>
              <a:rPr lang="zh-CN" altLang="en-US" dirty="0"/>
              <a:t>擅长捕捉</a:t>
            </a:r>
            <a:r>
              <a:rPr lang="zh-CN" altLang="en-US" b="1" dirty="0"/>
              <a:t>非线性</a:t>
            </a:r>
            <a:r>
              <a:rPr lang="zh-CN" altLang="en-US" dirty="0"/>
              <a:t>和</a:t>
            </a:r>
            <a:r>
              <a:rPr lang="zh-CN" altLang="en-US" b="1" dirty="0"/>
              <a:t>特征交互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·</a:t>
            </a:r>
            <a:r>
              <a:rPr lang="zh-CN" altLang="en-US" dirty="0"/>
              <a:t>能灵活处理“时间距离”这一关键维度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特征工程的关键创新：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对每种行为，不记录</a:t>
            </a:r>
            <a:r>
              <a:rPr lang="zh-CN" altLang="en-US" b="1" u="sng" dirty="0"/>
              <a:t>是否发生</a:t>
            </a:r>
            <a:r>
              <a:rPr lang="zh-CN" altLang="en-US" dirty="0"/>
              <a:t>，而是构造特征：</a:t>
            </a:r>
            <a:r>
              <a:rPr lang="zh-CN" altLang="en-US" b="1" u="sng" dirty="0"/>
              <a:t>距离该行为上次发生的时间步数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·</a:t>
            </a:r>
            <a:r>
              <a:rPr lang="zh-CN" altLang="en-US" dirty="0"/>
              <a:t>本期发生：</a:t>
            </a:r>
            <a:r>
              <a:rPr lang="en-US" altLang="zh-CN" dirty="0"/>
              <a:t>0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·</a:t>
            </a:r>
            <a:r>
              <a:rPr lang="zh-CN" altLang="en-US" dirty="0"/>
              <a:t>一期前发生：</a:t>
            </a:r>
            <a:r>
              <a:rPr lang="en-US" altLang="zh-CN" dirty="0"/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·</a:t>
            </a:r>
            <a:r>
              <a:rPr lang="zh-CN" altLang="en-US" dirty="0"/>
              <a:t>从未发生：设为极大值（如</a:t>
            </a:r>
            <a:r>
              <a:rPr lang="en-US" altLang="zh-CN" dirty="0"/>
              <a:t>100</a:t>
            </a:r>
            <a:r>
              <a:rPr lang="zh-CN" altLang="en-US" dirty="0"/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→ 让模型自主学习每种行为的“影响衰减曲线”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75511" y="166286"/>
            <a:ext cx="3951403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四、分析策略：稳健性保障与可解释性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12765" y="990036"/>
            <a:ext cx="7392647" cy="4877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0153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严格验证：嵌套交叉验证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将475场危机分成10份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每次用9份训练，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用完全未参与训练的第10份测试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j-ea"/>
              <a:ea typeface="+mj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所有结论基于对“全新”危机的预测 → 确保结论可推广</a:t>
            </a:r>
          </a:p>
          <a:p>
            <a:pPr defTabSz="914400">
              <a:lnSpc>
                <a:spcPct val="150000"/>
              </a:lnSpc>
            </a:pPr>
            <a:r>
              <a:rPr lang="zh-CN" altLang="zh-CN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从“黑箱”到可解释：SHAP值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SHAP值：将模型预测公平分解到每个特征的贡献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在本研究中的意义：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行为A在时间距离B上的SHAP值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= 该行为在该情境下对危机剩余时间的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边际影响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+mj-ea"/>
              <a:ea typeface="+mj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SHAP&gt;0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：延长危机（升级）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SHAP&lt;0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+mj-ea"/>
                <a:ea typeface="+mj-ea"/>
              </a:rPr>
              <a:t>：缩短危机（降级）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5" name="图片 4" descr="应用程序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338" y="0"/>
            <a:ext cx="6253869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05280" y="1404544"/>
            <a:ext cx="3387203" cy="5552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热力图解读：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b="1" dirty="0"/>
              <a:t>纵轴：</a:t>
            </a:r>
            <a:r>
              <a:rPr lang="zh-CN" altLang="en-US" sz="1400" dirty="0"/>
              <a:t>对危机持续时间影响最大的行为（按总效应排序）</a:t>
            </a:r>
            <a:endParaRPr lang="en-US" altLang="zh-CN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橙色：想法</a:t>
            </a:r>
            <a:r>
              <a:rPr lang="en-US" altLang="zh-CN" sz="1400" dirty="0"/>
              <a:t>/</a:t>
            </a:r>
            <a:r>
              <a:rPr lang="zh-CN" altLang="en-US" sz="1400" dirty="0"/>
              <a:t>意图</a:t>
            </a:r>
            <a:endParaRPr lang="en-US" altLang="zh-CN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蓝色：言论</a:t>
            </a:r>
            <a:endParaRPr lang="en-US" altLang="zh-CN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红色：升级化行动</a:t>
            </a:r>
            <a:endParaRPr lang="en-US" altLang="zh-CN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绿色：降级化行动</a:t>
            </a:r>
            <a:endParaRPr lang="en-US" altLang="zh-CN" sz="1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紫色：行动细节</a:t>
            </a:r>
          </a:p>
          <a:p>
            <a:pPr>
              <a:lnSpc>
                <a:spcPct val="150000"/>
              </a:lnSpc>
            </a:pPr>
            <a:r>
              <a:rPr lang="zh-CN" altLang="en-US" sz="1400" b="1" dirty="0"/>
              <a:t>横轴：</a:t>
            </a:r>
            <a:r>
              <a:rPr lang="zh-CN" altLang="en-US" sz="1400" dirty="0"/>
              <a:t>该行为多久前发生（0=刚刚发生）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颜色：</a:t>
            </a:r>
          </a:p>
          <a:p>
            <a:pPr>
              <a:lnSpc>
                <a:spcPct val="150000"/>
              </a:lnSpc>
            </a:pPr>
            <a:r>
              <a:rPr lang="zh-CN" altLang="en-US" sz="1400" b="1" dirty="0"/>
              <a:t>红色越深：</a:t>
            </a:r>
            <a:r>
              <a:rPr lang="zh-CN" altLang="en-US" sz="1400" dirty="0"/>
              <a:t>延长危机的效应越强</a:t>
            </a:r>
          </a:p>
          <a:p>
            <a:pPr>
              <a:lnSpc>
                <a:spcPct val="150000"/>
              </a:lnSpc>
            </a:pPr>
            <a:r>
              <a:rPr lang="zh-CN" altLang="en-US" sz="1400" b="1" dirty="0"/>
              <a:t>紫色越深：</a:t>
            </a:r>
            <a:r>
              <a:rPr lang="zh-CN" altLang="en-US" sz="1400" dirty="0"/>
              <a:t>缩短危机的效应越强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b="1" dirty="0"/>
              <a:t>一个最直观的感受：</a:t>
            </a:r>
            <a:r>
              <a:rPr lang="zh-CN" altLang="en-US" sz="1400" dirty="0"/>
              <a:t>红色和绿色行动并不会聚焦分散在纵轴两端</a:t>
            </a:r>
            <a:r>
              <a:rPr lang="en-US" altLang="zh-CN" sz="1400" dirty="0">
                <a:sym typeface="Wingdings" pitchFamily="2" charset="2"/>
              </a:rPr>
              <a:t></a:t>
            </a:r>
            <a:r>
              <a:rPr lang="zh-CN" altLang="en-US" sz="1400" dirty="0"/>
              <a:t>一个复杂的行动模式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060200" y="743736"/>
            <a:ext cx="2325958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五、发现：行为效应图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85B1B2-476C-1424-5830-E0601E0C148C}"/>
              </a:ext>
            </a:extLst>
          </p:cNvPr>
          <p:cNvSpPr/>
          <p:nvPr/>
        </p:nvSpPr>
        <p:spPr>
          <a:xfrm>
            <a:off x="439838" y="326966"/>
            <a:ext cx="685151" cy="66503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4F2A71-4245-3448-F6AE-BC52064A4D74}"/>
              </a:ext>
            </a:extLst>
          </p:cNvPr>
          <p:cNvSpPr/>
          <p:nvPr/>
        </p:nvSpPr>
        <p:spPr>
          <a:xfrm>
            <a:off x="587433" y="438838"/>
            <a:ext cx="537556" cy="66503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766057-E783-88B1-0486-15E01E5A0437}"/>
              </a:ext>
            </a:extLst>
          </p:cNvPr>
          <p:cNvSpPr/>
          <p:nvPr/>
        </p:nvSpPr>
        <p:spPr>
          <a:xfrm>
            <a:off x="786213" y="5295697"/>
            <a:ext cx="338776" cy="66503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0AF45D-1F79-F197-F1E6-025AC15122C5}"/>
              </a:ext>
            </a:extLst>
          </p:cNvPr>
          <p:cNvSpPr/>
          <p:nvPr/>
        </p:nvSpPr>
        <p:spPr>
          <a:xfrm>
            <a:off x="686823" y="6352659"/>
            <a:ext cx="438166" cy="109101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52E640-CFBA-57D8-ACFB-A646AC41BD1F}"/>
              </a:ext>
            </a:extLst>
          </p:cNvPr>
          <p:cNvSpPr/>
          <p:nvPr/>
        </p:nvSpPr>
        <p:spPr>
          <a:xfrm>
            <a:off x="1124989" y="215094"/>
            <a:ext cx="4171288" cy="109101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821418-5970-694C-F2F5-AF42787A375A}"/>
              </a:ext>
            </a:extLst>
          </p:cNvPr>
          <p:cNvSpPr/>
          <p:nvPr/>
        </p:nvSpPr>
        <p:spPr>
          <a:xfrm>
            <a:off x="5118970" y="3005283"/>
            <a:ext cx="786310" cy="969188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8CB33A7D-8EED-CE09-1935-72CFD3E1733B}"/>
              </a:ext>
            </a:extLst>
          </p:cNvPr>
          <p:cNvCxnSpPr>
            <a:cxnSpLocks/>
          </p:cNvCxnSpPr>
          <p:nvPr/>
        </p:nvCxnSpPr>
        <p:spPr>
          <a:xfrm>
            <a:off x="3836020" y="337827"/>
            <a:ext cx="2531326" cy="2572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73276C80-C90B-E7DB-83DC-D3C287659C41}"/>
              </a:ext>
            </a:extLst>
          </p:cNvPr>
          <p:cNvCxnSpPr>
            <a:cxnSpLocks/>
          </p:cNvCxnSpPr>
          <p:nvPr/>
        </p:nvCxnSpPr>
        <p:spPr>
          <a:xfrm>
            <a:off x="5518330" y="3808636"/>
            <a:ext cx="541870" cy="1164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5" name="图片 4" descr="应用程序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338" y="0"/>
            <a:ext cx="6253869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29576" y="1390912"/>
            <a:ext cx="3387203" cy="3596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最强劲的升级行为（红色区域顶端）：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j-ea"/>
                <a:ea typeface="+mj-ea"/>
              </a:rPr>
              <a:t>1.</a:t>
            </a:r>
            <a:r>
              <a:rPr lang="zh-CN" altLang="en-US" sz="1400" dirty="0">
                <a:latin typeface="+mj-ea"/>
                <a:ea typeface="+mj-ea"/>
              </a:rPr>
              <a:t>形成新的军事同盟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j-ea"/>
                <a:ea typeface="+mj-ea"/>
              </a:rPr>
              <a:t>2.</a:t>
            </a:r>
            <a:r>
              <a:rPr lang="zh-CN" altLang="en-US" sz="1400" dirty="0">
                <a:latin typeface="+mj-ea"/>
                <a:ea typeface="+mj-ea"/>
              </a:rPr>
              <a:t>国内政治继承（政变）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j-ea"/>
                <a:ea typeface="+mj-ea"/>
              </a:rPr>
              <a:t>3.</a:t>
            </a:r>
            <a:r>
              <a:rPr lang="zh-CN" altLang="en-US" sz="1400" dirty="0">
                <a:latin typeface="+mj-ea"/>
                <a:ea typeface="+mj-ea"/>
              </a:rPr>
              <a:t>第三方介入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j-ea"/>
                <a:ea typeface="+mj-ea"/>
              </a:rPr>
              <a:t>4.</a:t>
            </a:r>
            <a:r>
              <a:rPr lang="zh-CN" altLang="en-US" sz="1400" dirty="0">
                <a:latin typeface="+mj-ea"/>
                <a:ea typeface="+mj-ea"/>
              </a:rPr>
              <a:t>发出最后通牒</a:t>
            </a:r>
            <a:r>
              <a:rPr lang="en-US" altLang="zh-CN" sz="1400" dirty="0">
                <a:latin typeface="+mj-ea"/>
                <a:ea typeface="+mj-ea"/>
              </a:rPr>
              <a:t>/</a:t>
            </a:r>
            <a:r>
              <a:rPr lang="zh-CN" altLang="en-US" sz="1400" dirty="0">
                <a:latin typeface="+mj-ea"/>
                <a:ea typeface="+mj-ea"/>
              </a:rPr>
              <a:t>中断谈判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共同特征：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j-ea"/>
                <a:ea typeface="+mj-ea"/>
              </a:rPr>
              <a:t>1.</a:t>
            </a:r>
            <a:r>
              <a:rPr lang="zh-CN" altLang="en-US" sz="1400" dirty="0">
                <a:latin typeface="+mj-ea"/>
                <a:ea typeface="+mj-ea"/>
              </a:rPr>
              <a:t>剧烈改变博弈结构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j-ea"/>
                <a:ea typeface="+mj-ea"/>
              </a:rPr>
              <a:t>2.</a:t>
            </a:r>
            <a:r>
              <a:rPr lang="zh-CN" altLang="en-US" sz="1400" dirty="0">
                <a:latin typeface="+mj-ea"/>
                <a:ea typeface="+mj-ea"/>
              </a:rPr>
              <a:t>极大增加系统不确定性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j-ea"/>
                <a:ea typeface="+mj-ea"/>
              </a:rPr>
              <a:t>3.</a:t>
            </a:r>
            <a:r>
              <a:rPr lang="zh-CN" altLang="en-US" sz="1400" dirty="0">
                <a:latin typeface="+mj-ea"/>
                <a:ea typeface="+mj-ea"/>
              </a:rPr>
              <a:t>即使表面是“合作”（如结盟）或“防御性”行动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712348" y="743736"/>
            <a:ext cx="3021661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五、发现：谁是危机延长者？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5" name="图片 4" descr="应用程序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338" y="0"/>
            <a:ext cx="6253869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29576" y="1390912"/>
            <a:ext cx="3387203" cy="4566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最有效的降级行为（紫色区域底部）：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1.</a:t>
            </a:r>
            <a:r>
              <a:rPr lang="zh-CN" altLang="en-US" sz="1400" dirty="0">
                <a:latin typeface="+mn-ea"/>
              </a:rPr>
              <a:t>领土重大变更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2.</a:t>
            </a:r>
            <a:r>
              <a:rPr lang="zh-CN" altLang="en-US" sz="1400" dirty="0">
                <a:latin typeface="+mn-ea"/>
              </a:rPr>
              <a:t>投降</a:t>
            </a:r>
            <a:r>
              <a:rPr lang="en-US" altLang="zh-CN" sz="1400" dirty="0">
                <a:latin typeface="+mn-ea"/>
              </a:rPr>
              <a:t>/</a:t>
            </a:r>
            <a:r>
              <a:rPr lang="zh-CN" altLang="en-US" sz="1400" dirty="0">
                <a:latin typeface="+mn-ea"/>
              </a:rPr>
              <a:t>撤军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3.</a:t>
            </a:r>
            <a:r>
              <a:rPr lang="zh-CN" altLang="en-US" sz="1400" dirty="0">
                <a:latin typeface="+mn-ea"/>
              </a:rPr>
              <a:t>对胜败的明确认知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4.</a:t>
            </a:r>
            <a:r>
              <a:rPr lang="zh-CN" altLang="en-US" sz="1400" dirty="0">
                <a:latin typeface="+mn-ea"/>
              </a:rPr>
              <a:t>激烈的战斗</a:t>
            </a:r>
            <a:r>
              <a:rPr lang="en-US" altLang="zh-CN" sz="1400" dirty="0">
                <a:latin typeface="+mn-ea"/>
              </a:rPr>
              <a:t>/</a:t>
            </a:r>
            <a:r>
              <a:rPr lang="zh-CN" altLang="en-US" sz="1400" dirty="0">
                <a:latin typeface="+mn-ea"/>
              </a:rPr>
              <a:t>攻击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共同特征：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1.</a:t>
            </a:r>
            <a:r>
              <a:rPr lang="zh-CN" altLang="en-US" sz="1400" dirty="0">
                <a:latin typeface="+mn-ea"/>
              </a:rPr>
              <a:t>快速提供清晰、决定性信息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2.</a:t>
            </a:r>
            <a:r>
              <a:rPr lang="zh-CN" altLang="en-US" sz="1400" dirty="0">
                <a:latin typeface="+mn-ea"/>
              </a:rPr>
              <a:t>大幅削减信息不对称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n-ea"/>
              </a:rPr>
              <a:t>3.</a:t>
            </a:r>
            <a:r>
              <a:rPr lang="zh-CN" altLang="en-US" sz="1400" dirty="0">
                <a:latin typeface="+mn-ea"/>
              </a:rPr>
              <a:t>即使代价高昂（如激烈战斗）</a:t>
            </a:r>
            <a:endParaRPr lang="en-US" altLang="zh-CN" sz="14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关键反直觉发现：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高强度的暴力（战斗）与危机缩短系统性相关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712348" y="743736"/>
            <a:ext cx="3021661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五、发现：谁是危机终结者？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A32A98-C753-1BBD-3343-090C751FFD0C}"/>
              </a:ext>
            </a:extLst>
          </p:cNvPr>
          <p:cNvSpPr/>
          <p:nvPr/>
        </p:nvSpPr>
        <p:spPr>
          <a:xfrm>
            <a:off x="639271" y="5740537"/>
            <a:ext cx="477430" cy="69544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8B355E-8950-B181-69F8-B37C0BE3F53D}"/>
              </a:ext>
            </a:extLst>
          </p:cNvPr>
          <p:cNvSpPr/>
          <p:nvPr/>
        </p:nvSpPr>
        <p:spPr>
          <a:xfrm>
            <a:off x="767816" y="5341505"/>
            <a:ext cx="369701" cy="69544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481511-0932-2858-85B0-9A59EDBFBFE4}"/>
              </a:ext>
            </a:extLst>
          </p:cNvPr>
          <p:cNvSpPr/>
          <p:nvPr/>
        </p:nvSpPr>
        <p:spPr>
          <a:xfrm>
            <a:off x="914399" y="5067153"/>
            <a:ext cx="202301" cy="69544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03930" y="1337818"/>
            <a:ext cx="8497647" cy="418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对经典理论的挑战：</a:t>
            </a:r>
            <a:endParaRPr lang="zh-CN" altLang="en-US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+mn-ea"/>
              </a:rPr>
              <a:t>·</a:t>
            </a:r>
            <a:r>
              <a:rPr lang="zh-CN" altLang="en-US" b="1" dirty="0">
                <a:latin typeface="+mn-ea"/>
              </a:rPr>
              <a:t>威慑模型：未得到系统性支持（示强未缩短危机）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+mn-ea"/>
              </a:rPr>
              <a:t>·</a:t>
            </a:r>
            <a:r>
              <a:rPr lang="zh-CN" altLang="en-US" b="1" dirty="0">
                <a:latin typeface="+mn-ea"/>
              </a:rPr>
              <a:t>螺旋模型：解释力不足（无法解释暴力终结危机）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强有力支持“冲突的讨价还价理论”：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</a:rPr>
              <a:t>核心观点：危机僵持源于信息不对称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我们的实证发现：</a:t>
            </a:r>
            <a:endParaRPr lang="zh-CN" altLang="en-US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+mn-ea"/>
              </a:rPr>
              <a:t>·</a:t>
            </a:r>
            <a:r>
              <a:rPr lang="zh-CN" altLang="en-US" b="1" dirty="0">
                <a:latin typeface="+mn-ea"/>
              </a:rPr>
              <a:t>危机持续时间的关键调节变量 </a:t>
            </a:r>
            <a:r>
              <a:rPr lang="en-US" altLang="zh-CN" b="1" dirty="0">
                <a:latin typeface="+mn-ea"/>
              </a:rPr>
              <a:t>= </a:t>
            </a:r>
            <a:r>
              <a:rPr lang="zh-CN" altLang="en-US" b="1" dirty="0">
                <a:latin typeface="+mn-ea"/>
              </a:rPr>
              <a:t>信息（不确定性）动态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+mn-ea"/>
              </a:rPr>
              <a:t>·</a:t>
            </a:r>
            <a:r>
              <a:rPr lang="zh-CN" altLang="en-US" b="1" dirty="0">
                <a:latin typeface="+mn-ea"/>
              </a:rPr>
              <a:t>升级的本质：采取让对手更困惑、预测更困难的行动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+mn-ea"/>
              </a:rPr>
              <a:t>·</a:t>
            </a:r>
            <a:r>
              <a:rPr lang="zh-CN" altLang="en-US" b="1" dirty="0">
                <a:latin typeface="+mn-ea"/>
              </a:rPr>
              <a:t>降级的本质：采取能瞬间揭晓谜底、让结局清晰的行动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</a:rPr>
              <a:t>→ 与行为表面“强硬</a:t>
            </a:r>
            <a:r>
              <a:rPr lang="en-US" altLang="zh-CN" b="1" dirty="0">
                <a:latin typeface="+mn-ea"/>
              </a:rPr>
              <a:t>/</a:t>
            </a:r>
            <a:r>
              <a:rPr lang="zh-CN" altLang="en-US" b="1" dirty="0">
                <a:latin typeface="+mn-ea"/>
              </a:rPr>
              <a:t>温和”无必然联系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19132" y="179583"/>
            <a:ext cx="4183838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五、发现：理论启示</a:t>
            </a:r>
            <a:r>
              <a:rPr lang="en-US" altLang="zh-CN" sz="1800" b="1" dirty="0">
                <a:solidFill>
                  <a:srgbClr val="0F1115"/>
                </a:solidFill>
                <a:latin typeface="+mj-ea"/>
              </a:rPr>
              <a:t>—</a:t>
            </a: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支持讨价还价理论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46353" y="3493568"/>
            <a:ext cx="8497647" cy="295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坐标轴：</a:t>
            </a:r>
            <a:endParaRPr lang="zh-CN" altLang="en-US" sz="1400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fr-FR" altLang="zh-CN" sz="1400" dirty="0">
                <a:latin typeface="+mn-ea"/>
              </a:rPr>
              <a:t>X</a:t>
            </a:r>
            <a:r>
              <a:rPr lang="zh-CN" altLang="en-US" sz="1400" dirty="0">
                <a:latin typeface="+mn-ea"/>
              </a:rPr>
              <a:t>轴：危机进程</a:t>
            </a:r>
          </a:p>
          <a:p>
            <a:pPr>
              <a:lnSpc>
                <a:spcPct val="150000"/>
              </a:lnSpc>
            </a:pPr>
            <a:r>
              <a:rPr lang="fr-FR" altLang="zh-CN" sz="1400" dirty="0">
                <a:latin typeface="+mn-ea"/>
              </a:rPr>
              <a:t>Y</a:t>
            </a:r>
            <a:r>
              <a:rPr lang="zh-CN" altLang="en-US" sz="1400" dirty="0">
                <a:latin typeface="+mn-ea"/>
              </a:rPr>
              <a:t>轴：模型预测的“剩余时间”</a:t>
            </a: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关键节点：</a:t>
            </a:r>
            <a:endParaRPr lang="zh-CN" altLang="en-US" sz="1400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红色标注（延长效应）：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artillery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蓝色标注（缩短效应）：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blocakade, mediation, withdraw</a:t>
            </a: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意义：</a:t>
            </a:r>
            <a:endParaRPr lang="zh-CN" altLang="en-US" sz="1400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模型不仅能给出平均效应，还能合理解释具体历史转折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将统计结论在著名案例中生动具象化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19132" y="179583"/>
            <a:ext cx="6283771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五、发现：模型如何思考单场危机</a:t>
            </a:r>
            <a:r>
              <a:rPr lang="en-US" altLang="zh-CN" sz="1800" b="1" dirty="0">
                <a:solidFill>
                  <a:srgbClr val="0F1115"/>
                </a:solidFill>
                <a:latin typeface="+mj-ea"/>
              </a:rPr>
              <a:t>----</a:t>
            </a: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以古巴导弹危机为例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  <p:pic>
        <p:nvPicPr>
          <p:cNvPr id="4" name="图片 3" descr="图表, 折线图, 散点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6759"/>
            <a:ext cx="9093592" cy="2546792"/>
          </a:xfrm>
          <a:prstGeom prst="rect">
            <a:avLst/>
          </a:prstGeom>
        </p:spPr>
      </p:pic>
      <p:sp>
        <p:nvSpPr>
          <p:cNvPr id="2" name="任意形状 1">
            <a:extLst>
              <a:ext uri="{FF2B5EF4-FFF2-40B4-BE49-F238E27FC236}">
                <a16:creationId xmlns:a16="http://schemas.microsoft.com/office/drawing/2014/main" id="{EB74F476-83BA-18EC-567E-E13547F6DB36}"/>
              </a:ext>
            </a:extLst>
          </p:cNvPr>
          <p:cNvSpPr/>
          <p:nvPr/>
        </p:nvSpPr>
        <p:spPr>
          <a:xfrm>
            <a:off x="1064029" y="1812175"/>
            <a:ext cx="6500553" cy="1147156"/>
          </a:xfrm>
          <a:custGeom>
            <a:avLst/>
            <a:gdLst>
              <a:gd name="connsiteX0" fmla="*/ 0 w 6500553"/>
              <a:gd name="connsiteY0" fmla="*/ 0 h 1147156"/>
              <a:gd name="connsiteX1" fmla="*/ 1022466 w 6500553"/>
              <a:gd name="connsiteY1" fmla="*/ 498763 h 1147156"/>
              <a:gd name="connsiteX2" fmla="*/ 4139738 w 6500553"/>
              <a:gd name="connsiteY2" fmla="*/ 856210 h 1147156"/>
              <a:gd name="connsiteX3" fmla="*/ 5311833 w 6500553"/>
              <a:gd name="connsiteY3" fmla="*/ 266007 h 1147156"/>
              <a:gd name="connsiteX4" fmla="*/ 6492240 w 6500553"/>
              <a:gd name="connsiteY4" fmla="*/ 1147156 h 1147156"/>
              <a:gd name="connsiteX5" fmla="*/ 6492240 w 6500553"/>
              <a:gd name="connsiteY5" fmla="*/ 1147156 h 1147156"/>
              <a:gd name="connsiteX6" fmla="*/ 6500553 w 6500553"/>
              <a:gd name="connsiteY6" fmla="*/ 1113905 h 1147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00553" h="1147156">
                <a:moveTo>
                  <a:pt x="0" y="0"/>
                </a:moveTo>
                <a:cubicBezTo>
                  <a:pt x="166255" y="178030"/>
                  <a:pt x="332510" y="356061"/>
                  <a:pt x="1022466" y="498763"/>
                </a:cubicBezTo>
                <a:cubicBezTo>
                  <a:pt x="1712422" y="641465"/>
                  <a:pt x="3424844" y="895003"/>
                  <a:pt x="4139738" y="856210"/>
                </a:cubicBezTo>
                <a:cubicBezTo>
                  <a:pt x="4854633" y="817417"/>
                  <a:pt x="4919749" y="217516"/>
                  <a:pt x="5311833" y="266007"/>
                </a:cubicBezTo>
                <a:cubicBezTo>
                  <a:pt x="5703917" y="314498"/>
                  <a:pt x="6492240" y="1147156"/>
                  <a:pt x="6492240" y="1147156"/>
                </a:cubicBezTo>
                <a:lnTo>
                  <a:pt x="6492240" y="1147156"/>
                </a:lnTo>
                <a:lnTo>
                  <a:pt x="6500553" y="1113905"/>
                </a:lnTo>
              </a:path>
            </a:pathLst>
          </a:custGeom>
          <a:noFill/>
          <a:ln w="254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B7A348-20E0-08FE-1556-B68989BA6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03" y="615423"/>
            <a:ext cx="7772400" cy="437708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0F58091-874E-5039-479A-68A08BC1B8CF}"/>
              </a:ext>
            </a:extLst>
          </p:cNvPr>
          <p:cNvSpPr txBox="1"/>
          <p:nvPr/>
        </p:nvSpPr>
        <p:spPr>
          <a:xfrm>
            <a:off x="694015" y="5162309"/>
            <a:ext cx="604524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500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海湾战争</a:t>
            </a:r>
            <a:r>
              <a:rPr kumimoji="1"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：波动剧烈，多个波峰波谷，多次</a:t>
            </a:r>
            <a:r>
              <a:rPr kumimoji="1" lang="en-US" altLang="zh-CN" sz="150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 of war</a:t>
            </a:r>
            <a:r>
              <a:rPr kumimoji="1"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恶化危机</a:t>
            </a:r>
            <a:endParaRPr kumimoji="1" lang="en-US" altLang="zh-CN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zh-CN" altLang="en-US" sz="1500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克里米亚</a:t>
            </a:r>
            <a:r>
              <a:rPr kumimoji="1" lang="en-US" altLang="zh-CN" sz="1500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1" lang="zh-CN" altLang="en-US" sz="1500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顿巴斯危机</a:t>
            </a:r>
            <a:r>
              <a:rPr kumimoji="1"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：阶梯式下行，多次</a:t>
            </a:r>
            <a:r>
              <a:rPr kumimoji="1" lang="en-US" altLang="zh-CN" sz="1500">
                <a:latin typeface="Times New Roman" panose="02020603050405020304" pitchFamily="18" charset="0"/>
                <a:cs typeface="Times New Roman" panose="02020603050405020304" pitchFamily="18" charset="0"/>
              </a:rPr>
              <a:t>mediation</a:t>
            </a:r>
            <a:r>
              <a:rPr kumimoji="1"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起到缩短危机效应</a:t>
            </a:r>
          </a:p>
        </p:txBody>
      </p:sp>
      <p:sp>
        <p:nvSpPr>
          <p:cNvPr id="5" name="任意形状 4">
            <a:extLst>
              <a:ext uri="{FF2B5EF4-FFF2-40B4-BE49-F238E27FC236}">
                <a16:creationId xmlns:a16="http://schemas.microsoft.com/office/drawing/2014/main" id="{369E2172-2878-20E6-A321-1DBDCA90B79E}"/>
              </a:ext>
            </a:extLst>
          </p:cNvPr>
          <p:cNvSpPr/>
          <p:nvPr/>
        </p:nvSpPr>
        <p:spPr>
          <a:xfrm>
            <a:off x="1365813" y="1284790"/>
            <a:ext cx="5382228" cy="1081294"/>
          </a:xfrm>
          <a:custGeom>
            <a:avLst/>
            <a:gdLst>
              <a:gd name="connsiteX0" fmla="*/ 0 w 5382228"/>
              <a:gd name="connsiteY0" fmla="*/ 0 h 1081294"/>
              <a:gd name="connsiteX1" fmla="*/ 2187615 w 5382228"/>
              <a:gd name="connsiteY1" fmla="*/ 1006997 h 1081294"/>
              <a:gd name="connsiteX2" fmla="*/ 2870521 w 5382228"/>
              <a:gd name="connsiteY2" fmla="*/ 578734 h 1081294"/>
              <a:gd name="connsiteX3" fmla="*/ 3437681 w 5382228"/>
              <a:gd name="connsiteY3" fmla="*/ 1076445 h 1081294"/>
              <a:gd name="connsiteX4" fmla="*/ 4109012 w 5382228"/>
              <a:gd name="connsiteY4" fmla="*/ 208344 h 1081294"/>
              <a:gd name="connsiteX5" fmla="*/ 5382228 w 5382228"/>
              <a:gd name="connsiteY5" fmla="*/ 891251 h 1081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2228" h="1081294">
                <a:moveTo>
                  <a:pt x="0" y="0"/>
                </a:moveTo>
                <a:cubicBezTo>
                  <a:pt x="854597" y="455270"/>
                  <a:pt x="1709195" y="910541"/>
                  <a:pt x="2187615" y="1006997"/>
                </a:cubicBezTo>
                <a:cubicBezTo>
                  <a:pt x="2666035" y="1103453"/>
                  <a:pt x="2662177" y="567159"/>
                  <a:pt x="2870521" y="578734"/>
                </a:cubicBezTo>
                <a:cubicBezTo>
                  <a:pt x="3078865" y="590309"/>
                  <a:pt x="3231266" y="1138177"/>
                  <a:pt x="3437681" y="1076445"/>
                </a:cubicBezTo>
                <a:cubicBezTo>
                  <a:pt x="3644096" y="1014713"/>
                  <a:pt x="3784921" y="239210"/>
                  <a:pt x="4109012" y="208344"/>
                </a:cubicBezTo>
                <a:cubicBezTo>
                  <a:pt x="4433103" y="177478"/>
                  <a:pt x="4907665" y="534364"/>
                  <a:pt x="5382228" y="891251"/>
                </a:cubicBezTo>
              </a:path>
            </a:pathLst>
          </a:cu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任意形状 6">
            <a:extLst>
              <a:ext uri="{FF2B5EF4-FFF2-40B4-BE49-F238E27FC236}">
                <a16:creationId xmlns:a16="http://schemas.microsoft.com/office/drawing/2014/main" id="{D6BC99F7-6CDB-02A5-AA4E-E8B7E9E931C6}"/>
              </a:ext>
            </a:extLst>
          </p:cNvPr>
          <p:cNvSpPr/>
          <p:nvPr/>
        </p:nvSpPr>
        <p:spPr>
          <a:xfrm>
            <a:off x="1203767" y="3310359"/>
            <a:ext cx="5798917" cy="1244737"/>
          </a:xfrm>
          <a:custGeom>
            <a:avLst/>
            <a:gdLst>
              <a:gd name="connsiteX0" fmla="*/ 0 w 5683170"/>
              <a:gd name="connsiteY0" fmla="*/ 0 h 1059542"/>
              <a:gd name="connsiteX1" fmla="*/ 2835797 w 5683170"/>
              <a:gd name="connsiteY1" fmla="*/ 277793 h 1059542"/>
              <a:gd name="connsiteX2" fmla="*/ 3044142 w 5683170"/>
              <a:gd name="connsiteY2" fmla="*/ 856527 h 1059542"/>
              <a:gd name="connsiteX3" fmla="*/ 3669175 w 5683170"/>
              <a:gd name="connsiteY3" fmla="*/ 787079 h 1059542"/>
              <a:gd name="connsiteX4" fmla="*/ 3900668 w 5683170"/>
              <a:gd name="connsiteY4" fmla="*/ 925975 h 1059542"/>
              <a:gd name="connsiteX5" fmla="*/ 4560425 w 5683170"/>
              <a:gd name="connsiteY5" fmla="*/ 856527 h 1059542"/>
              <a:gd name="connsiteX6" fmla="*/ 4838218 w 5683170"/>
              <a:gd name="connsiteY6" fmla="*/ 1041722 h 1059542"/>
              <a:gd name="connsiteX7" fmla="*/ 5683170 w 5683170"/>
              <a:gd name="connsiteY7" fmla="*/ 1041722 h 1059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3170" h="1059542">
                <a:moveTo>
                  <a:pt x="0" y="0"/>
                </a:moveTo>
                <a:cubicBezTo>
                  <a:pt x="1164220" y="67519"/>
                  <a:pt x="2328440" y="135038"/>
                  <a:pt x="2835797" y="277793"/>
                </a:cubicBezTo>
                <a:cubicBezTo>
                  <a:pt x="3343154" y="420548"/>
                  <a:pt x="2905246" y="771646"/>
                  <a:pt x="3044142" y="856527"/>
                </a:cubicBezTo>
                <a:cubicBezTo>
                  <a:pt x="3183038" y="941408"/>
                  <a:pt x="3526421" y="775504"/>
                  <a:pt x="3669175" y="787079"/>
                </a:cubicBezTo>
                <a:cubicBezTo>
                  <a:pt x="3811929" y="798654"/>
                  <a:pt x="3752126" y="914400"/>
                  <a:pt x="3900668" y="925975"/>
                </a:cubicBezTo>
                <a:cubicBezTo>
                  <a:pt x="4049210" y="937550"/>
                  <a:pt x="4404167" y="837236"/>
                  <a:pt x="4560425" y="856527"/>
                </a:cubicBezTo>
                <a:cubicBezTo>
                  <a:pt x="4716683" y="875818"/>
                  <a:pt x="4651094" y="1010856"/>
                  <a:pt x="4838218" y="1041722"/>
                </a:cubicBezTo>
                <a:cubicBezTo>
                  <a:pt x="5025342" y="1072588"/>
                  <a:pt x="5354256" y="1057155"/>
                  <a:pt x="5683170" y="1041722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0478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54433" y="4489550"/>
            <a:ext cx="5080000" cy="1988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2"/>
                </a:solidFill>
                <a:latin typeface="楷体" charset="0"/>
                <a:ea typeface="楷体" charset="0"/>
              </a:rPr>
              <a:t>聚类分析揭示的典型模式：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+mn-ea"/>
              </a:rPr>
              <a:t>快速解决</a:t>
            </a:r>
            <a:r>
              <a:rPr lang="en-US" altLang="zh-CN" sz="1200" dirty="0">
                <a:latin typeface="+mn-ea"/>
              </a:rPr>
              <a:t>(1)</a:t>
            </a:r>
            <a:r>
              <a:rPr lang="zh-CN" altLang="en-US" sz="1200" dirty="0">
                <a:latin typeface="+mn-ea"/>
              </a:rPr>
              <a:t>：曲线骤降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+mn-ea"/>
              </a:rPr>
              <a:t>拉锯反复</a:t>
            </a:r>
            <a:r>
              <a:rPr lang="en-US" altLang="zh-CN" sz="1200" dirty="0">
                <a:latin typeface="+mn-ea"/>
              </a:rPr>
              <a:t>(2)</a:t>
            </a:r>
            <a:r>
              <a:rPr lang="zh-CN" altLang="en-US" sz="1200" dirty="0">
                <a:latin typeface="+mn-ea"/>
              </a:rPr>
              <a:t>：曲线上下波动强烈，多个波峰波谷</a:t>
            </a:r>
            <a:r>
              <a:rPr lang="en-US" altLang="zh-CN" sz="1200" dirty="0">
                <a:latin typeface="+mn-ea"/>
              </a:rPr>
              <a:t>【</a:t>
            </a:r>
            <a:r>
              <a:rPr lang="zh-CN" altLang="en-US" sz="1200" dirty="0">
                <a:latin typeface="+mn-ea"/>
              </a:rPr>
              <a:t>海湾战争</a:t>
            </a:r>
            <a:r>
              <a:rPr lang="en-US" altLang="zh-CN" sz="1200" dirty="0">
                <a:latin typeface="+mn-ea"/>
              </a:rPr>
              <a:t>】</a:t>
            </a:r>
            <a:endParaRPr lang="zh-CN" altLang="en-US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+mn-ea"/>
              </a:rPr>
              <a:t>危机复发</a:t>
            </a:r>
            <a:r>
              <a:rPr lang="en-US" altLang="zh-CN" sz="1200" dirty="0">
                <a:latin typeface="+mn-ea"/>
              </a:rPr>
              <a:t>I(3)</a:t>
            </a:r>
            <a:r>
              <a:rPr lang="zh-CN" altLang="en-US" sz="1200" dirty="0">
                <a:latin typeface="+mn-ea"/>
              </a:rPr>
              <a:t>：曲线下行后快速抬升且居高不下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+mn-ea"/>
              </a:rPr>
              <a:t>危机复发</a:t>
            </a:r>
            <a:r>
              <a:rPr lang="en-US" altLang="zh-CN" sz="1200" dirty="0">
                <a:latin typeface="+mn-ea"/>
              </a:rPr>
              <a:t>II(4)</a:t>
            </a:r>
            <a:r>
              <a:rPr lang="zh-CN" altLang="en-US" sz="1200" dirty="0">
                <a:latin typeface="+mn-ea"/>
              </a:rPr>
              <a:t>：类似</a:t>
            </a:r>
            <a:r>
              <a:rPr lang="en-US" altLang="zh-CN" sz="1200" dirty="0">
                <a:latin typeface="+mn-ea"/>
              </a:rPr>
              <a:t>(3)</a:t>
            </a:r>
            <a:r>
              <a:rPr lang="zh-CN" altLang="en-US" sz="1200" dirty="0">
                <a:latin typeface="+mn-ea"/>
              </a:rPr>
              <a:t>，但幅度更大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+mn-ea"/>
              </a:rPr>
              <a:t>短暂升级</a:t>
            </a:r>
            <a:r>
              <a:rPr lang="en-US" altLang="zh-CN" sz="1200" dirty="0">
                <a:latin typeface="+mn-ea"/>
              </a:rPr>
              <a:t>(5)</a:t>
            </a:r>
            <a:r>
              <a:rPr lang="zh-CN" altLang="en-US" sz="1200" dirty="0">
                <a:latin typeface="+mn-ea"/>
              </a:rPr>
              <a:t>：曲线下行后又短暂抬升，随后下行</a:t>
            </a:r>
            <a:r>
              <a:rPr lang="en-US" altLang="zh-CN" sz="1200" dirty="0">
                <a:latin typeface="+mn-ea"/>
              </a:rPr>
              <a:t>【</a:t>
            </a:r>
            <a:r>
              <a:rPr lang="zh-CN" altLang="en-US" sz="1200" dirty="0">
                <a:latin typeface="+mn-ea"/>
              </a:rPr>
              <a:t>古巴导弹危机</a:t>
            </a:r>
            <a:r>
              <a:rPr lang="en-US" altLang="zh-CN" sz="1200" dirty="0">
                <a:latin typeface="+mn-ea"/>
              </a:rPr>
              <a:t>】</a:t>
            </a:r>
            <a:endParaRPr lang="zh-CN" altLang="en-US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+mn-ea"/>
              </a:rPr>
              <a:t>阶梯下行</a:t>
            </a:r>
            <a:r>
              <a:rPr lang="en-US" altLang="zh-CN" sz="1200" dirty="0">
                <a:latin typeface="+mn-ea"/>
              </a:rPr>
              <a:t>(6)</a:t>
            </a:r>
            <a:r>
              <a:rPr lang="zh-CN" altLang="en-US" sz="1200" dirty="0">
                <a:latin typeface="+mn-ea"/>
              </a:rPr>
              <a:t>：曲线台阶式下行</a:t>
            </a:r>
            <a:r>
              <a:rPr lang="en-US" altLang="zh-CN" sz="1200" dirty="0">
                <a:latin typeface="+mn-ea"/>
              </a:rPr>
              <a:t>【</a:t>
            </a:r>
            <a:r>
              <a:rPr lang="zh-CN" altLang="en-US" sz="1200" dirty="0">
                <a:latin typeface="+mn-ea"/>
              </a:rPr>
              <a:t>克里米亚危机</a:t>
            </a:r>
            <a:r>
              <a:rPr lang="en-US" altLang="zh-CN" sz="1200" dirty="0">
                <a:latin typeface="+mn-ea"/>
              </a:rPr>
              <a:t>】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19132" y="181861"/>
            <a:ext cx="2980055" cy="642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五、发现：危机动态的多样性</a:t>
            </a:r>
          </a:p>
        </p:txBody>
      </p:sp>
      <p:pic>
        <p:nvPicPr>
          <p:cNvPr id="2" name="图片 1" descr="截屏2026-02-07 上午10.44.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95" y="769117"/>
            <a:ext cx="6530983" cy="364154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35847" y="4489550"/>
            <a:ext cx="5080000" cy="11988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algn="l">
              <a:lnSpc>
                <a:spcPct val="150000"/>
              </a:lnSpc>
              <a:spcBef>
                <a:spcPts val="1600"/>
              </a:spcBef>
              <a:buClrTx/>
              <a:buSzTx/>
              <a:buFontTx/>
            </a:pPr>
            <a:r>
              <a:rPr lang="zh-CN" altLang="en-US" sz="1200" b="1" i="0" dirty="0">
                <a:solidFill>
                  <a:schemeClr val="tx2"/>
                </a:solidFill>
                <a:latin typeface="楷体" charset="0"/>
                <a:ea typeface="楷体" charset="0"/>
              </a:rPr>
              <a:t>意义：</a:t>
            </a:r>
          </a:p>
          <a:p>
            <a:pPr marL="0" algn="l">
              <a:lnSpc>
                <a:spcPct val="150000"/>
              </a:lnSpc>
              <a:buClrTx/>
              <a:buSzTx/>
              <a:buFont typeface="Arial" panose="020B0604020202090204"/>
              <a:buChar char="•"/>
            </a:pPr>
            <a:r>
              <a:rPr lang="zh-CN" altLang="en-US" sz="1200" b="0" i="0" dirty="0">
                <a:latin typeface="+mn-ea"/>
              </a:rPr>
              <a:t>危机的动态是多样的，但存在可分类的系统性模式</a:t>
            </a:r>
          </a:p>
          <a:p>
            <a:pPr marL="0" algn="l">
              <a:lnSpc>
                <a:spcPct val="150000"/>
              </a:lnSpc>
              <a:buClrTx/>
              <a:buSzTx/>
              <a:buFont typeface="Arial" panose="020B0604020202090204"/>
              <a:buChar char="•"/>
            </a:pPr>
            <a:r>
              <a:rPr lang="zh-CN" altLang="en-US" sz="1200" b="0" i="0" dirty="0">
                <a:latin typeface="+mn-ea"/>
              </a:rPr>
              <a:t>我们的模型成功捕捉到了这种复杂性</a:t>
            </a:r>
          </a:p>
          <a:p>
            <a:pPr marL="0" algn="l">
              <a:lnSpc>
                <a:spcPct val="150000"/>
              </a:lnSpc>
              <a:buClrTx/>
              <a:buSzTx/>
              <a:buFont typeface="Arial" panose="020B0604020202090204"/>
              <a:buChar char="•"/>
            </a:pPr>
            <a:r>
              <a:rPr lang="zh-CN" altLang="en-US" sz="1200" b="0" i="0" dirty="0">
                <a:latin typeface="+mn-ea"/>
              </a:rPr>
              <a:t>呼应理论部分关于“过程”和“偶然性”的讨论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920681" y="24219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46353" y="1118877"/>
            <a:ext cx="8497647" cy="501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主要贡献：方法论范式推进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·</a:t>
            </a:r>
            <a:r>
              <a:rPr lang="fr-FR" altLang="zh-CN" dirty="0">
                <a:latin typeface="+mj-ea"/>
                <a:ea typeface="+mj-ea"/>
              </a:rPr>
              <a:t>LLM</a:t>
            </a:r>
            <a:r>
              <a:rPr lang="zh-CN" altLang="fr-FR" dirty="0">
                <a:latin typeface="+mj-ea"/>
                <a:ea typeface="+mj-ea"/>
              </a:rPr>
              <a:t>（</a:t>
            </a:r>
            <a:r>
              <a:rPr lang="zh-CN" altLang="en-US" dirty="0">
                <a:latin typeface="+mj-ea"/>
                <a:ea typeface="+mj-ea"/>
              </a:rPr>
              <a:t>数据生产） </a:t>
            </a:r>
            <a:r>
              <a:rPr lang="en-US" altLang="zh-CN" dirty="0">
                <a:latin typeface="+mj-ea"/>
                <a:ea typeface="+mj-ea"/>
              </a:rPr>
              <a:t>+ </a:t>
            </a:r>
            <a:r>
              <a:rPr lang="zh-CN" altLang="en-US" dirty="0">
                <a:latin typeface="+mj-ea"/>
                <a:ea typeface="+mj-ea"/>
              </a:rPr>
              <a:t>可解释机器学习（数据分析） 的深度融合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·</a:t>
            </a:r>
            <a:r>
              <a:rPr lang="zh-CN" altLang="en-US" dirty="0">
                <a:latin typeface="+mj-ea"/>
                <a:ea typeface="+mj-ea"/>
              </a:rPr>
              <a:t>为基于历史文本的社会科学研究开辟新路径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·</a:t>
            </a:r>
            <a:r>
              <a:rPr lang="zh-CN" altLang="en-US" dirty="0">
                <a:latin typeface="+mj-ea"/>
                <a:ea typeface="+mj-ea"/>
              </a:rPr>
              <a:t>提供可复现的分析框架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研究性质：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·</a:t>
            </a:r>
            <a:r>
              <a:rPr lang="zh-CN" altLang="en-US" dirty="0">
                <a:latin typeface="+mj-ea"/>
                <a:ea typeface="+mj-ea"/>
              </a:rPr>
              <a:t>基于历史大数据的严谨观察性研究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·</a:t>
            </a:r>
            <a:r>
              <a:rPr lang="zh-CN" altLang="en-US" dirty="0">
                <a:latin typeface="+mj-ea"/>
                <a:ea typeface="+mj-ea"/>
              </a:rPr>
              <a:t>提供强相关性证据和强大分析框架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·</a:t>
            </a:r>
            <a:r>
              <a:rPr lang="zh-CN" altLang="en-US" dirty="0">
                <a:latin typeface="+mj-ea"/>
                <a:ea typeface="+mj-ea"/>
              </a:rPr>
              <a:t>为因果推断奠定基础，但非最终定论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2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局限与未来方向：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·</a:t>
            </a:r>
            <a:r>
              <a:rPr lang="zh-CN" altLang="en-US" dirty="0">
                <a:latin typeface="+mj-ea"/>
                <a:ea typeface="+mj-ea"/>
              </a:rPr>
              <a:t>测量的是“平均历史效应”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·</a:t>
            </a:r>
            <a:r>
              <a:rPr lang="zh-CN" altLang="en-US" dirty="0">
                <a:latin typeface="+mj-ea"/>
                <a:ea typeface="+mj-ea"/>
              </a:rPr>
              <a:t>未来需识别情境调节变量（政权类型、力量对比等）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j-ea"/>
                <a:ea typeface="+mj-ea"/>
              </a:rPr>
              <a:t>·</a:t>
            </a:r>
            <a:r>
              <a:rPr lang="zh-CN" altLang="en-US" dirty="0">
                <a:latin typeface="+mj-ea"/>
                <a:ea typeface="+mj-ea"/>
              </a:rPr>
              <a:t>可发展为危机管理决策支持系统</a:t>
            </a:r>
          </a:p>
        </p:txBody>
      </p:sp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19132" y="179583"/>
            <a:ext cx="3021661" cy="64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44398" rIns="0" bIns="122199" numCol="1" anchor="ctr" anchorCtr="0" compatLnSpc="1">
            <a:spAutoFit/>
          </a:bodyPr>
          <a:lstStyle/>
          <a:p>
            <a:pPr lvl="0" algn="l" defTabSz="914400" eaLnBrk="0" fontAlgn="base" hangingPunct="0">
              <a:spcAft>
                <a:spcPct val="0"/>
              </a:spcAft>
            </a:pPr>
            <a:r>
              <a:rPr lang="zh-CN" altLang="en-US" sz="1800" b="1" dirty="0">
                <a:solidFill>
                  <a:srgbClr val="0F1115"/>
                </a:solidFill>
                <a:latin typeface="+mj-ea"/>
              </a:rPr>
              <a:t>五、发现：方法论贡献与局限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5D66-97C6-983E-1984-4818AE35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C6F13DB-6385-D27A-CBAB-CDD5340E5BD8}"/>
              </a:ext>
            </a:extLst>
          </p:cNvPr>
          <p:cNvSpPr txBox="1"/>
          <p:nvPr/>
        </p:nvSpPr>
        <p:spPr>
          <a:xfrm>
            <a:off x="2469739" y="1748627"/>
            <a:ext cx="4204518" cy="1260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感谢聆听！</a:t>
            </a:r>
            <a:endParaRPr lang="en" altLang="zh-CN" sz="6000" b="1" dirty="0">
              <a:solidFill>
                <a:schemeClr val="tx2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94079A-C88D-5A55-9892-9B938E07B05A}"/>
              </a:ext>
            </a:extLst>
          </p:cNvPr>
          <p:cNvSpPr txBox="1"/>
          <p:nvPr/>
        </p:nvSpPr>
        <p:spPr>
          <a:xfrm>
            <a:off x="2911127" y="4143940"/>
            <a:ext cx="3321743" cy="12862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杨洁菡 何柄岐 修小苏</a:t>
            </a:r>
            <a:endParaRPr kumimoji="1"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北京外国语大学 国际关系学院</a:t>
            </a:r>
            <a:endParaRPr kumimoji="1"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2026</a:t>
            </a:r>
            <a:r>
              <a:rPr kumimoji="1"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年</a:t>
            </a:r>
            <a:r>
              <a:rPr kumimoji="1"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kumimoji="1"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4043240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2274</Words>
  <Application>Microsoft Office PowerPoint</Application>
  <PresentationFormat>全屏显示(4:3)</PresentationFormat>
  <Paragraphs>257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SimSong</vt:lpstr>
      <vt:lpstr>等线</vt:lpstr>
      <vt:lpstr>楷体</vt:lpstr>
      <vt:lpstr>楷体</vt:lpstr>
      <vt:lpstr>Arial</vt:lpstr>
      <vt:lpstr>Calibri</vt:lpstr>
      <vt:lpstr>Times New Roman</vt:lpstr>
      <vt:lpstr>Wingdings</vt:lpstr>
      <vt:lpstr>Office Theme</vt:lpstr>
      <vt:lpstr>PowerPoint 演示文稿</vt:lpstr>
      <vt:lpstr>目录</vt:lpstr>
      <vt:lpstr>一、研究背景与核心问题 </vt:lpstr>
      <vt:lpstr>一、研究背景与核心问题 </vt:lpstr>
      <vt:lpstr>二、理论重构：跳出循环论证</vt:lpstr>
      <vt:lpstr>二、理论重构：核心变量定义</vt:lpstr>
      <vt:lpstr>三、数据革命：现有数据的局限</vt:lpstr>
      <vt:lpstr>三、数据革命：ICBe-LLM数据库构建——标准化语言与编码流水线</vt:lpstr>
      <vt:lpstr>三、数据革命：ICBe-LLM数据库构建——标准化语言与编码流水线</vt:lpstr>
      <vt:lpstr>三、数据革命：定义“危机-时间步”作为分析单元</vt:lpstr>
      <vt:lpstr>三、数据革命：数据的内在规律验证</vt:lpstr>
      <vt:lpstr>三、数据革命：数据的内在规律验证</vt:lpstr>
      <vt:lpstr>四、分析策略：测量目的</vt:lpstr>
      <vt:lpstr>四、分析策略：模型选择与特征工程</vt:lpstr>
      <vt:lpstr>四、分析策略：稳健性保障与可解释性</vt:lpstr>
      <vt:lpstr>五、发现：行为效应图</vt:lpstr>
      <vt:lpstr>五、发现：谁是危机延长者？</vt:lpstr>
      <vt:lpstr>五、发现：谁是危机终结者？</vt:lpstr>
      <vt:lpstr>五、发现：理论启示—支持讨价还价理论</vt:lpstr>
      <vt:lpstr>五、发现：模型如何思考单场危机----以古巴导弹危机为例</vt:lpstr>
      <vt:lpstr>PowerPoint 演示文稿</vt:lpstr>
      <vt:lpstr>五、发现：危机动态的多样性</vt:lpstr>
      <vt:lpstr>五、发现：方法论贡献与局限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洁菡 杨</cp:lastModifiedBy>
  <cp:revision>74</cp:revision>
  <dcterms:created xsi:type="dcterms:W3CDTF">2026-02-07T02:46:57Z</dcterms:created>
  <dcterms:modified xsi:type="dcterms:W3CDTF">2026-02-07T03:51:44Z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A7E5315594B20BACEAB782690E58D3EC_42</vt:lpwstr>
  </property>
  <property fmtid="{D5CDD505-2E9C-101B-9397-08002B2CF9AE}" pid="3" name="KSOProductBuildVer">
    <vt:lpwstr>2052-6.11.0.8885</vt:lpwstr>
  </property>
</Properties>
</file>