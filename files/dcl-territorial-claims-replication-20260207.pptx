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5"/>
  </p:notesMasterIdLst>
  <p:sldIdLst>
    <p:sldId id="287" r:id="rId2"/>
    <p:sldId id="257" r:id="rId3"/>
    <p:sldId id="335" r:id="rId4"/>
    <p:sldId id="336" r:id="rId5"/>
    <p:sldId id="337" r:id="rId6"/>
    <p:sldId id="284" r:id="rId7"/>
    <p:sldId id="290" r:id="rId8"/>
    <p:sldId id="338" r:id="rId9"/>
    <p:sldId id="339" r:id="rId10"/>
    <p:sldId id="340" r:id="rId11"/>
    <p:sldId id="286" r:id="rId12"/>
    <p:sldId id="293" r:id="rId13"/>
    <p:sldId id="326" r:id="rId14"/>
    <p:sldId id="327" r:id="rId15"/>
    <p:sldId id="294" r:id="rId16"/>
    <p:sldId id="307" r:id="rId17"/>
    <p:sldId id="342" r:id="rId18"/>
    <p:sldId id="306" r:id="rId19"/>
    <p:sldId id="308" r:id="rId20"/>
    <p:sldId id="273" r:id="rId21"/>
    <p:sldId id="311" r:id="rId22"/>
    <p:sldId id="329" r:id="rId23"/>
    <p:sldId id="330" r:id="rId24"/>
    <p:sldId id="332" r:id="rId25"/>
    <p:sldId id="331" r:id="rId26"/>
    <p:sldId id="333" r:id="rId27"/>
    <p:sldId id="334" r:id="rId28"/>
    <p:sldId id="312" r:id="rId29"/>
    <p:sldId id="318" r:id="rId30"/>
    <p:sldId id="277" r:id="rId31"/>
    <p:sldId id="321" r:id="rId32"/>
    <p:sldId id="320" r:id="rId33"/>
    <p:sldId id="319" r:id="rId34"/>
    <p:sldId id="313" r:id="rId35"/>
    <p:sldId id="314" r:id="rId36"/>
    <p:sldId id="315" r:id="rId37"/>
    <p:sldId id="316" r:id="rId38"/>
    <p:sldId id="317" r:id="rId39"/>
    <p:sldId id="324" r:id="rId40"/>
    <p:sldId id="325" r:id="rId41"/>
    <p:sldId id="280" r:id="rId42"/>
    <p:sldId id="328" r:id="rId43"/>
    <p:sldId id="341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47"/>
    <p:restoredTop sz="79898" autoAdjust="0"/>
  </p:normalViewPr>
  <p:slideViewPr>
    <p:cSldViewPr snapToGrid="0" snapToObjects="1" showGuides="1">
      <p:cViewPr>
        <p:scale>
          <a:sx n="82" d="100"/>
          <a:sy n="82" d="100"/>
        </p:scale>
        <p:origin x="416" y="432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33" d="100"/>
        <a:sy n="33" d="100"/>
      </p:scale>
      <p:origin x="0" y="-628"/>
    </p:cViewPr>
  </p:sorterViewPr>
  <p:notesViewPr>
    <p:cSldViewPr snapToGrid="0" snapToObjects="1">
      <p:cViewPr varScale="1">
        <p:scale>
          <a:sx n="90" d="100"/>
          <a:sy n="90" d="100"/>
        </p:scale>
        <p:origin x="3848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528A87-2868-AD4F-883B-B1C317F8A79D}" type="datetimeFigureOut">
              <a:rPr lang="zh-CN" altLang="en-US"/>
              <a:t>2026/2/7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467785-1917-A141-8FBA-382FFEE5CD00}" type="slidenum">
              <a:rPr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2878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6354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824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6126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41036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0925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makedata</a:t>
            </a:r>
            <a:r>
              <a:rPr lang="en-US" altLang="zh-CN" dirty="0"/>
              <a:t> </a:t>
            </a:r>
            <a:r>
              <a:rPr lang="zh-CN" altLang="en-US" dirty="0"/>
              <a:t>的核心目的，就是把各种原始地理和历史数据，整合成一个能直接跑回归的面板数据集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6560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067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1302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76073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70109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79129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作者通过 </a:t>
                </a:r>
                <a:r>
                  <a:rPr lang="en-US" altLang="zh-CN" sz="1200" kern="1200" dirty="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splm</a:t>
                </a:r>
                <a:r>
                  <a:rPr lang="en-US" altLang="zh-C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::impacts()</a:t>
                </a:r>
                <a:r>
                  <a:rPr lang="zh-CN" altLang="en-US" dirty="0"/>
                  <a:t> 计算空间滞后模型的 </a:t>
                </a:r>
                <a:r>
                  <a:rPr lang="en-US" altLang="zh-CN" dirty="0"/>
                  <a:t>total marginal effects</a:t>
                </a:r>
                <a:r>
                  <a:rPr lang="zh-CN" altLang="en-US" dirty="0"/>
                  <a:t>，该函数在空间面板环境下会结合 </a:t>
                </a:r>
                <a:r>
                  <a:rPr lang="en-US" altLang="zh-CN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time=10</a:t>
                </a:r>
                <a:r>
                  <a:rPr lang="zh-CN" altLang="en-US" dirty="0"/>
                  <a:t> 的多期传播设定，并采用数值近似方法得到边际效应。</a:t>
                </a:r>
                <a:br>
                  <a:rPr lang="zh-CN" altLang="en-US" dirty="0"/>
                </a:br>
                <a:r>
                  <a:rPr lang="zh-CN" altLang="en-US" dirty="0"/>
                  <a:t>我的补丁方法没有调用 </a:t>
                </a:r>
                <a:r>
                  <a:rPr lang="en-US" altLang="zh-CN" dirty="0"/>
                  <a:t>impacts()</a:t>
                </a:r>
                <a:r>
                  <a:rPr lang="zh-CN" altLang="en-US" dirty="0"/>
                  <a:t>，而是根据同一套空间计量学公式手动计算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(𝐼−𝜌𝑊├ 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┤^(−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 𝛽┤</a:t>
                </a:r>
                <a:r>
                  <a:rPr lang="zh-CN" altLang="en-US" dirty="0"/>
                  <a:t>的点估计。</a:t>
                </a:r>
                <a:br>
                  <a:rPr lang="zh-CN" altLang="en-US" dirty="0"/>
                </a:br>
                <a:r>
                  <a:rPr lang="zh-CN" altLang="en-US" dirty="0"/>
                  <a:t>两种方法在统计含义上是一致的，但实现路径不同：作者方法包含动态传播与近似处理，而补丁方法是静态的精确线性代数计算，因此结果在数值上会存在小幅差异。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23901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6CB85-A649-86F9-9464-4DB68E6EF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E8902B-C8ED-813A-740F-F02A12BDB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CDF181-0AC0-1632-49FE-518CAF46F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E0AC2C-3E91-7487-16E3-D87E0C5BD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54387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D10E9-5A14-7A6A-9EBB-665B076E9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9F9DB8-15D6-01E0-53A2-275208516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6C5D8C-09A5-C9F9-9292-46C0317D8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AE4DAF-4E2A-8E2F-7419-266CDD089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61503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66605-99EF-5F43-4A53-5D3440EB6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4E7230-CE5F-BA2B-5148-CCF44DA6F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A64CD2-9DD2-E36E-C0F5-AE50DCCC6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CA76A4-C6CE-49B7-CEA1-93C386E9EF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09827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AC50A-32E5-BB00-F225-145F54FA7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C00EE9-0036-0A7C-6744-F4E3F26FC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08D967-C902-1A81-350A-578BF7C9D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B641DC-531C-3E4C-FF5E-3432613D51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57186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8C1EA-FA72-2FF5-82A7-CD740AA35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790AD3-B2E1-7D85-8127-E4EB83FE5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7273EB-60A7-4D1A-854B-C97E7CB34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98DD88-5BD9-F5BC-2196-31B70EEF8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89635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1CED1-5596-5D20-8996-0D5BCA525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33D2D1-7CAF-7DB2-7138-53D0AFF0C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1D8D05-72A9-E5C2-7F5A-7782B9D52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9F086A-5CB9-9BF2-6580-448D8EADB4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02670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58BDC-5FB3-0818-0E02-8F25CFC46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872CC6-53F5-8CED-47C5-3FA631FDA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D5F47C2-8DEE-A785-F588-79603F8B1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A3F5BF-7982-7CC5-5077-1E5EA1F23A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39786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 smtClean="0"/>
              <a:t>30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07533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 smtClean="0"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52234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 smtClean="0"/>
              <a:t>33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06127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 smtClean="0"/>
              <a:t>37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79014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8D62A-B711-7CBC-A761-C0B14ABD7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D3C1BA-9F55-ADCA-5C8D-2BD60743A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07FB50-B79C-0915-62CC-029E89278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2DB520-429D-53C4-37E0-6CA791F6EC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 smtClean="0"/>
              <a:t>39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90746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16F41-86A3-D267-B3B9-798D1050B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96518B-C6F9-95DD-81A9-A6603BA36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A9036F-45F1-8F2E-4A20-5841F7E62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FB3A27-845A-18D8-3BCF-8AD6E4F4E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 smtClean="0"/>
              <a:t>40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56248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 smtClean="0"/>
              <a:t>41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07662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D5D85-0057-A3AC-744B-3B000903F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F49785-FAB0-4B38-8EBE-DFB19F5CF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06E5E5-6DB5-5A3D-200C-71C345E25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B750C1-CACC-3BFC-4F3C-FAC7F3A17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 smtClean="0"/>
              <a:t>42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9171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E03DA1-60F3-21F2-7B4D-C63F8BA61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561787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8B54DF-B7C1-0CE4-E056-90517EE5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81F1A3-01CF-A517-EF29-AE40D812F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F58C4E-9307-1D3C-32B4-4B671DA2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1CBE48-368C-11AA-F554-224C47D97876}"/>
              </a:ext>
            </a:extLst>
          </p:cNvPr>
          <p:cNvSpPr txBox="1"/>
          <p:nvPr userDrawn="1"/>
        </p:nvSpPr>
        <p:spPr>
          <a:xfrm>
            <a:off x="6096000" y="18498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8397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内容占位符 11"/>
          <p:cNvGraphicFramePr/>
          <p:nvPr userDrawn="1">
            <p:extLst>
              <p:ext uri="{D42A27DB-BD31-4B8C-83A1-F6EECF244321}">
                <p14:modId xmlns:p14="http://schemas.microsoft.com/office/powerpoint/2010/main" val="1839728279"/>
              </p:ext>
            </p:extLst>
          </p:nvPr>
        </p:nvGraphicFramePr>
        <p:xfrm>
          <a:off x="0" y="7315"/>
          <a:ext cx="7518402" cy="519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92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bg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研究问题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因果机制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研究设计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实证复现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案例研究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总结讨论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内容占位符 11"/>
          <p:cNvGraphicFramePr/>
          <p:nvPr userDrawn="1">
            <p:extLst>
              <p:ext uri="{D42A27DB-BD31-4B8C-83A1-F6EECF244321}">
                <p14:modId xmlns:p14="http://schemas.microsoft.com/office/powerpoint/2010/main" val="4150058533"/>
              </p:ext>
            </p:extLst>
          </p:nvPr>
        </p:nvGraphicFramePr>
        <p:xfrm>
          <a:off x="0" y="7315"/>
          <a:ext cx="7518402" cy="519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92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研究问题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zh-CN" altLang="en-US" sz="1500" b="1" kern="1200">
                          <a:solidFill>
                            <a:schemeClr val="bg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+mn-cs"/>
                        </a:rPr>
                        <a:t>因果机制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研究设计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实证复现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案例研究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总结讨论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内容占位符 11"/>
          <p:cNvGraphicFramePr/>
          <p:nvPr userDrawn="1">
            <p:extLst>
              <p:ext uri="{D42A27DB-BD31-4B8C-83A1-F6EECF244321}">
                <p14:modId xmlns:p14="http://schemas.microsoft.com/office/powerpoint/2010/main" val="3404123578"/>
              </p:ext>
            </p:extLst>
          </p:nvPr>
        </p:nvGraphicFramePr>
        <p:xfrm>
          <a:off x="0" y="7315"/>
          <a:ext cx="7518402" cy="519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92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研究问题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因果机制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zh-CN" altLang="en-US" sz="1500" b="1" kern="1200">
                          <a:solidFill>
                            <a:schemeClr val="bg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+mn-cs"/>
                        </a:rPr>
                        <a:t>研究设计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实证复现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案例研究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总结讨论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内容占位符 11"/>
          <p:cNvGraphicFramePr/>
          <p:nvPr userDrawn="1">
            <p:extLst>
              <p:ext uri="{D42A27DB-BD31-4B8C-83A1-F6EECF244321}">
                <p14:modId xmlns:p14="http://schemas.microsoft.com/office/powerpoint/2010/main" val="784630834"/>
              </p:ext>
            </p:extLst>
          </p:nvPr>
        </p:nvGraphicFramePr>
        <p:xfrm>
          <a:off x="0" y="7315"/>
          <a:ext cx="7518402" cy="519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92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研究问题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因果机制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研究设计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zh-CN" altLang="en-US" sz="1500" b="1" kern="1200">
                          <a:solidFill>
                            <a:schemeClr val="bg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+mn-cs"/>
                        </a:rPr>
                        <a:t>实证复现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案例研究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总结讨论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内容占位符 11"/>
          <p:cNvGraphicFramePr/>
          <p:nvPr userDrawn="1">
            <p:extLst>
              <p:ext uri="{D42A27DB-BD31-4B8C-83A1-F6EECF244321}">
                <p14:modId xmlns:p14="http://schemas.microsoft.com/office/powerpoint/2010/main" val="670234629"/>
              </p:ext>
            </p:extLst>
          </p:nvPr>
        </p:nvGraphicFramePr>
        <p:xfrm>
          <a:off x="0" y="7315"/>
          <a:ext cx="7518402" cy="519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92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研究问题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因果机制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研究设计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实证复现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zh-CN" altLang="en-US" sz="1500" b="1" kern="1200">
                          <a:solidFill>
                            <a:schemeClr val="bg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+mn-cs"/>
                        </a:rPr>
                        <a:t>案例研究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总结讨论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内容占位符 11"/>
          <p:cNvGraphicFramePr/>
          <p:nvPr userDrawn="1">
            <p:extLst>
              <p:ext uri="{D42A27DB-BD31-4B8C-83A1-F6EECF244321}">
                <p14:modId xmlns:p14="http://schemas.microsoft.com/office/powerpoint/2010/main" val="1763205652"/>
              </p:ext>
            </p:extLst>
          </p:nvPr>
        </p:nvGraphicFramePr>
        <p:xfrm>
          <a:off x="0" y="7315"/>
          <a:ext cx="7518402" cy="519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92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研究问题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因果机制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研究设计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实证复现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案例研究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zh-CN" altLang="en-US" sz="1500" b="1" kern="1200">
                          <a:solidFill>
                            <a:schemeClr val="bg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+mn-cs"/>
                        </a:rPr>
                        <a:t>总结讨论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491054" y="54351"/>
            <a:ext cx="661923" cy="44923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057711" y="11768"/>
            <a:ext cx="417046" cy="491822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D3B73DD-3E89-7B53-E53C-4F4BF7380FC7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571804" y="33980"/>
            <a:ext cx="469610" cy="4696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837ADC3-61A7-6DF3-4405-64221B0707C4}"/>
              </a:ext>
            </a:extLst>
          </p:cNvPr>
          <p:cNvSpPr txBox="1"/>
          <p:nvPr/>
        </p:nvSpPr>
        <p:spPr>
          <a:xfrm>
            <a:off x="174977" y="854670"/>
            <a:ext cx="8794045" cy="2774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" altLang="zh-CN" sz="3000" b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Resources and Territorial Claims:</a:t>
            </a:r>
          </a:p>
          <a:p>
            <a:pPr algn="ctr">
              <a:lnSpc>
                <a:spcPct val="150000"/>
              </a:lnSpc>
            </a:pPr>
            <a:r>
              <a:rPr lang="en" altLang="zh-CN" sz="3000" b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 Domestic Opposition to Resource-Rich Territory</a:t>
            </a:r>
          </a:p>
          <a:p>
            <a:pPr algn="ctr">
              <a:lnSpc>
                <a:spcPct val="150000"/>
              </a:lnSpc>
            </a:pPr>
            <a:r>
              <a:rPr lang="zh-CN" altLang="en-US" sz="3000" b="1"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资源与领土主张：</a:t>
            </a:r>
            <a:endParaRPr lang="en-US" altLang="zh-CN" sz="3000" b="1">
              <a:solidFill>
                <a:schemeClr val="tx2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000" b="1"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透视</a:t>
            </a:r>
            <a:r>
              <a:rPr lang="zh-CN" altLang="en-US" sz="3000" b="1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对资源密集型领土的国内反对</a:t>
            </a:r>
            <a:endParaRPr lang="en" altLang="zh-CN" sz="3000" b="1">
              <a:solidFill>
                <a:schemeClr val="tx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6A46417-A125-E649-AA94-85B3944F3573}"/>
              </a:ext>
            </a:extLst>
          </p:cNvPr>
          <p:cNvSpPr txBox="1"/>
          <p:nvPr/>
        </p:nvSpPr>
        <p:spPr>
          <a:xfrm>
            <a:off x="3070200" y="4036977"/>
            <a:ext cx="2775119" cy="1087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500" b="1">
                <a:latin typeface="Times New Roman" panose="02020603050405020304" pitchFamily="18" charset="0"/>
                <a:ea typeface="楷体" panose="02010609060101010101" pitchFamily="49" charset="-122"/>
              </a:rPr>
              <a:t>杨洁菡 何柄岐 修小苏</a:t>
            </a:r>
            <a:endParaRPr kumimoji="1" lang="en-US" altLang="zh-CN" sz="1500" b="1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1500" b="1">
                <a:latin typeface="Times New Roman" panose="02020603050405020304" pitchFamily="18" charset="0"/>
                <a:ea typeface="楷体" panose="02010609060101010101" pitchFamily="49" charset="-122"/>
              </a:rPr>
              <a:t>北京外国语大学 国际关系学院</a:t>
            </a:r>
            <a:endParaRPr kumimoji="1" lang="en-US" altLang="zh-CN" sz="1500" b="1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1500" b="1">
                <a:latin typeface="Times New Roman" panose="02020603050405020304" pitchFamily="18" charset="0"/>
                <a:ea typeface="楷体" panose="02010609060101010101" pitchFamily="49" charset="-122"/>
              </a:rPr>
              <a:t>2026</a:t>
            </a:r>
            <a:r>
              <a:rPr kumimoji="1" lang="zh-CN" altLang="en-US" sz="1500" b="1">
                <a:latin typeface="Times New Roman" panose="02020603050405020304" pitchFamily="18" charset="0"/>
                <a:ea typeface="楷体" panose="02010609060101010101" pitchFamily="49" charset="-122"/>
              </a:rPr>
              <a:t>年</a:t>
            </a:r>
            <a:r>
              <a:rPr kumimoji="1" lang="en-US" altLang="zh-CN" sz="1500" b="1">
                <a:latin typeface="Times New Roman" panose="02020603050405020304" pitchFamily="18" charset="0"/>
                <a:ea typeface="楷体" panose="02010609060101010101" pitchFamily="49" charset="-122"/>
              </a:rPr>
              <a:t>2</a:t>
            </a:r>
            <a:r>
              <a:rPr kumimoji="1" lang="zh-CN" altLang="en-US" sz="1500" b="1">
                <a:latin typeface="Times New Roman" panose="02020603050405020304" pitchFamily="18" charset="0"/>
                <a:ea typeface="楷体" panose="02010609060101010101" pitchFamily="49" charset="-122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1110010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46097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目录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350055" y="2014887"/>
            <a:ext cx="2443889" cy="3762022"/>
          </a:xfrm>
          <a:prstGeom prst="rect">
            <a:avLst/>
          </a:prstGeom>
        </p:spPr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>
                <a:latin typeface="Times New Roman" panose="02020603050405020304" pitchFamily="18" charset="0"/>
                <a:ea typeface="KaiTi" panose="02010609060101010101" pitchFamily="49" charset="-122"/>
              </a:rPr>
              <a:t>研究背景</a:t>
            </a:r>
            <a:endParaRPr lang="en-US" altLang="zh-CN" dirty="0">
              <a:latin typeface="Times New Roman" panose="02020603050405020304" pitchFamily="18" charset="0"/>
              <a:ea typeface="KaiTi" panose="02010609060101010101" pitchFamily="49" charset="-122"/>
            </a:endParaRPr>
          </a:p>
          <a:p>
            <a:pPr marL="514350" indent="-514350">
              <a:buAutoNum type="arabicPeriod"/>
            </a:pPr>
            <a:r>
              <a:rPr lang="zh-CN" altLang="en-US" dirty="0">
                <a:latin typeface="Times New Roman" panose="02020603050405020304" pitchFamily="18" charset="0"/>
                <a:ea typeface="KaiTi" panose="02010609060101010101" pitchFamily="49" charset="-122"/>
              </a:rPr>
              <a:t>因果机制</a:t>
            </a:r>
            <a:endParaRPr lang="en-US" altLang="zh-CN" dirty="0">
              <a:latin typeface="Times New Roman" panose="02020603050405020304" pitchFamily="18" charset="0"/>
              <a:ea typeface="KaiTi" panose="02010609060101010101" pitchFamily="49" charset="-122"/>
            </a:endParaRPr>
          </a:p>
          <a:p>
            <a:pPr marL="514350" indent="-514350">
              <a:buAutoNum type="arabicPeriod"/>
            </a:pPr>
            <a:r>
              <a:rPr lang="en-US" dirty="0" err="1">
                <a:latin typeface="Times New Roman" panose="02020603050405020304" pitchFamily="18" charset="0"/>
                <a:ea typeface="KaiTi" panose="02010609060101010101" pitchFamily="49" charset="-122"/>
              </a:rPr>
              <a:t>研究设计</a:t>
            </a:r>
            <a:endParaRPr lang="en-US" dirty="0">
              <a:latin typeface="Times New Roman" panose="02020603050405020304" pitchFamily="18" charset="0"/>
              <a:ea typeface="KaiTi" panose="02010609060101010101" pitchFamily="49" charset="-122"/>
            </a:endParaRPr>
          </a:p>
          <a:p>
            <a:pPr marL="514350" indent="-514350">
              <a:buAutoNum type="arabicPeriod"/>
            </a:pPr>
            <a:r>
              <a:rPr lang="en-US" dirty="0" err="1">
                <a:latin typeface="Times New Roman" panose="02020603050405020304" pitchFamily="18" charset="0"/>
                <a:ea typeface="KaiTi" panose="02010609060101010101" pitchFamily="49" charset="-122"/>
              </a:rPr>
              <a:t>实证复现</a:t>
            </a:r>
            <a:endParaRPr lang="en-US" dirty="0">
              <a:latin typeface="Times New Roman" panose="02020603050405020304" pitchFamily="18" charset="0"/>
              <a:ea typeface="KaiTi" panose="02010609060101010101" pitchFamily="49" charset="-122"/>
            </a:endParaRPr>
          </a:p>
          <a:p>
            <a:pPr marL="514350" indent="-514350">
              <a:buAutoNum type="arabicPeriod"/>
            </a:pPr>
            <a:r>
              <a:rPr lang="en-US" dirty="0" err="1">
                <a:latin typeface="Times New Roman" panose="02020603050405020304" pitchFamily="18" charset="0"/>
                <a:ea typeface="KaiTi" panose="02010609060101010101" pitchFamily="49" charset="-122"/>
              </a:rPr>
              <a:t>案例研究</a:t>
            </a:r>
            <a:endParaRPr lang="en-US" dirty="0">
              <a:latin typeface="Times New Roman" panose="02020603050405020304" pitchFamily="18" charset="0"/>
              <a:ea typeface="KaiTi" panose="02010609060101010101" pitchFamily="49" charset="-122"/>
            </a:endParaRPr>
          </a:p>
          <a:p>
            <a:pPr marL="514350" indent="-514350">
              <a:buAutoNum type="arabicPeriod"/>
            </a:pPr>
            <a:r>
              <a:rPr lang="en-US" dirty="0" err="1">
                <a:latin typeface="Times New Roman" panose="02020603050405020304" pitchFamily="18" charset="0"/>
                <a:ea typeface="KaiTi" panose="02010609060101010101" pitchFamily="49" charset="-122"/>
              </a:rPr>
              <a:t>总结讨论</a:t>
            </a:r>
            <a:endParaRPr lang="en-US" dirty="0">
              <a:latin typeface="Times New Roman" panose="02020603050405020304" pitchFamily="18" charset="0"/>
              <a:ea typeface="KaiTi" panose="02010609060101010101" pitchFamily="49" charset="-122"/>
            </a:endParaRPr>
          </a:p>
          <a:p>
            <a:pPr marL="514350" indent="-514350">
              <a:buAutoNum type="arabicPeriod"/>
            </a:pPr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C90F5F2-9898-4C0C-A4E9-ED2AFCFEF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78" y="716458"/>
            <a:ext cx="2215044" cy="215092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56D4E59-AE3B-1D66-F289-8570673EF7F2}"/>
              </a:ext>
            </a:extLst>
          </p:cNvPr>
          <p:cNvSpPr txBox="1"/>
          <p:nvPr/>
        </p:nvSpPr>
        <p:spPr>
          <a:xfrm>
            <a:off x="3097261" y="716458"/>
            <a:ext cx="5569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>
                <a:latin typeface="Times New Roman" panose="02020603050405020304" pitchFamily="18" charset="0"/>
              </a:rPr>
              <a:t>Soyoung</a:t>
            </a:r>
            <a:r>
              <a:rPr kumimoji="1" lang="zh-CN" altLang="en-US" b="1">
                <a:latin typeface="Times New Roman" panose="02020603050405020304" pitchFamily="18" charset="0"/>
              </a:rPr>
              <a:t> </a:t>
            </a:r>
            <a:r>
              <a:rPr kumimoji="1" lang="en-US" altLang="zh-CN" b="1">
                <a:latin typeface="Times New Roman" panose="02020603050405020304" pitchFamily="18" charset="0"/>
              </a:rPr>
              <a:t>Lee</a:t>
            </a:r>
            <a:r>
              <a:rPr kumimoji="1" lang="zh-CN" altLang="en-US" b="1">
                <a:latin typeface="Times New Roman" panose="02020603050405020304" pitchFamily="18" charset="0"/>
              </a:rPr>
              <a:t> </a:t>
            </a:r>
            <a:r>
              <a:rPr kumimoji="1" lang="en-US" altLang="zh-CN" b="1">
                <a:latin typeface="Times New Roman" panose="02020603050405020304" pitchFamily="18" charset="0"/>
              </a:rPr>
              <a:t>(</a:t>
            </a:r>
            <a:r>
              <a:rPr kumimoji="1" lang="zh-CN" altLang="en-US" b="1">
                <a:latin typeface="Times New Roman" panose="02020603050405020304" pitchFamily="18" charset="0"/>
              </a:rPr>
              <a:t>李素英</a:t>
            </a:r>
            <a:r>
              <a:rPr kumimoji="1" lang="en-US" altLang="zh-CN">
                <a:latin typeface="Times New Roman" panose="02020603050405020304" pitchFamily="18" charset="0"/>
              </a:rPr>
              <a:t>)</a:t>
            </a:r>
            <a:r>
              <a:rPr kumimoji="1" lang="zh-CN" altLang="en-US">
                <a:latin typeface="Times New Roman" panose="02020603050405020304" pitchFamily="18" charset="0"/>
              </a:rPr>
              <a:t>，耶鲁大学政治学系助理教授</a:t>
            </a:r>
            <a:endParaRPr kumimoji="1" lang="en-US" altLang="zh-CN">
              <a:latin typeface="Times New Roman" panose="02020603050405020304" pitchFamily="18" charset="0"/>
            </a:endParaRPr>
          </a:p>
          <a:p>
            <a:r>
              <a:rPr kumimoji="1" lang="zh-CN" altLang="en-US">
                <a:latin typeface="Times New Roman" panose="02020603050405020304" pitchFamily="18" charset="0"/>
              </a:rPr>
              <a:t>个人网站：</a:t>
            </a:r>
            <a:r>
              <a:rPr kumimoji="1" lang="en" altLang="zh-CN">
                <a:latin typeface="Times New Roman" panose="02020603050405020304" pitchFamily="18" charset="0"/>
              </a:rPr>
              <a:t>https://www.soyoungleeresearch.com/home</a:t>
            </a:r>
            <a:endParaRPr kumimoji="1" lang="zh-CN" altLang="en-US">
              <a:latin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626F47-8CC3-544B-1EEF-5B67145C524C}"/>
              </a:ext>
            </a:extLst>
          </p:cNvPr>
          <p:cNvSpPr txBox="1"/>
          <p:nvPr/>
        </p:nvSpPr>
        <p:spPr>
          <a:xfrm>
            <a:off x="3097261" y="1518731"/>
            <a:ext cx="56177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i="0">
                <a:solidFill>
                  <a:srgbClr val="222222"/>
                </a:solidFill>
                <a:effectLst/>
                <a:latin typeface="Mallory"/>
              </a:rPr>
              <a:t>研究方向：</a:t>
            </a:r>
            <a:endParaRPr lang="en-US" altLang="zh-CN" b="0" i="0">
              <a:solidFill>
                <a:srgbClr val="222222"/>
              </a:solidFill>
              <a:effectLst/>
              <a:latin typeface="Mallory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rgbClr val="222222"/>
                </a:solidFill>
                <a:effectLst/>
                <a:latin typeface="Mallory"/>
              </a:rPr>
              <a:t>国内政治与国际关系之间的相互作用</a:t>
            </a:r>
            <a:endParaRPr lang="en-US" altLang="zh-CN">
              <a:solidFill>
                <a:srgbClr val="222222"/>
              </a:solidFill>
              <a:latin typeface="Mallory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rgbClr val="222222"/>
                </a:solidFill>
                <a:effectLst/>
                <a:latin typeface="Mallory"/>
              </a:rPr>
              <a:t>重点关注领土冲突、民族主义和国际竞争</a:t>
            </a:r>
            <a:endParaRPr lang="en-US" altLang="zh-CN" b="0" i="0">
              <a:solidFill>
                <a:srgbClr val="222222"/>
              </a:solidFill>
              <a:effectLst/>
              <a:latin typeface="Mallory"/>
            </a:endParaRPr>
          </a:p>
          <a:p>
            <a:r>
              <a:rPr kumimoji="1" lang="zh-CN" altLang="en-US">
                <a:solidFill>
                  <a:srgbClr val="222222"/>
                </a:solidFill>
                <a:latin typeface="Mallory"/>
              </a:rPr>
              <a:t>正在出版中的书籍：</a:t>
            </a:r>
            <a:r>
              <a:rPr lang="en" altLang="zh-CN" sz="18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Making of National Interest: What States (Don't) Fight For and Why</a:t>
            </a:r>
            <a:endParaRPr lang="en" altLang="zh-CN" sz="1800" i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98823EF-BD68-51F1-84A6-C3FF1221E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1317" y="3273058"/>
            <a:ext cx="6040306" cy="318283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AA08479-106D-35BB-7294-DE51F059E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142" y="3273057"/>
            <a:ext cx="2435516" cy="278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34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4AC103B-3ABA-4F77-26D8-29C9E6FF477A}"/>
              </a:ext>
            </a:extLst>
          </p:cNvPr>
          <p:cNvSpPr txBox="1"/>
          <p:nvPr/>
        </p:nvSpPr>
        <p:spPr>
          <a:xfrm>
            <a:off x="378178" y="1393759"/>
            <a:ext cx="8387644" cy="463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</a:pP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、传统观点：</a:t>
            </a:r>
            <a:endParaRPr lang="en-US" altLang="zh-CN" sz="1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NotoSansCJKsc-Regular"/>
              </a:rPr>
              <a:t>既有解释</a:t>
            </a:r>
            <a:r>
              <a:rPr lang="en-US" altLang="zh-CN" sz="1600" dirty="0">
                <a:solidFill>
                  <a:srgbClr val="000000"/>
                </a:solidFill>
                <a:latin typeface="NotoSansCJKsc-Regular"/>
              </a:rPr>
              <a:t>1:</a:t>
            </a:r>
            <a:r>
              <a:rPr lang="zh-CN" altLang="en-US" sz="1600" dirty="0">
                <a:solidFill>
                  <a:srgbClr val="000000"/>
                </a:solidFill>
                <a:latin typeface="NotoSansCJKsc-Regular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NotoSansCJKsc-Regular"/>
              </a:rPr>
              <a:t>国家更倾向于争夺资源丰富的领土，因为获取资源有助于国家发展经济、增强安全并满足国内需求</a:t>
            </a:r>
            <a:r>
              <a:rPr lang="zh-CN" altLang="en-US" sz="1600" dirty="0">
                <a:solidFill>
                  <a:srgbClr val="0000FF"/>
                </a:solidFill>
                <a:effectLst/>
                <a:latin typeface="NotoSansCJKsc-Regular"/>
              </a:rPr>
              <a:t>。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既有解释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NotoSansCJKsc-Regular"/>
              </a:rPr>
              <a:t>国家未必更热衷于争夺资源丰富的土地，因为获取资源的收益往往难以抵消争夺过程中付出的成本</a:t>
            </a:r>
            <a:r>
              <a:rPr lang="zh-CN" altLang="en-US" sz="1600" dirty="0">
                <a:solidFill>
                  <a:srgbClr val="0000FF"/>
                </a:solidFill>
                <a:effectLst/>
                <a:latin typeface="NotoSansCJKsc-Regular"/>
              </a:rPr>
              <a:t>。</a:t>
            </a:r>
            <a:endParaRPr lang="en-US" altLang="zh-CN" sz="1600" kern="1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sz="15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</a:pP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、现实困惑：</a:t>
            </a:r>
            <a:endParaRPr lang="en-US" altLang="zh-CN" sz="1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</a:pPr>
            <a:r>
              <a:rPr lang="zh-CN" altLang="en-US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很多争端发生在资源贫瘠的领土，自然资源的富集程度并不能直接转化为主张意愿。</a:t>
            </a:r>
            <a:endParaRPr lang="en-US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</a:pPr>
            <a:endParaRPr lang="en-US" altLang="zh-CN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</a:pP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 研究问题提出</a:t>
            </a:r>
            <a:endParaRPr lang="en-US" altLang="zh-CN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作者基于</a:t>
            </a:r>
            <a:r>
              <a:rPr lang="zh-CN" altLang="en-US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既有解释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提出了第三种解释：资源“类型”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alt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资源“贫富”</a:t>
            </a:r>
            <a:endParaRPr lang="en-US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</a:pPr>
            <a:r>
              <a:rPr lang="zh-CN" altLang="en-US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研究问题：“是否存在某些特定资源，降低了对领土的主张意愿？”</a:t>
            </a:r>
            <a:endParaRPr lang="en-US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7C5C6E-4648-4AEF-E114-317D9E735076}"/>
              </a:ext>
            </a:extLst>
          </p:cNvPr>
          <p:cNvSpPr txBox="1"/>
          <p:nvPr/>
        </p:nvSpPr>
        <p:spPr>
          <a:xfrm>
            <a:off x="378178" y="983784"/>
            <a:ext cx="4661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领土的资源是否会促使国家争夺其所有权？</a:t>
            </a:r>
          </a:p>
        </p:txBody>
      </p:sp>
    </p:spTree>
    <p:extLst>
      <p:ext uri="{BB962C8B-B14F-4D97-AF65-F5344CB8AC3E}">
        <p14:creationId xmlns:p14="http://schemas.microsoft.com/office/powerpoint/2010/main" val="626651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3380CE9-EF12-424A-2FA3-C086F0AF95AF}"/>
              </a:ext>
            </a:extLst>
          </p:cNvPr>
          <p:cNvSpPr txBox="1"/>
          <p:nvPr/>
        </p:nvSpPr>
        <p:spPr>
          <a:xfrm>
            <a:off x="361245" y="1259175"/>
            <a:ext cx="8139289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/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资本密集型资源（油、矿）容易引发“收益分配焦虑”，使领导人更难低成本动员广泛支持去主张该领土。</a:t>
            </a:r>
            <a:endParaRPr lang="en-US" altLang="zh-CN" sz="15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/>
            <a:r>
              <a:rPr lang="zh-CN" altLang="en-US" sz="1500" b="1" kern="100">
                <a:effectLst/>
                <a:latin typeface="+mn-ea"/>
                <a:cs typeface="Times New Roman" panose="02020603050405020304" pitchFamily="18" charset="0"/>
              </a:rPr>
              <a:t>存在两种因果机制：</a:t>
            </a:r>
            <a:endParaRPr lang="en-US" altLang="zh-CN" sz="1500" b="1" kern="100">
              <a:effectLst/>
              <a:latin typeface="+mn-ea"/>
              <a:cs typeface="Times New Roman" panose="02020603050405020304" pitchFamily="18" charset="0"/>
            </a:endParaRPr>
          </a:p>
          <a:p>
            <a:pPr marL="0" marR="0" algn="just"/>
            <a:endParaRPr lang="zh-CN" altLang="en-US" sz="1500" b="1" kern="100">
              <a:effectLst/>
              <a:latin typeface="+mn-ea"/>
              <a:cs typeface="Times New Roman" panose="02020603050405020304" pitchFamily="18" charset="0"/>
            </a:endParaRPr>
          </a:p>
          <a:p>
            <a:pPr marL="342900" lvl="0" indent="-342900" algn="just">
              <a:buFont typeface="Times New Roman" panose="02020603050405020304" pitchFamily="18" charset="0"/>
              <a:buAutoNum type="arabicPeriod"/>
            </a:pPr>
            <a:r>
              <a:rPr lang="zh-CN" altLang="en-US" sz="15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国内分配结果无法满足利益集团</a:t>
            </a: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：资源可能让部分集团获益 → 其他集团担心相对损失 → 形成反对联盟。</a:t>
            </a:r>
            <a:endParaRPr lang="zh-CN" altLang="en-US" sz="15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Times New Roman" panose="02020603050405020304" pitchFamily="18" charset="0"/>
              <a:buAutoNum type="arabicPeriod"/>
            </a:pPr>
            <a:r>
              <a:rPr lang="zh-CN" altLang="en-US" sz="15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公众怀疑领导人动机</a:t>
            </a: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：资源富集的好处“过分明显” → 敌对政党更容易把领土主张描述为“为少数人谋私利” → 削弱在任政权的合法性。</a:t>
            </a:r>
            <a:endParaRPr lang="en-US" altLang="zh-CN" sz="15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/>
            <a:endParaRPr lang="zh-CN" altLang="en-US" sz="15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/>
            <a:r>
              <a:rPr lang="zh-CN" altLang="en-US" sz="15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适用范围：</a:t>
            </a:r>
            <a:endParaRPr lang="zh-CN" altLang="en-US" sz="15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AutoNum type="arabicPeriod"/>
            </a:pP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存在能施加代价的国内反对力量（不是个人主义独裁那种“无监督”情形）</a:t>
            </a:r>
            <a:endParaRPr lang="en-US" altLang="zh-CN" sz="1500" kern="10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AutoNum type="arabicPeriod"/>
            </a:pP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国内对政府再分配承诺缺乏信任（承诺问题）</a:t>
            </a:r>
            <a:endParaRPr lang="en-US" altLang="zh-CN" sz="1500" kern="10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AutoNum type="arabicPeriod"/>
            </a:pP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领土主张成本较显性、影响广泛（更易激起分配争论）</a:t>
            </a:r>
            <a:endParaRPr lang="zh-CN" altLang="en-US" sz="15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300A3F8-7D41-CDE4-EB09-A3723CA7EBD0}"/>
              </a:ext>
            </a:extLst>
          </p:cNvPr>
          <p:cNvSpPr txBox="1"/>
          <p:nvPr/>
        </p:nvSpPr>
        <p:spPr>
          <a:xfrm>
            <a:off x="395111" y="5384799"/>
            <a:ext cx="7631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核心假设：</a:t>
            </a:r>
            <a:r>
              <a:rPr lang="zh-CN" altLang="en-US" sz="1800" b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NotoSansCJKsc-Regular,Italic"/>
              </a:rPr>
              <a:t>相较于资源匮乏的领土，领导人更难对蕴藏石油、矿产等资源型领土提出主张，因为这些资源可能使特定国内群体获得不成比例利益，继而遭到敌对政党、利益集团以及公众的反对。</a:t>
            </a:r>
            <a:endParaRPr lang="zh-CN" altLang="en-US" b="1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kumimoji="1" lang="zh-CN" altLang="en-US" i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3B1ED3-13FC-17F0-D544-B138DEFD2ED4}"/>
              </a:ext>
            </a:extLst>
          </p:cNvPr>
          <p:cNvSpPr txBox="1"/>
          <p:nvPr/>
        </p:nvSpPr>
        <p:spPr>
          <a:xfrm>
            <a:off x="368607" y="925689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/>
              <a:t>为什么领导人更倾向于不对资源富集的领土提出主张？</a:t>
            </a:r>
          </a:p>
        </p:txBody>
      </p:sp>
      <p:sp>
        <p:nvSpPr>
          <p:cNvPr id="6" name="下箭头 5">
            <a:extLst>
              <a:ext uri="{FF2B5EF4-FFF2-40B4-BE49-F238E27FC236}">
                <a16:creationId xmlns:a16="http://schemas.microsoft.com/office/drawing/2014/main" id="{D085B9D7-B450-D4AF-CBA5-340C8B7D2214}"/>
              </a:ext>
            </a:extLst>
          </p:cNvPr>
          <p:cNvSpPr/>
          <p:nvPr/>
        </p:nvSpPr>
        <p:spPr>
          <a:xfrm>
            <a:off x="2381956" y="4501675"/>
            <a:ext cx="293512" cy="733777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6528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16C55BA1-C86D-BE06-97D5-DC527772E82F}"/>
              </a:ext>
            </a:extLst>
          </p:cNvPr>
          <p:cNvSpPr txBox="1"/>
          <p:nvPr/>
        </p:nvSpPr>
        <p:spPr>
          <a:xfrm>
            <a:off x="138918" y="600643"/>
            <a:ext cx="4244623" cy="6246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30000"/>
              </a:lnSpc>
            </a:pPr>
            <a:r>
              <a:rPr lang="zh-CN" altLang="en-US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核心思路</a:t>
            </a:r>
            <a:endParaRPr lang="zh-CN" altLang="en-US" sz="1800" kern="10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5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 </a:t>
            </a:r>
            <a:r>
              <a:rPr lang="en-US" altLang="zh-CN" sz="15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1830–2001 </a:t>
            </a:r>
            <a:r>
              <a:rPr lang="zh-CN" altLang="en-US" sz="15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南美洲领土主张的原始地理编码数据</a:t>
            </a:r>
            <a:r>
              <a:rPr lang="zh-CN" altLang="en-US" sz="15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</a:t>
            </a:r>
            <a:r>
              <a:rPr lang="zh-CN" altLang="en-US" sz="15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网格</a:t>
            </a:r>
            <a:r>
              <a:rPr lang="en-US" altLang="zh-CN" sz="15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15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年份</a:t>
            </a:r>
            <a:r>
              <a:rPr lang="zh-CN" altLang="en-US" sz="15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层级观察“哪些地块被主张”，以及这些被主张的领土是否含有资源</a:t>
            </a:r>
            <a:endParaRPr lang="en-US" altLang="zh-CN" sz="1500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5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重点不是“有无战争”，而是</a:t>
            </a:r>
            <a:r>
              <a:rPr lang="zh-CN" altLang="en-US" sz="15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主张（</a:t>
            </a:r>
            <a:r>
              <a:rPr lang="en" altLang="zh-CN" sz="15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claim</a:t>
            </a:r>
            <a:r>
              <a:rPr lang="zh-CN" altLang="en" sz="15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15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本身</a:t>
            </a:r>
            <a:r>
              <a:rPr lang="zh-CN" altLang="en-US" sz="15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，因为它更接近国家目标选择的起点。</a:t>
            </a:r>
            <a:endParaRPr lang="zh-CN" altLang="en-US" sz="1500" kern="10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kumimoji="1"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kumimoji="1"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为什么是南美洲？</a:t>
            </a:r>
            <a:endParaRPr kumimoji="1"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500" b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领土主张的丰富性与变异性</a:t>
            </a:r>
            <a:r>
              <a:rPr lang="zh-CN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：自</a:t>
            </a:r>
            <a:r>
              <a:rPr lang="en-US" altLang="zh-CN" sz="150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zh-CN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世纪初独立以来，南美洲国家之间存在大量的领土争议，为本研究提供了充足的观测样本</a:t>
            </a:r>
            <a:endParaRPr lang="en-US" altLang="zh-CN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500" b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清晰的历史权利基准</a:t>
            </a:r>
            <a:r>
              <a:rPr lang="zh-CN" altLang="en-US" sz="150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南美洲国家的边界主要源自西班牙殖民时期的行政区划（</a:t>
            </a:r>
            <a:r>
              <a:rPr lang="en-US" altLang="zh-CN" sz="1500">
                <a:latin typeface="Times New Roman" panose="02020603050405020304" pitchFamily="18" charset="0"/>
                <a:cs typeface="Times New Roman" panose="02020603050405020304" pitchFamily="18" charset="0"/>
              </a:rPr>
              <a:t>1701-1808</a:t>
            </a:r>
            <a:r>
              <a:rPr lang="zh-CN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年的行政边界记录，</a:t>
            </a:r>
            <a:r>
              <a:rPr lang="en-US" altLang="zh-CN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HGIS</a:t>
            </a:r>
            <a:r>
              <a:rPr lang="zh-CN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） ，便于考察“潜在历史权利”的影响，控制“历史法理”</a:t>
            </a:r>
            <a:endParaRPr lang="en-US" altLang="zh-CN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500" b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资源多样性</a:t>
            </a:r>
            <a:r>
              <a:rPr lang="zh-CN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：南美洲拥有丰富的自然资源，且涵盖了不同资本密集度的类型，如石油、矿产以及农牧业资源 ，便于考察“不同类型资源”对领土主张的影响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FDFA1E67-C200-7296-2C44-33B927352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116513"/>
              </p:ext>
            </p:extLst>
          </p:nvPr>
        </p:nvGraphicFramePr>
        <p:xfrm>
          <a:off x="4760461" y="832674"/>
          <a:ext cx="4232740" cy="4423776"/>
        </p:xfrm>
        <a:graphic>
          <a:graphicData uri="http://schemas.openxmlformats.org/drawingml/2006/table">
            <a:tbl>
              <a:tblPr/>
              <a:tblGrid>
                <a:gridCol w="2226470">
                  <a:extLst>
                    <a:ext uri="{9D8B030D-6E8A-4147-A177-3AD203B41FA5}">
                      <a16:colId xmlns:a16="http://schemas.microsoft.com/office/drawing/2014/main" val="4047256343"/>
                    </a:ext>
                  </a:extLst>
                </a:gridCol>
                <a:gridCol w="2006270">
                  <a:extLst>
                    <a:ext uri="{9D8B030D-6E8A-4147-A177-3AD203B41FA5}">
                      <a16:colId xmlns:a16="http://schemas.microsoft.com/office/drawing/2014/main" val="29227558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当前状态</a:t>
                      </a:r>
                      <a:endParaRPr lang="zh-CN" altLang="en-US" sz="1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075" marR="61344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前殖民地管辖权</a:t>
                      </a:r>
                      <a:endParaRPr lang="zh-CN" altLang="en-US" sz="1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075" marR="49075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3306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阿根廷</a:t>
                      </a:r>
                    </a:p>
                  </a:txBody>
                  <a:tcPr marL="49075" marR="61344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拉普拉塔河总督辖区</a:t>
                      </a:r>
                    </a:p>
                  </a:txBody>
                  <a:tcPr marL="49075" marR="49075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87794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玻利维亚</a:t>
                      </a:r>
                    </a:p>
                  </a:txBody>
                  <a:tcPr marL="49075" marR="61344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查卡斯总督辖区</a:t>
                      </a:r>
                    </a:p>
                  </a:txBody>
                  <a:tcPr marL="49075" marR="49075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35751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智利</a:t>
                      </a:r>
                    </a:p>
                  </a:txBody>
                  <a:tcPr marL="49075" marR="61344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智利总督辖区</a:t>
                      </a:r>
                    </a:p>
                  </a:txBody>
                  <a:tcPr marL="49075" marR="49075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95022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哥伦比亚</a:t>
                      </a:r>
                    </a:p>
                  </a:txBody>
                  <a:tcPr marL="49075" marR="61344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新格拉纳达总督辖区</a:t>
                      </a:r>
                    </a:p>
                  </a:txBody>
                  <a:tcPr marL="49075" marR="49075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47061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厄瓜多尔</a:t>
                      </a:r>
                    </a:p>
                  </a:txBody>
                  <a:tcPr marL="49075" marR="61344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基多总督辖区</a:t>
                      </a:r>
                    </a:p>
                  </a:txBody>
                  <a:tcPr marL="49075" marR="49075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672842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巴拉圭</a:t>
                      </a:r>
                    </a:p>
                  </a:txBody>
                  <a:tcPr marL="49075" marR="61344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巴拉圭总督辖区</a:t>
                      </a:r>
                    </a:p>
                  </a:txBody>
                  <a:tcPr marL="49075" marR="49075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97894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秘鲁</a:t>
                      </a:r>
                    </a:p>
                  </a:txBody>
                  <a:tcPr marL="49075" marR="61344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秘鲁总督辖区</a:t>
                      </a:r>
                    </a:p>
                  </a:txBody>
                  <a:tcPr marL="49075" marR="49075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82889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乌拉圭</a:t>
                      </a:r>
                    </a:p>
                  </a:txBody>
                  <a:tcPr marL="49075" marR="61344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东岸省</a:t>
                      </a:r>
                    </a:p>
                  </a:txBody>
                  <a:tcPr marL="49075" marR="49075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84822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委内瑞拉</a:t>
                      </a:r>
                    </a:p>
                  </a:txBody>
                  <a:tcPr marL="49075" marR="61344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委内瑞拉总督辖区</a:t>
                      </a:r>
                    </a:p>
                  </a:txBody>
                  <a:tcPr marL="49075" marR="49075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07226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巴西</a:t>
                      </a:r>
                    </a:p>
                  </a:txBody>
                  <a:tcPr marL="49075" marR="61344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葡萄牙巴西州</a:t>
                      </a:r>
                    </a:p>
                  </a:txBody>
                  <a:tcPr marL="49075" marR="49075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579012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圭亚那</a:t>
                      </a:r>
                    </a:p>
                  </a:txBody>
                  <a:tcPr marL="49075" marR="61344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英属圭亚那</a:t>
                      </a:r>
                    </a:p>
                  </a:txBody>
                  <a:tcPr marL="49075" marR="49075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57407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苏里南</a:t>
                      </a:r>
                    </a:p>
                  </a:txBody>
                  <a:tcPr marL="49075" marR="61344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荷属圭亚那*</a:t>
                      </a:r>
                    </a:p>
                  </a:txBody>
                  <a:tcPr marL="49075" marR="49075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05949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法属圭亚那</a:t>
                      </a:r>
                    </a:p>
                  </a:txBody>
                  <a:tcPr marL="49075" marR="61344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法属圭亚那</a:t>
                      </a:r>
                    </a:p>
                  </a:txBody>
                  <a:tcPr marL="49075" marR="49075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001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0028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1FD992A-AD87-5B99-2D6B-D35B2729F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728133"/>
            <a:ext cx="3913501" cy="270086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E67CA2C-0628-368B-CC05-EA0E8D0B7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1689" y="3429000"/>
            <a:ext cx="2927350" cy="24511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8179C9F-8BC1-B792-24F9-8DC1618D0978}"/>
              </a:ext>
            </a:extLst>
          </p:cNvPr>
          <p:cNvSpPr txBox="1"/>
          <p:nvPr/>
        </p:nvSpPr>
        <p:spPr>
          <a:xfrm>
            <a:off x="0" y="2078566"/>
            <a:ext cx="4165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>
                <a:solidFill>
                  <a:srgbClr val="0000FF"/>
                </a:solidFill>
                <a:effectLst/>
                <a:latin typeface="NotoSansCJKsc-Regular"/>
              </a:rPr>
              <a:t>图</a:t>
            </a:r>
            <a:r>
              <a:rPr lang="en-US" altLang="zh-CN" sz="150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en" altLang="zh-CN" sz="150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a</a:t>
            </a:r>
            <a:r>
              <a:rPr lang="zh-CN" altLang="en-US" sz="1500">
                <a:solidFill>
                  <a:srgbClr val="0000FF"/>
                </a:solidFill>
                <a:effectLst/>
                <a:latin typeface="NotoSansCJKsc-Regular"/>
              </a:rPr>
              <a:t>展示了</a:t>
            </a:r>
            <a:r>
              <a:rPr lang="en-US" altLang="zh-CN" sz="15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1701-1808</a:t>
            </a:r>
            <a:r>
              <a:rPr lang="zh-CN" altLang="en-US" sz="1500">
                <a:solidFill>
                  <a:srgbClr val="000000"/>
                </a:solidFill>
                <a:effectLst/>
                <a:latin typeface="NotoSansCJKsc-Regular"/>
              </a:rPr>
              <a:t>年各前身管辖区的最大疆域范围</a:t>
            </a:r>
            <a:endParaRPr lang="en-US" altLang="zh-CN" sz="1500">
              <a:solidFill>
                <a:srgbClr val="0000FF"/>
              </a:solidFill>
              <a:latin typeface="NotoSansCJKsc-Regular"/>
            </a:endParaRPr>
          </a:p>
          <a:p>
            <a:endParaRPr lang="en-US" altLang="zh-CN" sz="1500">
              <a:solidFill>
                <a:srgbClr val="0000FF"/>
              </a:solidFill>
              <a:effectLst/>
              <a:latin typeface="NotoSansCJKsc-Regular"/>
            </a:endParaRPr>
          </a:p>
          <a:p>
            <a:r>
              <a:rPr lang="zh-CN" altLang="en-US" sz="1500">
                <a:solidFill>
                  <a:srgbClr val="0000FF"/>
                </a:solidFill>
                <a:effectLst/>
                <a:latin typeface="NotoSansCJKsc-Regular"/>
              </a:rPr>
              <a:t>图</a:t>
            </a:r>
            <a:r>
              <a:rPr lang="en-US" altLang="zh-CN" sz="150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en" altLang="zh-CN" sz="150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b</a:t>
            </a:r>
            <a:r>
              <a:rPr lang="zh-CN" altLang="en-US" sz="1500">
                <a:solidFill>
                  <a:srgbClr val="0000FF"/>
                </a:solidFill>
                <a:effectLst/>
                <a:latin typeface="NotoSansCJKsc-Regular"/>
              </a:rPr>
              <a:t>则</a:t>
            </a:r>
            <a:r>
              <a:rPr lang="zh-CN" altLang="en-US" sz="1500">
                <a:solidFill>
                  <a:srgbClr val="000000"/>
                </a:solidFill>
                <a:effectLst/>
                <a:latin typeface="NotoSansCJKsc-Regular"/>
              </a:rPr>
              <a:t>呈现了历史重叠区与无管辖权区域。</a:t>
            </a:r>
            <a:endParaRPr lang="en-US" altLang="zh-CN" sz="1500">
              <a:solidFill>
                <a:srgbClr val="000000"/>
              </a:solidFill>
              <a:effectLst/>
              <a:latin typeface="NotoSansCJKsc-Regular"/>
            </a:endParaRPr>
          </a:p>
          <a:p>
            <a:endParaRPr lang="en-US" altLang="zh-CN" sz="1500">
              <a:solidFill>
                <a:srgbClr val="000000"/>
              </a:solidFill>
              <a:effectLst/>
              <a:latin typeface="NotoSansCJKsc-Regular"/>
            </a:endParaRPr>
          </a:p>
          <a:p>
            <a:r>
              <a:rPr lang="zh-CN" altLang="en-US" sz="1500">
                <a:solidFill>
                  <a:srgbClr val="000000"/>
                </a:solidFill>
                <a:effectLst/>
                <a:latin typeface="NotoSansCJKsc-Regular"/>
              </a:rPr>
              <a:t>最后，由于南美各国同意以 </a:t>
            </a:r>
            <a:r>
              <a:rPr lang="en-US" altLang="zh-CN" sz="15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1810</a:t>
            </a:r>
            <a:r>
              <a:rPr lang="zh-CN" altLang="en-US" sz="1500">
                <a:solidFill>
                  <a:srgbClr val="000000"/>
                </a:solidFill>
                <a:effectLst/>
                <a:latin typeface="NotoSansCJKsc-Regular"/>
              </a:rPr>
              <a:t>年边界作为独立时适用</a:t>
            </a:r>
            <a:r>
              <a:rPr lang="zh-CN" altLang="en-US" sz="1500">
                <a:solidFill>
                  <a:srgbClr val="000000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1500">
                <a:solidFill>
                  <a:srgbClr val="000000"/>
                </a:solidFill>
                <a:effectLst/>
                <a:latin typeface="NotoSansCJKsc-Regular,Italic"/>
              </a:rPr>
              <a:t>现状占有</a:t>
            </a:r>
            <a:r>
              <a:rPr lang="zh-CN" altLang="en-US" sz="1500">
                <a:solidFill>
                  <a:srgbClr val="000000"/>
                </a:solidFill>
                <a:effectLst/>
                <a:latin typeface="NotoSansCJKsc-Regular"/>
              </a:rPr>
              <a:t>原则</a:t>
            </a:r>
            <a:r>
              <a:rPr lang="zh-CN" altLang="en-US" sz="1500">
                <a:solidFill>
                  <a:srgbClr val="000000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sz="1500">
                <a:solidFill>
                  <a:srgbClr val="000000"/>
                </a:solidFill>
                <a:effectLst/>
                <a:latin typeface="NotoSansCJKsc-Regular"/>
              </a:rPr>
              <a:t>的标准</a:t>
            </a:r>
            <a:r>
              <a:rPr lang="zh-CN" altLang="en-US" sz="1500">
                <a:solidFill>
                  <a:srgbClr val="0000FF"/>
                </a:solidFill>
                <a:effectLst/>
                <a:latin typeface="NotoSansCJKsc-Regular"/>
              </a:rPr>
              <a:t>，</a:t>
            </a:r>
            <a:r>
              <a:rPr lang="zh-CN" altLang="en-US" sz="1500">
                <a:solidFill>
                  <a:srgbClr val="000000"/>
                </a:solidFill>
                <a:effectLst/>
                <a:latin typeface="NotoSansCJKsc-Regular"/>
              </a:rPr>
              <a:t>亦能将既有的边界区域纳入考量（ </a:t>
            </a:r>
            <a:r>
              <a:rPr lang="zh-CN" altLang="en-US" sz="1500">
                <a:solidFill>
                  <a:srgbClr val="0000FF"/>
                </a:solidFill>
                <a:effectLst/>
                <a:latin typeface="NotoSansCJKsc-Regular"/>
              </a:rPr>
              <a:t>图</a:t>
            </a:r>
            <a:r>
              <a:rPr lang="en-US" altLang="zh-CN" sz="150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zh-CN" altLang="en-US" sz="1500">
                <a:solidFill>
                  <a:srgbClr val="000000"/>
                </a:solidFill>
                <a:effectLst/>
                <a:latin typeface="NotoSansCJKsc-Regular"/>
              </a:rPr>
              <a:t>）。</a:t>
            </a:r>
            <a:endParaRPr lang="zh-CN" altLang="en-US" sz="1500"/>
          </a:p>
        </p:txBody>
      </p:sp>
    </p:spTree>
    <p:extLst>
      <p:ext uri="{BB962C8B-B14F-4D97-AF65-F5344CB8AC3E}">
        <p14:creationId xmlns:p14="http://schemas.microsoft.com/office/powerpoint/2010/main" val="1634072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176B62E-DF45-CF68-53EA-2BF1FACCF0FC}"/>
              </a:ext>
            </a:extLst>
          </p:cNvPr>
          <p:cNvSpPr txBox="1"/>
          <p:nvPr/>
        </p:nvSpPr>
        <p:spPr>
          <a:xfrm>
            <a:off x="186267" y="801679"/>
            <a:ext cx="4047066" cy="6024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数据与变量</a:t>
            </a:r>
            <a:endParaRPr lang="en-US" altLang="zh-CN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/>
            <a:endParaRPr lang="en-US" altLang="zh-CN" sz="1500" b="1" kern="10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15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分析单元：</a:t>
            </a:r>
            <a:endParaRPr lang="en-US" altLang="zh-CN" sz="1500" b="1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en-US" altLang="zh-CN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en" altLang="zh-CN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km×50km </a:t>
            </a: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网格，</a:t>
            </a:r>
            <a:r>
              <a:rPr lang="en-US" altLang="zh-CN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1830-2001 </a:t>
            </a: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每年编码 </a:t>
            </a:r>
            <a:endParaRPr lang="en-US" altLang="zh-CN" sz="15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 </a:t>
            </a:r>
            <a:r>
              <a:rPr lang="en-US" altLang="zh-CN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7,544 </a:t>
            </a: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个网格、</a:t>
            </a:r>
            <a:r>
              <a:rPr lang="en-US" altLang="zh-CN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172 </a:t>
            </a: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endParaRPr lang="en-US" altLang="zh-CN" sz="15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→合计约 </a:t>
            </a:r>
            <a:r>
              <a:rPr lang="en-US" altLang="zh-CN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1,297,568 </a:t>
            </a: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网格</a:t>
            </a:r>
            <a:r>
              <a:rPr lang="en-US" altLang="zh-CN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年 数据点。</a:t>
            </a:r>
            <a:endParaRPr lang="en-US" altLang="zh-CN" sz="15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/>
            <a:endParaRPr lang="en-US" altLang="zh-CN" sz="15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zh-CN" altLang="en-US" sz="15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因变量：领土主张（</a:t>
            </a:r>
            <a:r>
              <a:rPr lang="en-US" altLang="zh-CN" sz="15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0/1</a:t>
            </a:r>
            <a:r>
              <a:rPr lang="zh-CN" altLang="en-US" sz="15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）：</a:t>
            </a: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某网格</a:t>
            </a:r>
            <a:r>
              <a:rPr lang="en-US" altLang="zh-CN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年被两个及以上国家争议则为 </a:t>
            </a:r>
            <a:r>
              <a:rPr lang="en-US" altLang="zh-CN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，否则 </a:t>
            </a:r>
            <a:r>
              <a:rPr lang="en-US" altLang="zh-CN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5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endParaRPr lang="en-US" altLang="zh-CN" sz="15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500" kern="100">
                <a:latin typeface="宋体" panose="02010600030101010101" pitchFamily="2" charset="-122"/>
                <a:cs typeface="Times New Roman" panose="02020603050405020304" pitchFamily="18" charset="0"/>
                <a:sym typeface="Wingdings" pitchFamily="2" charset="2"/>
              </a:rPr>
              <a:t>提供信息：</a:t>
            </a:r>
            <a:endParaRPr lang="en-US" altLang="zh-CN" sz="1500" kern="100">
              <a:latin typeface="宋体" panose="02010600030101010101" pitchFamily="2" charset="-122"/>
              <a:cs typeface="Times New Roman" panose="02020603050405020304" pitchFamily="18" charset="0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500">
                <a:solidFill>
                  <a:srgbClr val="000000"/>
                </a:solidFill>
                <a:latin typeface="NotoSansCJKsc-Regular"/>
              </a:rPr>
              <a:t>例如，迈纳斯地区某网格单元在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1830-1853</a:t>
            </a:r>
            <a:r>
              <a:rPr lang="zh-CN" altLang="en-US" sz="1500">
                <a:solidFill>
                  <a:srgbClr val="000000"/>
                </a:solidFill>
                <a:latin typeface="NotoSansCJKsc-Regular"/>
              </a:rPr>
              <a:t>年间被编码为未主张（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1500">
                <a:solidFill>
                  <a:srgbClr val="000000"/>
                </a:solidFill>
                <a:latin typeface="NotoSansCJKsc-Regular"/>
              </a:rPr>
              <a:t>），随后在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1854-1945</a:t>
            </a:r>
            <a:r>
              <a:rPr lang="zh-CN" altLang="en-US" sz="1500">
                <a:solidFill>
                  <a:srgbClr val="000000"/>
                </a:solidFill>
                <a:latin typeface="NotoSansCJKsc-Regular"/>
              </a:rPr>
              <a:t>年间转为竞争主张状态（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500">
                <a:solidFill>
                  <a:srgbClr val="000000"/>
                </a:solidFill>
                <a:latin typeface="NotoSansCJKsc-Regular"/>
              </a:rPr>
              <a:t>）</a:t>
            </a:r>
            <a:endParaRPr lang="en-US" altLang="zh-CN" sz="1500">
              <a:solidFill>
                <a:srgbClr val="000000"/>
              </a:solidFill>
              <a:latin typeface="NotoSansCJKsc-Regular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500" b="1">
                <a:solidFill>
                  <a:srgbClr val="231F20"/>
                </a:solidFill>
                <a:effectLst/>
                <a:latin typeface="NotoSansCJKsc-Regular"/>
              </a:rPr>
              <a:t>每个灰色多边形代表一项领土主张。深色阴影表示领土主张重叠</a:t>
            </a:r>
            <a:r>
              <a:rPr lang="zh-CN" altLang="en-US" sz="1500">
                <a:solidFill>
                  <a:srgbClr val="231F20"/>
                </a:solidFill>
                <a:effectLst/>
                <a:latin typeface="NotoSansCJKsc-Regular"/>
              </a:rPr>
              <a:t>：例如</a:t>
            </a:r>
            <a:r>
              <a:rPr lang="en-US" altLang="zh-CN" sz="1500">
                <a:solidFill>
                  <a:srgbClr val="231F20"/>
                </a:solidFill>
                <a:effectLst/>
                <a:latin typeface="Times New Roman" panose="02020603050405020304" pitchFamily="18" charset="0"/>
              </a:rPr>
              <a:t>1870</a:t>
            </a:r>
            <a:r>
              <a:rPr lang="zh-CN" altLang="en-US" sz="1500">
                <a:solidFill>
                  <a:srgbClr val="231F20"/>
                </a:solidFill>
                <a:effectLst/>
                <a:latin typeface="NotoSansCJKsc-Regular"/>
              </a:rPr>
              <a:t>年的阿克雷地区存在三处多边形重叠 ，因巴西与玻利维亚、玻利维亚与秘鲁、秘鲁与巴西之间存在三项不同领土主张。</a:t>
            </a:r>
            <a:endParaRPr lang="zh-CN" altLang="en-US" sz="1500"/>
          </a:p>
          <a:p>
            <a:pPr marL="342900" indent="-342900">
              <a:buAutoNum type="arabicPeriod"/>
            </a:pPr>
            <a:endParaRPr lang="en-US" altLang="zh-CN" sz="1500" b="1">
              <a:solidFill>
                <a:srgbClr val="000000"/>
              </a:solidFill>
              <a:latin typeface="NotoSansCJKsc-Regular"/>
            </a:endParaRPr>
          </a:p>
          <a:p>
            <a:pPr marL="342900" indent="-342900">
              <a:buAutoNum type="arabicPeriod"/>
            </a:pPr>
            <a:endParaRPr lang="zh-CN" altLang="en-US" sz="1500" b="1" kern="10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1503D2-1A17-BEEF-0B85-DF98C0CC2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618" y="801679"/>
            <a:ext cx="4577115" cy="483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687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4F67C6C-5D91-257B-D018-CE80B2F14842}"/>
              </a:ext>
            </a:extLst>
          </p:cNvPr>
          <p:cNvSpPr txBox="1"/>
          <p:nvPr/>
        </p:nvSpPr>
        <p:spPr>
          <a:xfrm>
            <a:off x="5120124" y="880716"/>
            <a:ext cx="371183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zh-CN" altLang="en-US" sz="1500" b="1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关键自变量：资源“潜在效益集中度”（资本密集度）的生成过程</a:t>
            </a:r>
            <a:endParaRPr lang="zh-CN" altLang="en-US" sz="15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itchFamily="2" charset="2"/>
              <a:buChar char=""/>
            </a:pP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用 </a:t>
            </a:r>
            <a:r>
              <a:rPr lang="en" altLang="zh-CN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NAICS </a:t>
            </a: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的“结构性资产收入占比”去排序资源资本密集度：</a:t>
            </a:r>
            <a:endParaRPr lang="zh-CN" altLang="en-US" sz="15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>
              <a:buFont typeface="Courier New" panose="02070309020205020404" pitchFamily="49" charset="0"/>
              <a:buChar char="o"/>
            </a:pP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农牧业、林渔（低收益度）</a:t>
            </a:r>
            <a:endParaRPr lang="zh-CN" altLang="en-US" sz="15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>
              <a:buFont typeface="Courier New" panose="02070309020205020404" pitchFamily="49" charset="0"/>
              <a:buChar char="o"/>
            </a:pP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矿产（中收益度）</a:t>
            </a:r>
            <a:endParaRPr lang="zh-CN" altLang="en-US" sz="15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>
              <a:buFont typeface="Courier New" panose="02070309020205020404" pitchFamily="49" charset="0"/>
              <a:buChar char="o"/>
            </a:pP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油气（高收益度）</a:t>
            </a:r>
            <a:endParaRPr lang="en-US" altLang="zh-CN" sz="15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itchFamily="2" charset="2"/>
              <a:buChar char=""/>
            </a:pP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同一网格若多资源并存，以“最资本密集”的那类编码（捕捉最大分配风险）。</a:t>
            </a:r>
            <a:endParaRPr lang="zh-CN" altLang="en-US" sz="15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28600" marR="0"/>
            <a:r>
              <a:rPr lang="zh-CN" altLang="en-US" sz="1500" b="1" kern="10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样本子集：高风险网格（实证模型</a:t>
            </a:r>
            <a:r>
              <a:rPr lang="en-US" altLang="zh-CN" sz="1500" b="1" kern="10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500" b="1" kern="10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1500" kern="100">
              <a:solidFill>
                <a:schemeClr val="tx2">
                  <a:lumMod val="60000"/>
                  <a:lumOff val="40000"/>
                </a:schemeClr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itchFamily="2" charset="2"/>
              <a:buChar char=""/>
            </a:pP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位于：历史重叠区 </a:t>
            </a:r>
            <a:r>
              <a:rPr lang="en-US" altLang="zh-CN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 </a:t>
            </a: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无管辖权区 </a:t>
            </a:r>
            <a:r>
              <a:rPr lang="en-US" altLang="zh-CN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 </a:t>
            </a: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距历史边界</a:t>
            </a:r>
            <a:r>
              <a:rPr lang="en-US" altLang="zh-CN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en" altLang="zh-CN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km </a:t>
            </a: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内；</a:t>
            </a:r>
            <a:r>
              <a:rPr lang="en-US" altLang="zh-CN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90% </a:t>
            </a:r>
            <a:r>
              <a:rPr lang="zh-CN" altLang="en-US" sz="15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主张发生在这些区域。</a:t>
            </a:r>
            <a:endParaRPr lang="zh-CN" altLang="en-US" sz="15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B2F8D7-9EFB-EB4B-C765-E4D22A8BAE83}"/>
              </a:ext>
            </a:extLst>
          </p:cNvPr>
          <p:cNvSpPr txBox="1"/>
          <p:nvPr/>
        </p:nvSpPr>
        <p:spPr>
          <a:xfrm>
            <a:off x="5120124" y="4888087"/>
            <a:ext cx="383098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>
                <a:solidFill>
                  <a:srgbClr val="000000"/>
                </a:solidFill>
                <a:effectLst/>
                <a:latin typeface="NotoSansCJKsc-Regular"/>
              </a:rPr>
              <a:t>一个随时间变化的指标 ，通过</a:t>
            </a:r>
            <a:r>
              <a:rPr lang="en-US" altLang="zh-CN" sz="15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1830-2001</a:t>
            </a:r>
            <a:r>
              <a:rPr lang="zh-CN" altLang="en-US" sz="1500">
                <a:solidFill>
                  <a:srgbClr val="000000"/>
                </a:solidFill>
                <a:effectLst/>
                <a:latin typeface="NotoSansCJKsc-Regular"/>
              </a:rPr>
              <a:t>年间的领土资源资本密集度来衡量该领土潜在收益集中的程度</a:t>
            </a:r>
            <a:endParaRPr lang="zh-CN" altLang="en-US" sz="1500"/>
          </a:p>
        </p:txBody>
      </p:sp>
      <p:sp>
        <p:nvSpPr>
          <p:cNvPr id="9" name="下箭头 8">
            <a:extLst>
              <a:ext uri="{FF2B5EF4-FFF2-40B4-BE49-F238E27FC236}">
                <a16:creationId xmlns:a16="http://schemas.microsoft.com/office/drawing/2014/main" id="{1D452A29-E49C-00C6-42EC-CC59F71966DF}"/>
              </a:ext>
            </a:extLst>
          </p:cNvPr>
          <p:cNvSpPr/>
          <p:nvPr/>
        </p:nvSpPr>
        <p:spPr>
          <a:xfrm>
            <a:off x="6829778" y="4109156"/>
            <a:ext cx="316089" cy="677333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DC4ECE5F-A1A3-3AF4-5679-BB2E3C49919F}"/>
              </a:ext>
            </a:extLst>
          </p:cNvPr>
          <p:cNvGraphicFramePr>
            <a:graphicFrameLocks noGrp="1"/>
          </p:cNvGraphicFramePr>
          <p:nvPr/>
        </p:nvGraphicFramePr>
        <p:xfrm>
          <a:off x="223836" y="942271"/>
          <a:ext cx="4639544" cy="2007871"/>
        </p:xfrm>
        <a:graphic>
          <a:graphicData uri="http://schemas.openxmlformats.org/drawingml/2006/table">
            <a:tbl>
              <a:tblPr/>
              <a:tblGrid>
                <a:gridCol w="772021">
                  <a:extLst>
                    <a:ext uri="{9D8B030D-6E8A-4147-A177-3AD203B41FA5}">
                      <a16:colId xmlns:a16="http://schemas.microsoft.com/office/drawing/2014/main" val="2451228341"/>
                    </a:ext>
                  </a:extLst>
                </a:gridCol>
                <a:gridCol w="1305027">
                  <a:extLst>
                    <a:ext uri="{9D8B030D-6E8A-4147-A177-3AD203B41FA5}">
                      <a16:colId xmlns:a16="http://schemas.microsoft.com/office/drawing/2014/main" val="992874947"/>
                    </a:ext>
                  </a:extLst>
                </a:gridCol>
                <a:gridCol w="1347814">
                  <a:extLst>
                    <a:ext uri="{9D8B030D-6E8A-4147-A177-3AD203B41FA5}">
                      <a16:colId xmlns:a16="http://schemas.microsoft.com/office/drawing/2014/main" val="4288214769"/>
                    </a:ext>
                  </a:extLst>
                </a:gridCol>
                <a:gridCol w="1214682">
                  <a:extLst>
                    <a:ext uri="{9D8B030D-6E8A-4147-A177-3AD203B41FA5}">
                      <a16:colId xmlns:a16="http://schemas.microsoft.com/office/drawing/2014/main" val="2317720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" sz="900" b="1" baseline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NAICS</a:t>
                      </a:r>
                      <a:r>
                        <a:rPr lang="zh-CN" altLang="en-US" sz="900" b="1" baseline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代码</a:t>
                      </a:r>
                      <a:endParaRPr lang="zh-CN" altLang="en-US" sz="900" baseline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900" b="1" baseline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资源部门</a:t>
                      </a:r>
                      <a:endParaRPr lang="zh-CN" altLang="en-US" sz="900" baseline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900" b="1" baseline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结构性资产收入占比 </a:t>
                      </a:r>
                      <a:r>
                        <a:rPr lang="en-US" altLang="zh-CN" sz="900" b="1" baseline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(%)</a:t>
                      </a:r>
                      <a:endParaRPr lang="zh-CN" altLang="en-US" sz="900" baseline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900" b="1" baseline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资本密集度</a:t>
                      </a:r>
                      <a:endParaRPr lang="zh-CN" altLang="en-US" sz="900" baseline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108216"/>
                  </a:ext>
                </a:extLst>
              </a:tr>
              <a:tr h="412791">
                <a:tc>
                  <a:txBody>
                    <a:bodyPr/>
                    <a:lstStyle/>
                    <a:p>
                      <a:pPr rtl="0"/>
                      <a:r>
                        <a:rPr lang="en-US" altLang="zh-CN" sz="900" baseline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111–112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900" baseline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农作物和动物生产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CN" sz="900" baseline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0.18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900" b="1" baseline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低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905604"/>
                  </a:ext>
                </a:extLst>
              </a:tr>
              <a:tr h="412791">
                <a:tc>
                  <a:txBody>
                    <a:bodyPr/>
                    <a:lstStyle/>
                    <a:p>
                      <a:pPr rtl="0"/>
                      <a:r>
                        <a:rPr lang="en-US" altLang="zh-CN" sz="900" baseline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113–115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900" baseline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林业、渔业等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CN" sz="900" baseline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0.20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900" b="1" baseline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低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212952"/>
                  </a:ext>
                </a:extLst>
              </a:tr>
              <a:tr h="540898">
                <a:tc>
                  <a:txBody>
                    <a:bodyPr/>
                    <a:lstStyle/>
                    <a:p>
                      <a:pPr rtl="0"/>
                      <a:r>
                        <a:rPr lang="en-US" altLang="zh-CN" sz="900" baseline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212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900" baseline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采矿业</a:t>
                      </a:r>
                      <a:endParaRPr lang="en-US" altLang="zh-CN" sz="900" baseline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rtl="0"/>
                      <a:r>
                        <a:rPr lang="zh-CN" altLang="en-US" sz="900" baseline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（不含石油和天然气）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CN" sz="900" baseline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0.39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900" b="1" baseline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中等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765493"/>
                  </a:ext>
                </a:extLst>
              </a:tr>
              <a:tr h="412791">
                <a:tc>
                  <a:txBody>
                    <a:bodyPr/>
                    <a:lstStyle/>
                    <a:p>
                      <a:pPr rtl="0"/>
                      <a:r>
                        <a:rPr lang="en-US" altLang="zh-CN" sz="900" baseline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211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900" baseline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石油和天然气开采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CN" sz="900" baseline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0.90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900" b="1" baseline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高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684661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6B6AA824-E408-F1A7-17BF-32208F5ACF34}"/>
              </a:ext>
            </a:extLst>
          </p:cNvPr>
          <p:cNvSpPr txBox="1"/>
          <p:nvPr/>
        </p:nvSpPr>
        <p:spPr>
          <a:xfrm>
            <a:off x="146756" y="696050"/>
            <a:ext cx="33089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b="1"/>
              <a:t>表</a:t>
            </a:r>
            <a:r>
              <a:rPr kumimoji="1" lang="en-US" altLang="zh-CN" sz="1000" b="1"/>
              <a:t>2:</a:t>
            </a:r>
            <a:r>
              <a:rPr kumimoji="1" lang="zh-CN" altLang="en-US" sz="1000" b="1"/>
              <a:t> 按资本密集度划分的资源部分（潜在效益集中度）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5D9CA8D-C6C7-1A6C-2BE5-A24FF43E4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1" y="3099641"/>
            <a:ext cx="3922273" cy="3062309"/>
          </a:xfrm>
          <a:prstGeom prst="rect">
            <a:avLst/>
          </a:prstGeom>
        </p:spPr>
      </p:pic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EE29AE8B-DE70-4930-9265-CE6DACF82D38}"/>
              </a:ext>
            </a:extLst>
          </p:cNvPr>
          <p:cNvCxnSpPr>
            <a:cxnSpLocks/>
          </p:cNvCxnSpPr>
          <p:nvPr/>
        </p:nvCxnSpPr>
        <p:spPr>
          <a:xfrm>
            <a:off x="1729359" y="1845637"/>
            <a:ext cx="1233297" cy="1254004"/>
          </a:xfrm>
          <a:prstGeom prst="straightConnector1">
            <a:avLst/>
          </a:prstGeom>
          <a:ln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肘形连接符 17">
            <a:extLst>
              <a:ext uri="{FF2B5EF4-FFF2-40B4-BE49-F238E27FC236}">
                <a16:creationId xmlns:a16="http://schemas.microsoft.com/office/drawing/2014/main" id="{CF197BBC-1F95-CB84-B663-6C54A360C099}"/>
              </a:ext>
            </a:extLst>
          </p:cNvPr>
          <p:cNvCxnSpPr>
            <a:cxnSpLocks/>
          </p:cNvCxnSpPr>
          <p:nvPr/>
        </p:nvCxnSpPr>
        <p:spPr>
          <a:xfrm rot="5400000">
            <a:off x="-86868" y="2308860"/>
            <a:ext cx="2029968" cy="210312"/>
          </a:xfrm>
          <a:prstGeom prst="bentConnector3">
            <a:avLst>
              <a:gd name="adj1" fmla="val -901"/>
            </a:avLst>
          </a:prstGeom>
          <a:ln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996DB396-9E50-7C6B-4EBE-9BC244CB1948}"/>
              </a:ext>
            </a:extLst>
          </p:cNvPr>
          <p:cNvCxnSpPr>
            <a:cxnSpLocks/>
          </p:cNvCxnSpPr>
          <p:nvPr/>
        </p:nvCxnSpPr>
        <p:spPr>
          <a:xfrm>
            <a:off x="1926958" y="2484276"/>
            <a:ext cx="1112778" cy="2051148"/>
          </a:xfrm>
          <a:prstGeom prst="straightConnector1">
            <a:avLst/>
          </a:prstGeom>
          <a:ln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CA3C8A1C-C25E-C4D3-6E28-B796DDA30493}"/>
              </a:ext>
            </a:extLst>
          </p:cNvPr>
          <p:cNvCxnSpPr>
            <a:cxnSpLocks/>
          </p:cNvCxnSpPr>
          <p:nvPr/>
        </p:nvCxnSpPr>
        <p:spPr>
          <a:xfrm>
            <a:off x="1610642" y="2836939"/>
            <a:ext cx="0" cy="1949550"/>
          </a:xfrm>
          <a:prstGeom prst="straightConnector1">
            <a:avLst/>
          </a:prstGeom>
          <a:ln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23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AD280F2-9C63-BEED-951A-884DD9F44280}"/>
              </a:ext>
            </a:extLst>
          </p:cNvPr>
          <p:cNvSpPr txBox="1"/>
          <p:nvPr/>
        </p:nvSpPr>
        <p:spPr>
          <a:xfrm>
            <a:off x="169333" y="73377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研究结果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584A13-4332-82E0-FBF1-4A758553195D}"/>
              </a:ext>
            </a:extLst>
          </p:cNvPr>
          <p:cNvSpPr txBox="1"/>
          <p:nvPr/>
        </p:nvSpPr>
        <p:spPr>
          <a:xfrm>
            <a:off x="287077" y="4505572"/>
            <a:ext cx="78796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500"/>
              <a:t>资源与领土主张的简单关联：</a:t>
            </a:r>
            <a:endParaRPr kumimoji="1" lang="en-US" altLang="zh-CN" sz="15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500">
                <a:solidFill>
                  <a:srgbClr val="000000"/>
                </a:solidFill>
                <a:effectLst/>
                <a:latin typeface="NotoSansCJKsc-Regular"/>
              </a:rPr>
              <a:t>在所有含油资源的网格</a:t>
            </a:r>
            <a:r>
              <a:rPr lang="en-US" altLang="zh-CN" sz="15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</a:t>
            </a:r>
            <a:r>
              <a:rPr lang="zh-CN" altLang="en-US" sz="1500">
                <a:solidFill>
                  <a:srgbClr val="000000"/>
                </a:solidFill>
                <a:effectLst/>
                <a:latin typeface="NotoSansCJKsc-Regular"/>
              </a:rPr>
              <a:t>年份中 ，仅有</a:t>
            </a:r>
            <a:r>
              <a:rPr lang="en-US" altLang="zh-CN" sz="15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2.1%</a:t>
            </a:r>
            <a:r>
              <a:rPr lang="zh-CN" altLang="en-US" sz="1500">
                <a:solidFill>
                  <a:srgbClr val="000000"/>
                </a:solidFill>
                <a:effectLst/>
                <a:latin typeface="NotoSansCJKsc-Regular"/>
              </a:rPr>
              <a:t>受到领土主张；而无矿产或石油的网格</a:t>
            </a:r>
            <a:r>
              <a:rPr lang="en-US" altLang="zh-CN" sz="150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</a:t>
            </a:r>
            <a:r>
              <a:rPr lang="zh-CN" altLang="en-US" sz="1500">
                <a:solidFill>
                  <a:srgbClr val="000000"/>
                </a:solidFill>
                <a:effectLst/>
                <a:latin typeface="NotoSansCJKsc-Regular"/>
              </a:rPr>
              <a:t>年份被主张的可能性几乎高出五倍（</a:t>
            </a:r>
            <a:r>
              <a:rPr lang="zh-CN" altLang="en-US" sz="1500" b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NotoSansCJKsc-Regular"/>
              </a:rPr>
              <a:t>图</a:t>
            </a:r>
            <a:r>
              <a:rPr lang="en-US" altLang="zh-CN" sz="1500" b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</a:rPr>
              <a:t>6</a:t>
            </a:r>
            <a:r>
              <a:rPr lang="en" altLang="zh-CN" sz="1500" b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</a:rPr>
              <a:t>a</a:t>
            </a:r>
            <a:r>
              <a:rPr lang="zh-CN" altLang="en" sz="1500">
                <a:solidFill>
                  <a:srgbClr val="000000"/>
                </a:solidFill>
                <a:effectLst/>
                <a:latin typeface="NotoSansCJKsc-Regular"/>
              </a:rPr>
              <a:t>）。</a:t>
            </a:r>
            <a:endParaRPr lang="en-US" altLang="zh-CN" sz="1500">
              <a:solidFill>
                <a:srgbClr val="000000"/>
              </a:solidFill>
              <a:effectLst/>
              <a:latin typeface="NotoSansCJKsc-Regula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500">
                <a:solidFill>
                  <a:srgbClr val="000000"/>
                </a:solidFill>
                <a:effectLst/>
                <a:latin typeface="NotoSansCJKsc-Regular"/>
              </a:rPr>
              <a:t>当我们仅考察高风险网格时（</a:t>
            </a:r>
            <a:r>
              <a:rPr lang="zh-CN" altLang="en-US" sz="1500" b="1">
                <a:solidFill>
                  <a:schemeClr val="tx2">
                    <a:lumMod val="60000"/>
                    <a:lumOff val="40000"/>
                  </a:schemeClr>
                </a:solidFill>
                <a:latin typeface="NotoSansCJKsc-Regular"/>
              </a:rPr>
              <a:t>图</a:t>
            </a:r>
            <a:r>
              <a:rPr lang="en-US" altLang="zh-CN" sz="1500" b="1">
                <a:solidFill>
                  <a:schemeClr val="tx2">
                    <a:lumMod val="60000"/>
                    <a:lumOff val="40000"/>
                  </a:schemeClr>
                </a:solidFill>
                <a:latin typeface="NotoSansCJKsc-Regular"/>
              </a:rPr>
              <a:t>6b</a:t>
            </a:r>
            <a:r>
              <a:rPr lang="zh-CN" altLang="en-US" sz="1500">
                <a:solidFill>
                  <a:srgbClr val="000000"/>
                </a:solidFill>
                <a:effectLst/>
                <a:latin typeface="NotoSansCJKsc-Regular"/>
              </a:rPr>
              <a:t>），这一趋势依然成立</a:t>
            </a:r>
            <a:endParaRPr lang="zh-CN" altLang="en-US" sz="150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B4B299B-CA4B-7932-BB99-65F1FBA61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3" y="1161562"/>
            <a:ext cx="6163734" cy="321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400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C4C4AB1-9570-4149-EE22-E373CBDA888E}"/>
              </a:ext>
            </a:extLst>
          </p:cNvPr>
          <p:cNvSpPr txBox="1"/>
          <p:nvPr/>
        </p:nvSpPr>
        <p:spPr>
          <a:xfrm>
            <a:off x="237067" y="2092214"/>
            <a:ext cx="751362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>
              <a:buFont typeface="Arial" panose="020B0604020202020204" pitchFamily="34" charset="0"/>
              <a:buChar char="•"/>
            </a:pPr>
            <a:r>
              <a:rPr lang="zh-CN" altLang="en-US" sz="1500" b="1" kern="10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空间滞后模型</a:t>
            </a:r>
            <a:r>
              <a:rPr lang="en-US" altLang="zh-CN" sz="1500" b="1" kern="100">
                <a:solidFill>
                  <a:schemeClr val="tx2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500" b="1" kern="10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Spatial Lag Model, SLM)</a:t>
            </a:r>
            <a:endParaRPr lang="zh-CN" altLang="en-US" sz="1500" kern="10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F197F8B-8FAD-D907-55F6-8141F25DFE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44" t="14062" r="13552" b="8593"/>
          <a:stretch/>
        </p:blipFill>
        <p:spPr>
          <a:xfrm>
            <a:off x="532412" y="2559984"/>
            <a:ext cx="5270077" cy="102643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D5A8728-CAF8-2F9F-84AF-78E5C31444A6}"/>
              </a:ext>
            </a:extLst>
          </p:cNvPr>
          <p:cNvSpPr txBox="1"/>
          <p:nvPr/>
        </p:nvSpPr>
        <p:spPr>
          <a:xfrm>
            <a:off x="237067" y="69991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研究结果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DE5330-1595-F3CF-47D1-93CBFC604E4C}"/>
              </a:ext>
            </a:extLst>
          </p:cNvPr>
          <p:cNvSpPr txBox="1"/>
          <p:nvPr/>
        </p:nvSpPr>
        <p:spPr>
          <a:xfrm>
            <a:off x="237067" y="1164801"/>
            <a:ext cx="83574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500">
                <a:solidFill>
                  <a:srgbClr val="000000"/>
                </a:solidFill>
                <a:effectLst/>
                <a:latin typeface="NotoSansCJKsc-Regular"/>
              </a:rPr>
              <a:t>虽然网格单元为统计分析提供了便捷方式，但它们并非独立的观测单元，而是呈现出空间聚类</a:t>
            </a:r>
            <a:r>
              <a:rPr lang="en-US" altLang="zh-CN" sz="1500">
                <a:solidFill>
                  <a:srgbClr val="000000"/>
                </a:solidFill>
                <a:effectLst/>
                <a:latin typeface="NotoSansCJKsc-Regular"/>
              </a:rPr>
              <a:t> (spatial cluster)</a:t>
            </a:r>
            <a:r>
              <a:rPr lang="zh-CN" altLang="en-US" sz="1500">
                <a:solidFill>
                  <a:srgbClr val="000000"/>
                </a:solidFill>
                <a:effectLst/>
                <a:latin typeface="NotoSansCJKsc-Regular"/>
              </a:rPr>
              <a:t>：若相邻单元已被宣称，则该网格单元被宣称的可能性更高；若其所有相邻单元均未被宣称，则被宣称的可能性更低。</a:t>
            </a:r>
            <a:endParaRPr lang="zh-CN" altLang="en-US" sz="15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3BBF939-3D54-ACC2-5E13-394A50601CE2}"/>
              </a:ext>
            </a:extLst>
          </p:cNvPr>
          <p:cNvSpPr txBox="1"/>
          <p:nvPr/>
        </p:nvSpPr>
        <p:spPr>
          <a:xfrm>
            <a:off x="396842" y="3779155"/>
            <a:ext cx="525175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>
                <a:latin typeface="Google Sans Text"/>
              </a:rPr>
              <a:t>1</a:t>
            </a:r>
            <a:r>
              <a:rPr lang="en-US" altLang="zh-CN" sz="1500" b="1">
                <a:solidFill>
                  <a:schemeClr val="tx2">
                    <a:lumMod val="60000"/>
                    <a:lumOff val="40000"/>
                  </a:schemeClr>
                </a:solidFill>
                <a:latin typeface="Google Sans Text"/>
              </a:rPr>
              <a:t>.</a:t>
            </a:r>
            <a:r>
              <a:rPr lang="zh-CN" altLang="en-US" sz="1500" b="1">
                <a:solidFill>
                  <a:schemeClr val="tx2">
                    <a:lumMod val="60000"/>
                    <a:lumOff val="40000"/>
                  </a:schemeClr>
                </a:solidFill>
                <a:latin typeface="Google Sans Text"/>
              </a:rPr>
              <a:t> </a:t>
            </a:r>
            <a:r>
              <a:rPr lang="zh-CN" altLang="en-US" sz="1500" b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Google Sans Text"/>
              </a:rPr>
              <a:t>因变量：</a:t>
            </a:r>
            <a:r>
              <a:rPr lang="zh-CN" altLang="en-US" sz="1500">
                <a:effectLst/>
                <a:latin typeface="Google Sans Text"/>
              </a:rPr>
              <a:t>代表在特定时间 </a:t>
            </a:r>
            <a:r>
              <a:rPr lang="en" altLang="zh-CN" sz="1500">
                <a:effectLst/>
                <a:latin typeface="Google Sans Text"/>
              </a:rPr>
              <a:t>t</a:t>
            </a:r>
            <a:r>
              <a:rPr lang="zh-CN" altLang="en" sz="1500">
                <a:effectLst/>
                <a:latin typeface="Google Sans Text"/>
              </a:rPr>
              <a:t>，</a:t>
            </a:r>
            <a:r>
              <a:rPr lang="zh-CN" altLang="en-US" sz="1500">
                <a:effectLst/>
                <a:latin typeface="Google Sans Text"/>
              </a:rPr>
              <a:t>网格单元 </a:t>
            </a:r>
            <a:r>
              <a:rPr lang="en" altLang="zh-CN" sz="1500">
                <a:effectLst/>
                <a:latin typeface="Google Sans Text"/>
              </a:rPr>
              <a:t>r</a:t>
            </a:r>
            <a:r>
              <a:rPr lang="zh-CN" altLang="en-US" sz="1500">
                <a:effectLst/>
                <a:latin typeface="Google Sans Text"/>
              </a:rPr>
              <a:t> 是否存在领土主张</a:t>
            </a:r>
            <a:endParaRPr lang="en-US" altLang="zh-CN" sz="1500">
              <a:effectLst/>
              <a:latin typeface="Google Sans Tex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86C68F-2259-3666-8FF6-D993E026C46A}"/>
              </a:ext>
            </a:extLst>
          </p:cNvPr>
          <p:cNvSpPr/>
          <p:nvPr/>
        </p:nvSpPr>
        <p:spPr>
          <a:xfrm>
            <a:off x="532412" y="2847172"/>
            <a:ext cx="912566" cy="426606"/>
          </a:xfrm>
          <a:prstGeom prst="rect">
            <a:avLst/>
          </a:prstGeom>
          <a:noFill/>
          <a:ln w="25400">
            <a:solidFill>
              <a:schemeClr val="tx2">
                <a:lumMod val="75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225E4FA-43B8-6269-A9AD-063E9AE85E59}"/>
              </a:ext>
            </a:extLst>
          </p:cNvPr>
          <p:cNvSpPr/>
          <p:nvPr/>
        </p:nvSpPr>
        <p:spPr>
          <a:xfrm>
            <a:off x="1681153" y="2879877"/>
            <a:ext cx="346117" cy="393901"/>
          </a:xfrm>
          <a:prstGeom prst="rect">
            <a:avLst/>
          </a:prstGeom>
          <a:noFill/>
          <a:ln w="25400">
            <a:solidFill>
              <a:schemeClr val="tx2">
                <a:lumMod val="75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BA6C74D-A5A9-3E6E-B37A-D9EB1A3964E7}"/>
              </a:ext>
            </a:extLst>
          </p:cNvPr>
          <p:cNvSpPr/>
          <p:nvPr/>
        </p:nvSpPr>
        <p:spPr>
          <a:xfrm>
            <a:off x="3715877" y="2652242"/>
            <a:ext cx="1196623" cy="934180"/>
          </a:xfrm>
          <a:prstGeom prst="rect">
            <a:avLst/>
          </a:prstGeom>
          <a:noFill/>
          <a:ln w="25400">
            <a:solidFill>
              <a:schemeClr val="tx2">
                <a:lumMod val="75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A5D2C8B-74DF-F47F-D5D7-2C1EE460E970}"/>
              </a:ext>
            </a:extLst>
          </p:cNvPr>
          <p:cNvSpPr/>
          <p:nvPr/>
        </p:nvSpPr>
        <p:spPr>
          <a:xfrm>
            <a:off x="2241760" y="2845338"/>
            <a:ext cx="1212639" cy="441167"/>
          </a:xfrm>
          <a:prstGeom prst="rect">
            <a:avLst/>
          </a:prstGeom>
          <a:noFill/>
          <a:ln w="25400">
            <a:solidFill>
              <a:schemeClr val="tx2">
                <a:lumMod val="75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BC67A1-BFD1-3591-16A1-723A47237CC3}"/>
              </a:ext>
            </a:extLst>
          </p:cNvPr>
          <p:cNvSpPr/>
          <p:nvPr/>
        </p:nvSpPr>
        <p:spPr>
          <a:xfrm>
            <a:off x="5126990" y="2859900"/>
            <a:ext cx="461010" cy="426606"/>
          </a:xfrm>
          <a:prstGeom prst="rect">
            <a:avLst/>
          </a:prstGeom>
          <a:noFill/>
          <a:ln w="25400">
            <a:solidFill>
              <a:schemeClr val="tx2">
                <a:lumMod val="75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A30B208-9928-5FFF-F192-EFC9C909846D}"/>
              </a:ext>
            </a:extLst>
          </p:cNvPr>
          <p:cNvSpPr txBox="1"/>
          <p:nvPr/>
        </p:nvSpPr>
        <p:spPr>
          <a:xfrm>
            <a:off x="6294294" y="2786570"/>
            <a:ext cx="133882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>
                <a:effectLst/>
                <a:latin typeface="Google Sans Text"/>
              </a:rPr>
              <a:t>时间固定效应</a:t>
            </a:r>
            <a:endParaRPr kumimoji="1" lang="zh-CN" altLang="en-US" sz="15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0C4D3D1-BC03-BC08-3979-9B860C19D261}"/>
              </a:ext>
            </a:extLst>
          </p:cNvPr>
          <p:cNvSpPr txBox="1"/>
          <p:nvPr/>
        </p:nvSpPr>
        <p:spPr>
          <a:xfrm>
            <a:off x="6405628" y="3234625"/>
            <a:ext cx="11464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>
                <a:effectLst/>
                <a:latin typeface="Google Sans Text"/>
              </a:rPr>
              <a:t>随机误差项</a:t>
            </a:r>
            <a:endParaRPr kumimoji="1" lang="zh-CN" altLang="en-US" sz="15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B1DEC7A-A21C-C252-5B83-EB4843D5691C}"/>
              </a:ext>
            </a:extLst>
          </p:cNvPr>
          <p:cNvSpPr txBox="1"/>
          <p:nvPr/>
        </p:nvSpPr>
        <p:spPr>
          <a:xfrm>
            <a:off x="396842" y="4107541"/>
            <a:ext cx="83574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500"/>
              <a:t>2.</a:t>
            </a:r>
            <a:r>
              <a:rPr kumimoji="1" lang="zh-CN" altLang="en-US" sz="1500"/>
              <a:t> </a:t>
            </a:r>
            <a:r>
              <a:rPr kumimoji="1" lang="zh-CN" altLang="en-US" sz="1500" b="1">
                <a:solidFill>
                  <a:schemeClr val="tx2">
                    <a:lumMod val="60000"/>
                    <a:lumOff val="40000"/>
                  </a:schemeClr>
                </a:solidFill>
              </a:rPr>
              <a:t>自变量：</a:t>
            </a:r>
            <a:r>
              <a:rPr lang="zh-CN" altLang="en-US" sz="1500" b="1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zh-CN" altLang="en-US" sz="1500"/>
              <a:t>“资源密集程度”，在模型中作为一个定序变量进入回归。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500" b="1"/>
              <a:t> 高密集度（</a:t>
            </a:r>
            <a:r>
              <a:rPr lang="en" altLang="zh-CN" sz="1500" b="1"/>
              <a:t>High</a:t>
            </a:r>
            <a:r>
              <a:rPr lang="zh-CN" altLang="en" sz="1500" b="1"/>
              <a:t>）</a:t>
            </a:r>
            <a:r>
              <a:rPr lang="zh-CN" altLang="en" sz="1500"/>
              <a:t>：</a:t>
            </a:r>
            <a:r>
              <a:rPr lang="zh-CN" altLang="en-US" sz="1500" b="1"/>
              <a:t>石油和天然气</a:t>
            </a:r>
            <a:r>
              <a:rPr lang="zh-CN" altLang="en-US" sz="1500"/>
              <a:t>，来自 </a:t>
            </a:r>
            <a:r>
              <a:rPr lang="en" altLang="zh-CN" sz="1500"/>
              <a:t>PRIO-Oildata </a:t>
            </a:r>
            <a:r>
              <a:rPr lang="zh-CN" altLang="en-US" sz="1500"/>
              <a:t>数据库。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500" b="1"/>
              <a:t> 中密集度（</a:t>
            </a:r>
            <a:r>
              <a:rPr lang="en" altLang="zh-CN" sz="1500" b="1"/>
              <a:t>Medium</a:t>
            </a:r>
            <a:r>
              <a:rPr lang="zh-CN" altLang="en" sz="1500" b="1"/>
              <a:t>）</a:t>
            </a:r>
            <a:r>
              <a:rPr lang="zh-CN" altLang="en" sz="1500"/>
              <a:t>：</a:t>
            </a:r>
            <a:r>
              <a:rPr lang="zh-CN" altLang="en-US" sz="1500" b="1"/>
              <a:t>矿产资源</a:t>
            </a:r>
            <a:r>
              <a:rPr lang="zh-CN" altLang="en-US" sz="1500"/>
              <a:t>，来自美国地质调查局（</a:t>
            </a:r>
            <a:r>
              <a:rPr lang="en" altLang="zh-CN" sz="1500"/>
              <a:t>USGS</a:t>
            </a:r>
            <a:r>
              <a:rPr lang="zh-CN" altLang="en" sz="1500"/>
              <a:t>）</a:t>
            </a:r>
            <a:r>
              <a:rPr lang="zh-CN" altLang="en-US" sz="1500"/>
              <a:t>的 </a:t>
            </a:r>
            <a:r>
              <a:rPr lang="en-US" altLang="zh-CN" sz="1500"/>
              <a:t>2005 </a:t>
            </a:r>
            <a:r>
              <a:rPr lang="zh-CN" altLang="en-US" sz="1500"/>
              <a:t>年报告。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500" b="1"/>
              <a:t> 低密集度（</a:t>
            </a:r>
            <a:r>
              <a:rPr lang="en" altLang="zh-CN" sz="1500" b="1"/>
              <a:t>Low</a:t>
            </a:r>
            <a:r>
              <a:rPr lang="zh-CN" altLang="en" sz="1500" b="1"/>
              <a:t>）</a:t>
            </a:r>
            <a:r>
              <a:rPr lang="zh-CN" altLang="en" sz="1500"/>
              <a:t>：</a:t>
            </a:r>
            <a:r>
              <a:rPr lang="zh-CN" altLang="en-US" sz="1500" b="1"/>
              <a:t>可耕地、林地或荒地</a:t>
            </a:r>
            <a:r>
              <a:rPr lang="zh-CN" altLang="en-US" sz="1500"/>
              <a:t>，来自</a:t>
            </a:r>
            <a:r>
              <a:rPr lang="en" altLang="zh-CN" sz="1500"/>
              <a:t>SPAM </a:t>
            </a:r>
            <a:r>
              <a:rPr lang="zh-CN" altLang="en-US" sz="1500"/>
              <a:t>模型（农业）和 </a:t>
            </a:r>
            <a:r>
              <a:rPr lang="en" altLang="zh-CN" sz="1500"/>
              <a:t>GlobCover</a:t>
            </a:r>
            <a:r>
              <a:rPr lang="zh-CN" altLang="en" sz="1500"/>
              <a:t>（</a:t>
            </a:r>
            <a:r>
              <a:rPr lang="zh-CN" altLang="en-US" sz="1500"/>
              <a:t>林业）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5E283B5-E785-D611-3419-4B674E633052}"/>
              </a:ext>
            </a:extLst>
          </p:cNvPr>
          <p:cNvSpPr txBox="1"/>
          <p:nvPr/>
        </p:nvSpPr>
        <p:spPr>
          <a:xfrm>
            <a:off x="396841" y="5051041"/>
            <a:ext cx="905195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500"/>
              <a:t>3. </a:t>
            </a:r>
            <a:r>
              <a:rPr lang="zh-CN" altLang="en-US" sz="1500" b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Google Sans"/>
              </a:rPr>
              <a:t>空间滞后项</a:t>
            </a:r>
            <a:endParaRPr lang="zh-CN" altLang="en-US" sz="1500" b="1">
              <a:solidFill>
                <a:schemeClr val="tx2">
                  <a:lumMod val="60000"/>
                  <a:lumOff val="40000"/>
                </a:schemeClr>
              </a:solidFill>
              <a:effectLst/>
              <a:latin typeface="Google Sans Tex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500" b="1">
                <a:effectLst/>
                <a:latin typeface="Google Sans Text"/>
              </a:rPr>
              <a:t>  </a:t>
            </a:r>
            <a:r>
              <a:rPr lang="zh-CN" altLang="en-US" sz="1500" b="1">
                <a:effectLst/>
                <a:latin typeface="Google Sans Text"/>
              </a:rPr>
              <a:t>空间自回归系数</a:t>
            </a:r>
            <a:r>
              <a:rPr lang="zh-CN" altLang="en-US" sz="1500">
                <a:effectLst/>
                <a:latin typeface="Google Sans Text"/>
              </a:rPr>
              <a:t>：衡量邻近网格的主权主张对当前网格受主张概率的影响程度。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500" b="1">
                <a:effectLst/>
                <a:latin typeface="Google Sans Text"/>
              </a:rPr>
              <a:t>     </a:t>
            </a:r>
            <a:r>
              <a:rPr lang="zh-CN" altLang="en-US" sz="1500" b="1">
                <a:effectLst/>
                <a:latin typeface="Google Sans Text"/>
              </a:rPr>
              <a:t>空间权重矩阵</a:t>
            </a:r>
            <a:r>
              <a:rPr lang="zh-CN" altLang="en-US" sz="1500">
                <a:effectLst/>
                <a:latin typeface="Google Sans Text"/>
              </a:rPr>
              <a:t>：采用 </a:t>
            </a:r>
            <a:r>
              <a:rPr lang="en" altLang="zh-CN" sz="1500" b="1">
                <a:effectLst/>
                <a:latin typeface="Google Sans Text"/>
              </a:rPr>
              <a:t>King's contiguity row-standardized matrix</a:t>
            </a:r>
            <a:r>
              <a:rPr lang="zh-CN" altLang="en" sz="1500">
                <a:effectLst/>
                <a:latin typeface="Google Sans Text"/>
              </a:rPr>
              <a:t>（</a:t>
            </a:r>
            <a:r>
              <a:rPr lang="zh-CN" altLang="en-US" sz="1500">
                <a:effectLst/>
                <a:latin typeface="Google Sans Text"/>
              </a:rPr>
              <a:t>国王连续性行标准化矩阵）。 </a:t>
            </a:r>
            <a:r>
              <a:rPr lang="en-US" altLang="zh-CN" sz="1500">
                <a:effectLst/>
                <a:latin typeface="Google Sans Text"/>
              </a:rPr>
              <a:t> </a:t>
            </a:r>
          </a:p>
          <a:p>
            <a:pPr lvl="1"/>
            <a:r>
              <a:rPr lang="en-US" altLang="zh-CN" sz="1500">
                <a:latin typeface="Google Sans Text"/>
              </a:rPr>
              <a:t>            </a:t>
            </a:r>
            <a:r>
              <a:rPr lang="zh-CN" altLang="en-US" sz="1500">
                <a:effectLst/>
                <a:latin typeface="Google Sans Text"/>
              </a:rPr>
              <a:t>它定义了哪些网格是“邻居”（即周围的 </a:t>
            </a:r>
            <a:r>
              <a:rPr lang="en-US" altLang="zh-CN" sz="1500">
                <a:effectLst/>
                <a:latin typeface="Google Sans Text"/>
              </a:rPr>
              <a:t>8 </a:t>
            </a:r>
            <a:r>
              <a:rPr lang="zh-CN" altLang="en-US" sz="1500">
                <a:effectLst/>
                <a:latin typeface="Google Sans Text"/>
              </a:rPr>
              <a:t>个网格）。</a:t>
            </a:r>
          </a:p>
          <a:p>
            <a:endParaRPr kumimoji="1" lang="zh-CN" altLang="en-US" sz="150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425DE02-0DF8-BE6C-0E2B-7B792F6C6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08" y="5328371"/>
            <a:ext cx="177800" cy="2794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0FA0EBDD-F367-5D2C-C6C2-ED8F9028B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464" y="5515538"/>
            <a:ext cx="342900" cy="317500"/>
          </a:xfrm>
          <a:prstGeom prst="rect">
            <a:avLst/>
          </a:prstGeom>
        </p:spPr>
      </p:pic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152439F8-9710-266D-6C78-D4F2B5E271D5}"/>
              </a:ext>
            </a:extLst>
          </p:cNvPr>
          <p:cNvCxnSpPr>
            <a:cxnSpLocks/>
          </p:cNvCxnSpPr>
          <p:nvPr/>
        </p:nvCxnSpPr>
        <p:spPr>
          <a:xfrm>
            <a:off x="988695" y="3281245"/>
            <a:ext cx="0" cy="553090"/>
          </a:xfrm>
          <a:prstGeom prst="straightConnector1">
            <a:avLst/>
          </a:prstGeom>
          <a:ln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EF188FCD-B56D-C8AD-9674-F4D4F0BA6E0C}"/>
              </a:ext>
            </a:extLst>
          </p:cNvPr>
          <p:cNvCxnSpPr>
            <a:cxnSpLocks/>
          </p:cNvCxnSpPr>
          <p:nvPr/>
        </p:nvCxnSpPr>
        <p:spPr>
          <a:xfrm>
            <a:off x="4303816" y="3586422"/>
            <a:ext cx="0" cy="553090"/>
          </a:xfrm>
          <a:prstGeom prst="straightConnector1">
            <a:avLst/>
          </a:prstGeom>
          <a:ln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4F45F59F-D164-4E63-B584-B683E87B5108}"/>
              </a:ext>
            </a:extLst>
          </p:cNvPr>
          <p:cNvCxnSpPr>
            <a:cxnSpLocks/>
          </p:cNvCxnSpPr>
          <p:nvPr/>
        </p:nvCxnSpPr>
        <p:spPr>
          <a:xfrm>
            <a:off x="2837707" y="3333835"/>
            <a:ext cx="0" cy="1994536"/>
          </a:xfrm>
          <a:prstGeom prst="straightConnector1">
            <a:avLst/>
          </a:prstGeom>
          <a:ln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肘形连接符 32">
            <a:extLst>
              <a:ext uri="{FF2B5EF4-FFF2-40B4-BE49-F238E27FC236}">
                <a16:creationId xmlns:a16="http://schemas.microsoft.com/office/drawing/2014/main" id="{10811748-5EF3-703C-5868-240CBF34A721}"/>
              </a:ext>
            </a:extLst>
          </p:cNvPr>
          <p:cNvCxnSpPr>
            <a:cxnSpLocks/>
            <a:endCxn id="18" idx="0"/>
          </p:cNvCxnSpPr>
          <p:nvPr/>
        </p:nvCxnSpPr>
        <p:spPr>
          <a:xfrm flipV="1">
            <a:off x="1896533" y="2786570"/>
            <a:ext cx="5067175" cy="73330"/>
          </a:xfrm>
          <a:prstGeom prst="bentConnector4">
            <a:avLst>
              <a:gd name="adj1" fmla="val 175"/>
              <a:gd name="adj2" fmla="val 411741"/>
            </a:avLst>
          </a:prstGeom>
          <a:ln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肘形连接符 38">
            <a:extLst>
              <a:ext uri="{FF2B5EF4-FFF2-40B4-BE49-F238E27FC236}">
                <a16:creationId xmlns:a16="http://schemas.microsoft.com/office/drawing/2014/main" id="{081797C9-B8E6-6E5D-D511-25F4CB721FB1}"/>
              </a:ext>
            </a:extLst>
          </p:cNvPr>
          <p:cNvCxnSpPr>
            <a:cxnSpLocks/>
            <a:stCxn id="17" idx="2"/>
            <a:endCxn id="19" idx="1"/>
          </p:cNvCxnSpPr>
          <p:nvPr/>
        </p:nvCxnSpPr>
        <p:spPr>
          <a:xfrm rot="16200000" flipH="1">
            <a:off x="5826710" y="2817290"/>
            <a:ext cx="109702" cy="1048133"/>
          </a:xfrm>
          <a:prstGeom prst="bentConnector2">
            <a:avLst/>
          </a:prstGeom>
          <a:ln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265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C3E151F-0BCC-FB72-3976-C59827D6E52B}"/>
              </a:ext>
            </a:extLst>
          </p:cNvPr>
          <p:cNvSpPr txBox="1"/>
          <p:nvPr/>
        </p:nvSpPr>
        <p:spPr>
          <a:xfrm>
            <a:off x="248355" y="767644"/>
            <a:ext cx="271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为什么是</a:t>
            </a:r>
            <a:r>
              <a:rPr kumimoji="1"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SLM</a:t>
            </a:r>
            <a:r>
              <a: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不是</a:t>
            </a:r>
            <a:r>
              <a:rPr kumimoji="1"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OLS</a:t>
            </a:r>
            <a:r>
              <a:rPr kumimoji="1" lang="zh-CN" altLang="en-US"/>
              <a:t>？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5580FBC-9ACF-B5E1-282A-B4D0A397E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397" y="1052915"/>
            <a:ext cx="6972300" cy="7239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0053A32-8CCC-DB9D-9256-E745FA1CFB9C}"/>
              </a:ext>
            </a:extLst>
          </p:cNvPr>
          <p:cNvSpPr txBox="1"/>
          <p:nvPr/>
        </p:nvSpPr>
        <p:spPr>
          <a:xfrm>
            <a:off x="341941" y="1951672"/>
            <a:ext cx="72532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>
                <a:effectLst/>
                <a:latin typeface="Google Sans Text"/>
              </a:rPr>
              <a:t>含义</a:t>
            </a:r>
            <a:r>
              <a:rPr lang="zh-CN" altLang="en-US" sz="1500">
                <a:effectLst/>
                <a:latin typeface="Google Sans Text"/>
              </a:rPr>
              <a:t>：它假设每一</a:t>
            </a:r>
            <a:r>
              <a:rPr lang="zh-CN" altLang="en-US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个网格单元  </a:t>
            </a:r>
            <a:r>
              <a:rPr lang="en" altLang="zh-CN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是否产生领土主张，</a:t>
            </a:r>
            <a:r>
              <a:rPr lang="zh-CN" altLang="en-US" sz="15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仅仅</a:t>
            </a:r>
            <a:r>
              <a:rPr lang="zh-CN" altLang="en-US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取决于该网格自身的资源状况（</a:t>
            </a:r>
            <a:r>
              <a:rPr lang="en" altLang="zh-CN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RESOURCE</a:t>
            </a:r>
            <a:r>
              <a:rPr lang="zh-CN" altLang="en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和控制变量（</a:t>
            </a:r>
            <a:r>
              <a:rPr lang="en" altLang="zh-CN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zh-CN" altLang="en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" sz="1500">
                <a:effectLst/>
                <a:latin typeface="Google Sans Text"/>
              </a:rPr>
              <a:t>。</a:t>
            </a:r>
          </a:p>
          <a:p>
            <a:r>
              <a:rPr lang="zh-CN" altLang="en-US" sz="15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缺陷</a:t>
            </a:r>
            <a:r>
              <a:rPr lang="zh-CN" altLang="en-US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：忽略了“邻里效应”</a:t>
            </a:r>
            <a:r>
              <a:rPr lang="zh-CN" altLang="en-US" sz="15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→</a:t>
            </a:r>
            <a:r>
              <a:rPr lang="en-US" altLang="zh-CN" sz="15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在现实中，主权</a:t>
            </a:r>
            <a:r>
              <a:rPr lang="zh-CN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主张</a:t>
            </a:r>
            <a:r>
              <a:rPr lang="zh-CN" altLang="en-US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往往是按“块”提出的。如果 </a:t>
            </a:r>
            <a:r>
              <a:rPr lang="en" altLang="zh-CN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OLS </a:t>
            </a:r>
            <a:r>
              <a:rPr lang="zh-CN" altLang="en-US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忽略了空间依赖性，那么误差项 </a:t>
            </a:r>
            <a:r>
              <a:rPr lang="zh-CN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就会存在空间自相关，导致估算的系数 </a:t>
            </a:r>
            <a:r>
              <a:rPr lang="zh-CN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虽然看上去显著，但实际上可能夸大或缩小了真实效应</a:t>
            </a:r>
          </a:p>
          <a:p>
            <a:endParaRPr kumimoji="1" lang="zh-CN" altLang="en-US" sz="15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AFC6AB-1F3F-159E-65E4-FE578479D98A}"/>
              </a:ext>
            </a:extLst>
          </p:cNvPr>
          <p:cNvSpPr txBox="1"/>
          <p:nvPr/>
        </p:nvSpPr>
        <p:spPr>
          <a:xfrm>
            <a:off x="293880" y="1230199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OLS</a:t>
            </a:r>
            <a:r>
              <a: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模型：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4B44015-D0CB-68B4-0575-63B27E9B1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0609" y="2690336"/>
            <a:ext cx="304800" cy="2286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896E4EF-A165-36AC-1343-3258A5EF30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9827" y="2696090"/>
            <a:ext cx="203200" cy="2921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AE34C60-7DDB-BA9F-30C0-7AC635AD8418}"/>
              </a:ext>
            </a:extLst>
          </p:cNvPr>
          <p:cNvSpPr txBox="1"/>
          <p:nvPr/>
        </p:nvSpPr>
        <p:spPr>
          <a:xfrm>
            <a:off x="248355" y="4835604"/>
            <a:ext cx="8604460" cy="178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进一步解释“邻里效应”：领土主张具有典型的“传染性”。如果 </a:t>
            </a:r>
            <a:r>
              <a:rPr lang="en" altLang="zh-CN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网格被主张了，政府为了领土完整性或战略</a:t>
            </a:r>
            <a:r>
              <a:rPr lang="en-US" altLang="zh-CN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安全的缓冲，通常会顺便把旁边的 </a:t>
            </a:r>
            <a:r>
              <a:rPr lang="en" altLang="zh-CN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网格也主张了。</a:t>
            </a:r>
          </a:p>
          <a:p>
            <a:pPr>
              <a:lnSpc>
                <a:spcPct val="150000"/>
              </a:lnSpc>
            </a:pPr>
            <a:r>
              <a:rPr lang="en" altLang="zh-CN" sz="15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OLS </a:t>
            </a:r>
            <a:r>
              <a:rPr lang="zh-CN" altLang="en-US" sz="15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的错误归因</a:t>
            </a:r>
            <a:r>
              <a:rPr lang="zh-CN" altLang="en-US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：如果 </a:t>
            </a:r>
            <a:r>
              <a:rPr lang="en" altLang="zh-CN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网格恰好没资源，</a:t>
            </a:r>
            <a:r>
              <a:rPr lang="en" altLang="zh-CN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OLS </a:t>
            </a:r>
            <a:r>
              <a:rPr lang="zh-CN" altLang="en-US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可能会认为“没资源导致了主张”。</a:t>
            </a:r>
          </a:p>
          <a:p>
            <a:pPr>
              <a:lnSpc>
                <a:spcPct val="150000"/>
              </a:lnSpc>
            </a:pPr>
            <a:r>
              <a:rPr lang="en" altLang="zh-CN" sz="15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SLM </a:t>
            </a:r>
            <a:r>
              <a:rPr lang="zh-CN" altLang="en-US" sz="15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的剥离效应</a:t>
            </a:r>
            <a:r>
              <a:rPr lang="zh-CN" altLang="en-US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" altLang="zh-CN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SLM </a:t>
            </a:r>
            <a:r>
              <a:rPr lang="zh-CN" altLang="en-US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通过引入                        </a:t>
            </a:r>
            <a:r>
              <a:rPr lang="zh-CN" altLang="en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先算出了“因为邻居被主张而导致我也被主张”的那部分概率。剔除这部分概率后，剩下的系数        才是</a:t>
            </a:r>
            <a:r>
              <a:rPr lang="zh-CN" altLang="en-US" sz="15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纯粹由资源密集度驱动的主张意愿</a:t>
            </a:r>
            <a:r>
              <a:rPr lang="zh-CN" altLang="en-US" sz="15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CABE72-F9C8-DD90-F5E7-0CD0757AA68A}"/>
              </a:ext>
            </a:extLst>
          </p:cNvPr>
          <p:cNvSpPr/>
          <p:nvPr/>
        </p:nvSpPr>
        <p:spPr>
          <a:xfrm>
            <a:off x="3474378" y="1221024"/>
            <a:ext cx="2060980" cy="378507"/>
          </a:xfrm>
          <a:prstGeom prst="rect">
            <a:avLst/>
          </a:prstGeom>
          <a:noFill/>
          <a:ln w="25400">
            <a:solidFill>
              <a:schemeClr val="tx2">
                <a:lumMod val="75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DFC6FD-10FF-6440-E7BC-732AC95D87C9}"/>
              </a:ext>
            </a:extLst>
          </p:cNvPr>
          <p:cNvSpPr/>
          <p:nvPr/>
        </p:nvSpPr>
        <p:spPr>
          <a:xfrm>
            <a:off x="5669623" y="1194281"/>
            <a:ext cx="2060980" cy="582534"/>
          </a:xfrm>
          <a:prstGeom prst="rect">
            <a:avLst/>
          </a:prstGeom>
          <a:noFill/>
          <a:ln w="25400">
            <a:solidFill>
              <a:schemeClr val="tx2">
                <a:lumMod val="75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149FC42-CFB0-4E35-73F7-638BA8645E09}"/>
              </a:ext>
            </a:extLst>
          </p:cNvPr>
          <p:cNvSpPr/>
          <p:nvPr/>
        </p:nvSpPr>
        <p:spPr>
          <a:xfrm>
            <a:off x="1633160" y="1205552"/>
            <a:ext cx="1212639" cy="441167"/>
          </a:xfrm>
          <a:prstGeom prst="rect">
            <a:avLst/>
          </a:prstGeom>
          <a:noFill/>
          <a:ln w="25400">
            <a:solidFill>
              <a:schemeClr val="tx2">
                <a:lumMod val="75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下箭头 13">
            <a:extLst>
              <a:ext uri="{FF2B5EF4-FFF2-40B4-BE49-F238E27FC236}">
                <a16:creationId xmlns:a16="http://schemas.microsoft.com/office/drawing/2014/main" id="{EDF3C9AD-8C50-C59D-66BA-E0CB728DEB6D}"/>
              </a:ext>
            </a:extLst>
          </p:cNvPr>
          <p:cNvSpPr/>
          <p:nvPr/>
        </p:nvSpPr>
        <p:spPr>
          <a:xfrm>
            <a:off x="1304580" y="3330054"/>
            <a:ext cx="328580" cy="1347013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A62AB9A-7839-1E3D-BF0C-EC848CFF8B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3577" y="5928304"/>
            <a:ext cx="1094539" cy="30846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B01CA8B-B2C2-3E61-EB96-7C35A8DCDF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3816" y="6314882"/>
            <a:ext cx="2286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698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8B09D-C049-12E7-84CE-594C626C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8B352DD-546B-DFBC-8528-92F17F027C59}"/>
              </a:ext>
            </a:extLst>
          </p:cNvPr>
          <p:cNvSpPr txBox="1">
            <a:spLocks/>
          </p:cNvSpPr>
          <p:nvPr/>
        </p:nvSpPr>
        <p:spPr>
          <a:xfrm>
            <a:off x="144379" y="537244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基础构造数据</a:t>
            </a:r>
            <a:br>
              <a:rPr lang="en-US" altLang="zh-CN" sz="3600" dirty="0"/>
            </a:br>
            <a:r>
              <a:rPr lang="zh-CN" altLang="en-US" sz="2400" dirty="0"/>
              <a:t>主回归数据的生成逻辑</a:t>
            </a:r>
            <a:br>
              <a:rPr lang="en-US" altLang="zh-CN" sz="3600" dirty="0"/>
            </a:br>
            <a:endParaRPr lang="zh-CN" altLang="zh-CN" sz="3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CC607B9-3779-0833-3FA4-50EF90AF7462}"/>
              </a:ext>
            </a:extLst>
          </p:cNvPr>
          <p:cNvSpPr txBox="1"/>
          <p:nvPr/>
        </p:nvSpPr>
        <p:spPr>
          <a:xfrm>
            <a:off x="288759" y="1496043"/>
            <a:ext cx="459606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原始数据</a:t>
            </a:r>
          </a:p>
          <a:p>
            <a:r>
              <a:rPr lang="zh-CN" altLang="en-US" dirty="0"/>
              <a:t>  ↓</a:t>
            </a:r>
          </a:p>
          <a:p>
            <a:r>
              <a:rPr lang="zh-CN" altLang="en-US" dirty="0"/>
              <a:t>地理网格化（grid）</a:t>
            </a:r>
          </a:p>
          <a:p>
            <a:r>
              <a:rPr lang="zh-CN" altLang="en-US" dirty="0"/>
              <a:t>  ↓</a:t>
            </a:r>
          </a:p>
          <a:p>
            <a:r>
              <a:rPr lang="zh-CN" altLang="en-US" dirty="0"/>
              <a:t>合并资源数据（mineral/oil/agriculture）</a:t>
            </a:r>
          </a:p>
          <a:p>
            <a:r>
              <a:rPr lang="zh-CN" altLang="en-US" dirty="0"/>
              <a:t>  ↓</a:t>
            </a:r>
          </a:p>
          <a:p>
            <a:r>
              <a:rPr lang="zh-CN" altLang="en-US" dirty="0"/>
              <a:t>生成变量：</a:t>
            </a:r>
          </a:p>
          <a:p>
            <a:r>
              <a:rPr lang="zh-CN" altLang="en-US" dirty="0"/>
              <a:t>  - disputed（结果变量）</a:t>
            </a:r>
          </a:p>
          <a:p>
            <a:r>
              <a:rPr lang="zh-CN" altLang="en-US" dirty="0"/>
              <a:t>  - capord（核心解释变量）</a:t>
            </a:r>
          </a:p>
          <a:p>
            <a:r>
              <a:rPr lang="zh-CN" altLang="en-US" dirty="0"/>
              <a:t>  - overlap / nocol / borderdist（控制变量）</a:t>
            </a:r>
          </a:p>
          <a:p>
            <a:r>
              <a:rPr lang="zh-CN" altLang="en-US" dirty="0"/>
              <a:t>  ↓</a:t>
            </a:r>
          </a:p>
          <a:p>
            <a:r>
              <a:rPr lang="zh-CN" altLang="en-US" dirty="0"/>
              <a:t>形成：</a:t>
            </a:r>
          </a:p>
          <a:p>
            <a:r>
              <a:rPr lang="zh-CN" altLang="en-US" dirty="0"/>
              <a:t>  base_exp</a:t>
            </a:r>
          </a:p>
          <a:p>
            <a:r>
              <a:rPr lang="zh-CN" altLang="en-US" dirty="0"/>
              <a:t>  ↓</a:t>
            </a:r>
          </a:p>
          <a:p>
            <a:r>
              <a:rPr lang="zh-CN" altLang="en-US" dirty="0"/>
              <a:t>筛选：</a:t>
            </a:r>
          </a:p>
          <a:p>
            <a:r>
              <a:rPr lang="zh-CN" altLang="en-US" dirty="0"/>
              <a:t>  pbase（所有网格）</a:t>
            </a:r>
          </a:p>
          <a:p>
            <a:r>
              <a:rPr lang="zh-CN" altLang="en-US" dirty="0"/>
              <a:t>  puoab（高风险网格）</a:t>
            </a:r>
          </a:p>
          <a:p>
            <a:r>
              <a:rPr lang="zh-CN" altLang="en-US" dirty="0"/>
              <a:t>  ↓</a:t>
            </a:r>
          </a:p>
          <a:p>
            <a:r>
              <a:rPr lang="zh-CN" altLang="en-US" dirty="0"/>
              <a:t>进入主回归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47F5A789-DC69-A345-3295-42131B1BC23D}"/>
              </a:ext>
            </a:extLst>
          </p:cNvPr>
          <p:cNvGraphicFramePr>
            <a:graphicFrameLocks noGrp="1"/>
          </p:cNvGraphicFramePr>
          <p:nvPr/>
        </p:nvGraphicFramePr>
        <p:xfrm>
          <a:off x="4471626" y="1680244"/>
          <a:ext cx="4527995" cy="1463040"/>
        </p:xfrm>
        <a:graphic>
          <a:graphicData uri="http://schemas.openxmlformats.org/drawingml/2006/table">
            <a:tbl>
              <a:tblPr/>
              <a:tblGrid>
                <a:gridCol w="1103896">
                  <a:extLst>
                    <a:ext uri="{9D8B030D-6E8A-4147-A177-3AD203B41FA5}">
                      <a16:colId xmlns:a16="http://schemas.microsoft.com/office/drawing/2014/main" val="11792788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141423333"/>
                    </a:ext>
                  </a:extLst>
                </a:gridCol>
                <a:gridCol w="1595299">
                  <a:extLst>
                    <a:ext uri="{9D8B030D-6E8A-4147-A177-3AD203B41FA5}">
                      <a16:colId xmlns:a16="http://schemas.microsoft.com/office/drawing/2014/main" val="41848268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数据集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含义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用途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49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base_exp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完整扩展面板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变量构建基础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660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所有网格样本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Model 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608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puoab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高风险网格样本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Model 2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605182"/>
                  </a:ext>
                </a:extLst>
              </a:tr>
            </a:tbl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592CC82B-CF9B-0038-26C3-207CAF7D6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626" y="4714644"/>
            <a:ext cx="3380071" cy="169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277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C4DD9-69AA-8873-309F-4E2AB0D08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5F44C-8C30-2A51-C549-4BDEFD2097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4379" y="537244"/>
            <a:ext cx="82296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3600" dirty="0"/>
              <a:t>基础构造数据</a:t>
            </a:r>
            <a:br>
              <a:rPr lang="en-US" altLang="zh-CN" sz="3600" dirty="0"/>
            </a:b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资源收益集中程度的处理</a:t>
            </a:r>
            <a:br>
              <a:rPr lang="en-US" altLang="zh-CN" sz="3600" dirty="0"/>
            </a:br>
            <a:endParaRPr lang="zh-CN" altLang="zh-CN" sz="3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A33807D-CB3F-2801-9564-699FA750B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98" y="4640847"/>
            <a:ext cx="8665204" cy="221715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D01F84D-A3AB-B0C9-504C-537DD2E7D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398" y="2217626"/>
            <a:ext cx="8999622" cy="120890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B4EA57E-B4C5-FBA0-9BD5-884E7BAA58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7975" y="639596"/>
            <a:ext cx="3241646" cy="1698610"/>
          </a:xfrm>
          <a:prstGeom prst="rect">
            <a:avLst/>
          </a:prstGeom>
        </p:spPr>
      </p:pic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D0AA9362-8A3D-9795-BAD8-2752E11DFE78}"/>
              </a:ext>
            </a:extLst>
          </p:cNvPr>
          <p:cNvCxnSpPr>
            <a:cxnSpLocks/>
            <a:stCxn id="10" idx="0"/>
            <a:endCxn id="14" idx="1"/>
          </p:cNvCxnSpPr>
          <p:nvPr/>
        </p:nvCxnSpPr>
        <p:spPr>
          <a:xfrm rot="5400000" flipH="1" flipV="1">
            <a:off x="4884230" y="1343881"/>
            <a:ext cx="728725" cy="101876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BA01F34-DB17-CF01-F9DC-A3641B374FA7}"/>
              </a:ext>
            </a:extLst>
          </p:cNvPr>
          <p:cNvSpPr/>
          <p:nvPr/>
        </p:nvSpPr>
        <p:spPr>
          <a:xfrm>
            <a:off x="2383367" y="2260842"/>
            <a:ext cx="3233329" cy="24288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DB97739-321D-BDF6-B571-CF8F988DD3BF}"/>
              </a:ext>
            </a:extLst>
          </p:cNvPr>
          <p:cNvSpPr/>
          <p:nvPr/>
        </p:nvSpPr>
        <p:spPr>
          <a:xfrm>
            <a:off x="2138725" y="2519272"/>
            <a:ext cx="7005275" cy="364084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037BE5E-D477-2808-96B6-C63C055824CB}"/>
              </a:ext>
            </a:extLst>
          </p:cNvPr>
          <p:cNvSpPr/>
          <p:nvPr/>
        </p:nvSpPr>
        <p:spPr>
          <a:xfrm>
            <a:off x="2114058" y="2929098"/>
            <a:ext cx="5731367" cy="181051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5DD28ED3-549F-6E94-49A3-B24595C427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398" y="3518952"/>
            <a:ext cx="6029325" cy="12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741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3EE34-099B-138A-71A7-5503AFF3B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739D-86A0-831E-50E1-09454FBD618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5202" y="466674"/>
            <a:ext cx="82296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altLang="zh-CN" sz="3600" dirty="0"/>
              <a:t>Table 3</a:t>
            </a:r>
            <a:r>
              <a:rPr lang="zh-CN" altLang="en-US" sz="3600" dirty="0"/>
              <a:t>：主回归</a:t>
            </a:r>
            <a:endParaRPr lang="zh-CN" altLang="zh-CN" sz="3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59DA474-5F3B-8B0C-889D-4B2874D0E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05" y="1862805"/>
            <a:ext cx="8820390" cy="3669551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23C6B795-2873-1361-2768-5F8F20A3FC45}"/>
              </a:ext>
            </a:extLst>
          </p:cNvPr>
          <p:cNvSpPr/>
          <p:nvPr/>
        </p:nvSpPr>
        <p:spPr>
          <a:xfrm>
            <a:off x="161805" y="1862805"/>
            <a:ext cx="3321291" cy="391784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F4D14630-ED82-5214-1B1B-3425CCC8A6A2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457200" y="1325644"/>
            <a:ext cx="694525" cy="434893"/>
          </a:xfrm>
          <a:prstGeom prst="bentConnector3">
            <a:avLst>
              <a:gd name="adj1" fmla="val 123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42695F7-3099-7605-1BA5-DCA3FD88902F}"/>
              </a:ext>
            </a:extLst>
          </p:cNvPr>
          <p:cNvSpPr/>
          <p:nvPr/>
        </p:nvSpPr>
        <p:spPr>
          <a:xfrm>
            <a:off x="1201848" y="1171755"/>
            <a:ext cx="7565224" cy="291682"/>
          </a:xfrm>
          <a:prstGeom prst="roundRect">
            <a:avLst/>
          </a:prstGeom>
          <a:solidFill>
            <a:srgbClr val="FDEADA">
              <a:alpha val="19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4A171E3-BD0D-BACB-A0B5-2DF4C46377D7}"/>
              </a:ext>
            </a:extLst>
          </p:cNvPr>
          <p:cNvSpPr txBox="1"/>
          <p:nvPr/>
        </p:nvSpPr>
        <p:spPr>
          <a:xfrm>
            <a:off x="1151725" y="1171755"/>
            <a:ext cx="7922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spml</a:t>
            </a:r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()</a:t>
            </a:r>
            <a:r>
              <a:rPr lang="zh-CN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空间面板模型会默认数据顺序为同一网格的年份连续摆在一起，因此必须先调成正确顺序</a:t>
            </a:r>
            <a:endPara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AC4BF48-D560-5DDB-2226-AD014822D6D2}"/>
              </a:ext>
            </a:extLst>
          </p:cNvPr>
          <p:cNvSpPr/>
          <p:nvPr/>
        </p:nvSpPr>
        <p:spPr>
          <a:xfrm>
            <a:off x="3862319" y="1651256"/>
            <a:ext cx="2228849" cy="506249"/>
          </a:xfrm>
          <a:prstGeom prst="roundRect">
            <a:avLst/>
          </a:prstGeom>
          <a:solidFill>
            <a:srgbClr val="FDEADA">
              <a:alpha val="19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C4B218-E4B1-51CD-DD21-489CB2E56D0E}"/>
              </a:ext>
            </a:extLst>
          </p:cNvPr>
          <p:cNvSpPr txBox="1"/>
          <p:nvPr/>
        </p:nvSpPr>
        <p:spPr>
          <a:xfrm>
            <a:off x="3928534" y="1639318"/>
            <a:ext cx="2162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对高风险网格子样本处理</a:t>
            </a:r>
            <a:endParaRPr lang="en-US" altLang="zh-CN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邻居矩阵包括权重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921D7DC-81BC-7970-27C8-1FF852152791}"/>
              </a:ext>
            </a:extLst>
          </p:cNvPr>
          <p:cNvSpPr/>
          <p:nvPr/>
        </p:nvSpPr>
        <p:spPr>
          <a:xfrm>
            <a:off x="161805" y="2453113"/>
            <a:ext cx="8457262" cy="97588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E31F812-5EAE-F17C-CC5C-3D23878DB7D4}"/>
              </a:ext>
            </a:extLst>
          </p:cNvPr>
          <p:cNvSpPr/>
          <p:nvPr/>
        </p:nvSpPr>
        <p:spPr>
          <a:xfrm>
            <a:off x="161804" y="3627524"/>
            <a:ext cx="8820389" cy="1071476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7CEF69F-0762-E148-2283-4D478C75E3D0}"/>
              </a:ext>
            </a:extLst>
          </p:cNvPr>
          <p:cNvSpPr/>
          <p:nvPr/>
        </p:nvSpPr>
        <p:spPr>
          <a:xfrm>
            <a:off x="161805" y="5082273"/>
            <a:ext cx="3321291" cy="391784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43A6475E-A2B3-1197-8668-1EBEDFEA7870}"/>
              </a:ext>
            </a:extLst>
          </p:cNvPr>
          <p:cNvCxnSpPr>
            <a:cxnSpLocks/>
            <a:endCxn id="19" idx="1"/>
          </p:cNvCxnSpPr>
          <p:nvPr/>
        </p:nvCxnSpPr>
        <p:spPr>
          <a:xfrm rot="5400000" flipH="1" flipV="1">
            <a:off x="3468155" y="2027351"/>
            <a:ext cx="517134" cy="2711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C1AA22D5-6A9A-5596-F88B-566CFC0C5ED5}"/>
              </a:ext>
            </a:extLst>
          </p:cNvPr>
          <p:cNvSpPr/>
          <p:nvPr/>
        </p:nvSpPr>
        <p:spPr>
          <a:xfrm>
            <a:off x="6413491" y="1667973"/>
            <a:ext cx="1729177" cy="523220"/>
          </a:xfrm>
          <a:prstGeom prst="roundRect">
            <a:avLst/>
          </a:prstGeom>
          <a:solidFill>
            <a:srgbClr val="FDEADA">
              <a:alpha val="19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EE03468-EACE-3CEF-CF4A-8A0D2024DFAA}"/>
              </a:ext>
            </a:extLst>
          </p:cNvPr>
          <p:cNvSpPr txBox="1"/>
          <p:nvPr/>
        </p:nvSpPr>
        <p:spPr>
          <a:xfrm>
            <a:off x="6390649" y="1643672"/>
            <a:ext cx="1792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对所有网格样本处理</a:t>
            </a:r>
            <a:endParaRPr lang="en-US" altLang="zh-CN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邻接矩阵换成全样本</a:t>
            </a:r>
          </a:p>
        </p:txBody>
      </p: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5C9ACA7D-D71F-7BAC-B03C-7CD533832778}"/>
              </a:ext>
            </a:extLst>
          </p:cNvPr>
          <p:cNvCxnSpPr>
            <a:cxnSpLocks/>
            <a:stCxn id="7" idx="3"/>
            <a:endCxn id="33" idx="3"/>
          </p:cNvCxnSpPr>
          <p:nvPr/>
        </p:nvCxnSpPr>
        <p:spPr>
          <a:xfrm flipH="1" flipV="1">
            <a:off x="8183535" y="1905282"/>
            <a:ext cx="798660" cy="1792299"/>
          </a:xfrm>
          <a:prstGeom prst="bentConnector3">
            <a:avLst>
              <a:gd name="adj1" fmla="val -198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5066E7A2-DD97-49DE-3E7A-B5479BB32C17}"/>
              </a:ext>
            </a:extLst>
          </p:cNvPr>
          <p:cNvSpPr/>
          <p:nvPr/>
        </p:nvSpPr>
        <p:spPr>
          <a:xfrm>
            <a:off x="4730003" y="3674533"/>
            <a:ext cx="2585197" cy="179917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C000"/>
              </a:solidFill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A6CCEC44-78F1-7312-25C4-8AE28283197B}"/>
              </a:ext>
            </a:extLst>
          </p:cNvPr>
          <p:cNvSpPr/>
          <p:nvPr/>
        </p:nvSpPr>
        <p:spPr>
          <a:xfrm>
            <a:off x="6684685" y="4893303"/>
            <a:ext cx="2228849" cy="925273"/>
          </a:xfrm>
          <a:prstGeom prst="roundRect">
            <a:avLst/>
          </a:prstGeom>
          <a:solidFill>
            <a:srgbClr val="FDEADA">
              <a:alpha val="19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8C508E0-A1BB-5F45-1319-53B406C3208A}"/>
              </a:ext>
            </a:extLst>
          </p:cNvPr>
          <p:cNvSpPr txBox="1"/>
          <p:nvPr/>
        </p:nvSpPr>
        <p:spPr>
          <a:xfrm>
            <a:off x="6750900" y="4881366"/>
            <a:ext cx="216263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自变量多了</a:t>
            </a:r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个控制：</a:t>
            </a:r>
          </a:p>
          <a:p>
            <a:pPr lvl="0"/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overlap</a:t>
            </a:r>
            <a:r>
              <a:rPr lang="zh-CN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：历史重叠</a:t>
            </a:r>
          </a:p>
          <a:p>
            <a:pPr lvl="0"/>
            <a:r>
              <a:rPr lang="en-US" altLang="zh-CN" sz="14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nocol</a:t>
            </a:r>
            <a:r>
              <a:rPr lang="zh-CN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：非</a:t>
            </a:r>
            <a:r>
              <a:rPr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管辖</a:t>
            </a:r>
            <a:endParaRPr lang="zh-CN" altLang="zh-CN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0"/>
            <a:r>
              <a:rPr lang="en-US" altLang="zh-CN" sz="14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borderdist</a:t>
            </a:r>
            <a:r>
              <a:rPr lang="zh-CN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：距边界多远</a:t>
            </a:r>
          </a:p>
          <a:p>
            <a:endPara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EAD66A71-6D47-A17C-B8FC-7D80494F7D53}"/>
              </a:ext>
            </a:extLst>
          </p:cNvPr>
          <p:cNvCxnSpPr>
            <a:cxnSpLocks/>
            <a:stCxn id="57" idx="2"/>
            <a:endCxn id="59" idx="1"/>
          </p:cNvCxnSpPr>
          <p:nvPr/>
        </p:nvCxnSpPr>
        <p:spPr>
          <a:xfrm rot="16200000" flipH="1">
            <a:off x="5602898" y="4274153"/>
            <a:ext cx="1501490" cy="66208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58A1989D-C8C1-28A8-50CF-BDD72E36C349}"/>
              </a:ext>
            </a:extLst>
          </p:cNvPr>
          <p:cNvSpPr/>
          <p:nvPr/>
        </p:nvSpPr>
        <p:spPr>
          <a:xfrm>
            <a:off x="2095425" y="5725591"/>
            <a:ext cx="4159325" cy="960828"/>
          </a:xfrm>
          <a:prstGeom prst="roundRect">
            <a:avLst/>
          </a:prstGeom>
          <a:solidFill>
            <a:srgbClr val="FDEADA">
              <a:alpha val="19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E7A145F6-795F-E374-B051-B904B200DB80}"/>
              </a:ext>
            </a:extLst>
          </p:cNvPr>
          <p:cNvSpPr txBox="1"/>
          <p:nvPr/>
        </p:nvSpPr>
        <p:spPr>
          <a:xfrm>
            <a:off x="2088223" y="5696757"/>
            <a:ext cx="42173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Summary</a:t>
            </a:r>
            <a:r>
              <a:rPr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中通常包含：</a:t>
            </a:r>
            <a:endParaRPr lang="en-US" altLang="zh-CN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14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capordMed</a:t>
            </a:r>
            <a:r>
              <a:rPr lang="zh-CN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14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capordHigh</a:t>
            </a:r>
            <a:r>
              <a:rPr lang="zh-CN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的系数</a:t>
            </a:r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β</a:t>
            </a:r>
            <a:r>
              <a:rPr lang="zh-CN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（相对于</a:t>
            </a:r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Low</a:t>
            </a:r>
            <a:r>
              <a:rPr lang="zh-CN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基准）</a:t>
            </a:r>
          </a:p>
          <a:p>
            <a:r>
              <a:rPr lang="zh-CN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以及控制变量的</a:t>
            </a:r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β</a:t>
            </a:r>
            <a:r>
              <a:rPr lang="zh-CN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（只在</a:t>
            </a:r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all-grids</a:t>
            </a:r>
            <a:r>
              <a:rPr lang="zh-CN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模型里）</a:t>
            </a:r>
          </a:p>
          <a:p>
            <a:r>
              <a:rPr lang="zh-CN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空间自回归系数</a:t>
            </a:r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rho</a:t>
            </a:r>
            <a:r>
              <a:rPr lang="zh-CN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ρ</a:t>
            </a:r>
            <a:r>
              <a:rPr lang="zh-CN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</a:p>
        </p:txBody>
      </p: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B9D7B628-9E50-C7B0-D5AD-6591A3DE6FD4}"/>
              </a:ext>
            </a:extLst>
          </p:cNvPr>
          <p:cNvCxnSpPr>
            <a:cxnSpLocks/>
            <a:stCxn id="24" idx="2"/>
            <a:endCxn id="67" idx="1"/>
          </p:cNvCxnSpPr>
          <p:nvPr/>
        </p:nvCxnSpPr>
        <p:spPr>
          <a:xfrm rot="16200000" flipH="1">
            <a:off x="1592964" y="5703544"/>
            <a:ext cx="731948" cy="2729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981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89C10-7F3A-95D2-3752-3F2A27399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C4A813F-12AD-A7F4-B197-2B4FAEB7E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806" y="537244"/>
            <a:ext cx="5129816" cy="287315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B1CA848-3664-2278-8796-CCAE0FE00D2B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复现结果：</a:t>
            </a:r>
            <a:br>
              <a:rPr lang="en-US" altLang="zh-CN" sz="3600" dirty="0"/>
            </a:br>
            <a:r>
              <a:rPr lang="zh-CN" altLang="en-US" sz="2400" dirty="0"/>
              <a:t>高风险网格</a:t>
            </a:r>
            <a:endParaRPr lang="zh-CN" altLang="zh-CN" sz="36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266B883-C148-8D51-201D-A284A39C8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327" y="3572890"/>
            <a:ext cx="5292672" cy="3103235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D7DC7C5-0E58-E037-45C7-C3263C20A432}"/>
              </a:ext>
            </a:extLst>
          </p:cNvPr>
          <p:cNvSpPr/>
          <p:nvPr/>
        </p:nvSpPr>
        <p:spPr>
          <a:xfrm>
            <a:off x="7241135" y="4791293"/>
            <a:ext cx="557109" cy="71014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40078CD-F3C3-F727-54A5-64BA9CF071A1}"/>
              </a:ext>
            </a:extLst>
          </p:cNvPr>
          <p:cNvSpPr/>
          <p:nvPr/>
        </p:nvSpPr>
        <p:spPr>
          <a:xfrm>
            <a:off x="4648643" y="2991351"/>
            <a:ext cx="782724" cy="419043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91A20A8-238B-D078-396A-8B98E6AB8D6A}"/>
              </a:ext>
            </a:extLst>
          </p:cNvPr>
          <p:cNvSpPr/>
          <p:nvPr/>
        </p:nvSpPr>
        <p:spPr>
          <a:xfrm>
            <a:off x="5512590" y="2991350"/>
            <a:ext cx="736600" cy="419043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6B919B0-C15E-FF9B-D382-AACDB59D8E70}"/>
              </a:ext>
            </a:extLst>
          </p:cNvPr>
          <p:cNvSpPr/>
          <p:nvPr/>
        </p:nvSpPr>
        <p:spPr>
          <a:xfrm>
            <a:off x="7864206" y="4791293"/>
            <a:ext cx="365394" cy="710147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DCDF7D9-EA28-BDE7-9432-9C596CF70A64}"/>
              </a:ext>
            </a:extLst>
          </p:cNvPr>
          <p:cNvSpPr/>
          <p:nvPr/>
        </p:nvSpPr>
        <p:spPr>
          <a:xfrm>
            <a:off x="4342738" y="2572809"/>
            <a:ext cx="736600" cy="138642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E64367B-7A55-F187-3C29-F3189D8EE700}"/>
              </a:ext>
            </a:extLst>
          </p:cNvPr>
          <p:cNvSpPr/>
          <p:nvPr/>
        </p:nvSpPr>
        <p:spPr>
          <a:xfrm>
            <a:off x="7798244" y="5990272"/>
            <a:ext cx="736600" cy="138642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0F27AA-8C26-92D5-ADD2-0413A43F5D6B}"/>
              </a:ext>
            </a:extLst>
          </p:cNvPr>
          <p:cNvSpPr txBox="1"/>
          <p:nvPr/>
        </p:nvSpPr>
        <p:spPr>
          <a:xfrm>
            <a:off x="231888" y="2301708"/>
            <a:ext cx="3289458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*</a:t>
            </a:r>
            <a:r>
              <a:rPr lang="zh-CN" altLang="en-US" dirty="0"/>
              <a:t>空间之后模型中，</a:t>
            </a:r>
            <a:r>
              <a:rPr lang="en-US" altLang="zh-CN" dirty="0"/>
              <a:t>β</a:t>
            </a:r>
            <a:r>
              <a:rPr lang="zh-CN" altLang="en-US" dirty="0"/>
              <a:t>不能直接当作“实际影响大小”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因为一个格子的变化会通过邻居再反馈回来，所以真实影响要通过空间乘数放大或缩小。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>
                <a:sym typeface="Wingdings" pitchFamily="2" charset="2"/>
              </a:rPr>
              <a:t>impact()</a:t>
            </a:r>
            <a:r>
              <a:rPr lang="zh-CN" altLang="en-US" dirty="0">
                <a:sym typeface="Wingdings" pitchFamily="2" charset="2"/>
              </a:rPr>
              <a:t>函数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CEFAC942-23B4-EC97-1DFD-7921D1DD2DD7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040005" y="3410394"/>
            <a:ext cx="2201130" cy="1557391"/>
          </a:xfrm>
          <a:prstGeom prst="straightConnector1">
            <a:avLst/>
          </a:prstGeom>
          <a:ln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BFBA2827-A723-33FC-EAC3-3AC38FA46D48}"/>
              </a:ext>
            </a:extLst>
          </p:cNvPr>
          <p:cNvCxnSpPr>
            <a:cxnSpLocks/>
          </p:cNvCxnSpPr>
          <p:nvPr/>
        </p:nvCxnSpPr>
        <p:spPr>
          <a:xfrm>
            <a:off x="6028470" y="3429000"/>
            <a:ext cx="1769774" cy="1362293"/>
          </a:xfrm>
          <a:prstGeom prst="straightConnector1">
            <a:avLst/>
          </a:prstGeom>
          <a:ln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矩形: 圆角 14">
            <a:extLst>
              <a:ext uri="{FF2B5EF4-FFF2-40B4-BE49-F238E27FC236}">
                <a16:creationId xmlns:a16="http://schemas.microsoft.com/office/drawing/2014/main" id="{7F886668-7804-24F0-2D56-A6226FBE1D60}"/>
              </a:ext>
            </a:extLst>
          </p:cNvPr>
          <p:cNvSpPr/>
          <p:nvPr/>
        </p:nvSpPr>
        <p:spPr>
          <a:xfrm>
            <a:off x="5880890" y="5990272"/>
            <a:ext cx="736600" cy="138642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9604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782EFD3-F730-CB1D-730C-98B898879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69" y="1055161"/>
            <a:ext cx="8476660" cy="474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996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A4F14-6A0F-5ECB-E6E1-71488B993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0F9A09C0-4761-C01F-37C0-2D9D5DCE2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54" y="2552935"/>
            <a:ext cx="3747827" cy="279431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2D63F29-833E-5A09-4608-EBD61CA43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443" y="2285427"/>
            <a:ext cx="4765800" cy="2794316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35A392E1-B5AE-B915-A97D-5A4F8116127C}"/>
              </a:ext>
            </a:extLst>
          </p:cNvPr>
          <p:cNvSpPr/>
          <p:nvPr/>
        </p:nvSpPr>
        <p:spPr>
          <a:xfrm>
            <a:off x="5405521" y="3314813"/>
            <a:ext cx="419100" cy="101992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D5E1ED2-82F6-823B-86C2-585A65B983E7}"/>
              </a:ext>
            </a:extLst>
          </p:cNvPr>
          <p:cNvSpPr/>
          <p:nvPr/>
        </p:nvSpPr>
        <p:spPr>
          <a:xfrm>
            <a:off x="823053" y="4334740"/>
            <a:ext cx="708967" cy="745003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C2470B-BEEC-8956-00E7-1CDB5FB35603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复现结果：</a:t>
            </a:r>
            <a:endParaRPr lang="en-US" altLang="zh-CN" sz="3600" dirty="0"/>
          </a:p>
          <a:p>
            <a:pPr algn="l"/>
            <a:r>
              <a:rPr lang="zh-CN" altLang="en-US" sz="2400" dirty="0"/>
              <a:t>所有网格</a:t>
            </a:r>
            <a:endParaRPr lang="zh-CN" altLang="zh-CN" sz="36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18BD44A-1E39-B1C1-1A36-4C21D8F0E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5" y="5614758"/>
            <a:ext cx="4357552" cy="705998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DE54DEF-4E9A-7139-A369-B2BA43A9E1D8}"/>
              </a:ext>
            </a:extLst>
          </p:cNvPr>
          <p:cNvSpPr/>
          <p:nvPr/>
        </p:nvSpPr>
        <p:spPr>
          <a:xfrm>
            <a:off x="1582821" y="4333643"/>
            <a:ext cx="736600" cy="846635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1A8DB8D-EFE2-1A03-C92F-19D03437875B}"/>
              </a:ext>
            </a:extLst>
          </p:cNvPr>
          <p:cNvSpPr/>
          <p:nvPr/>
        </p:nvSpPr>
        <p:spPr>
          <a:xfrm>
            <a:off x="5919871" y="3317755"/>
            <a:ext cx="353929" cy="1015887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F98F590-85E9-B276-C882-87B3E19923EE}"/>
              </a:ext>
            </a:extLst>
          </p:cNvPr>
          <p:cNvSpPr/>
          <p:nvPr/>
        </p:nvSpPr>
        <p:spPr>
          <a:xfrm>
            <a:off x="5932571" y="4486030"/>
            <a:ext cx="555501" cy="138642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" name="直线箭头连接符 1">
            <a:extLst>
              <a:ext uri="{FF2B5EF4-FFF2-40B4-BE49-F238E27FC236}">
                <a16:creationId xmlns:a16="http://schemas.microsoft.com/office/drawing/2014/main" id="{894F648B-0A5E-71FF-240B-93E8E36822F3}"/>
              </a:ext>
            </a:extLst>
          </p:cNvPr>
          <p:cNvCxnSpPr>
            <a:cxnSpLocks/>
          </p:cNvCxnSpPr>
          <p:nvPr/>
        </p:nvCxnSpPr>
        <p:spPr>
          <a:xfrm flipV="1">
            <a:off x="2251242" y="4121150"/>
            <a:ext cx="3845593" cy="846635"/>
          </a:xfrm>
          <a:prstGeom prst="straightConnector1">
            <a:avLst/>
          </a:prstGeom>
          <a:ln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B8F0C780-FA0C-E56C-EC16-A7F2ED220AA8}"/>
              </a:ext>
            </a:extLst>
          </p:cNvPr>
          <p:cNvCxnSpPr>
            <a:cxnSpLocks/>
          </p:cNvCxnSpPr>
          <p:nvPr/>
        </p:nvCxnSpPr>
        <p:spPr>
          <a:xfrm flipV="1">
            <a:off x="1324022" y="3982508"/>
            <a:ext cx="4013046" cy="427858"/>
          </a:xfrm>
          <a:prstGeom prst="straightConnector1">
            <a:avLst/>
          </a:prstGeom>
          <a:ln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2469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5C97D-FE7C-1417-FDDF-90850A74E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6064225-0B4A-9EF9-3BFD-C9D5D8F74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91" y="1686868"/>
            <a:ext cx="7743630" cy="4915521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8D421B2B-F208-2B0B-F78C-BE9563F24A43}"/>
              </a:ext>
            </a:extLst>
          </p:cNvPr>
          <p:cNvSpPr/>
          <p:nvPr/>
        </p:nvSpPr>
        <p:spPr>
          <a:xfrm>
            <a:off x="3422281" y="1147911"/>
            <a:ext cx="4563640" cy="709830"/>
          </a:xfrm>
          <a:prstGeom prst="roundRect">
            <a:avLst/>
          </a:prstGeom>
          <a:solidFill>
            <a:srgbClr val="FDEADA">
              <a:alpha val="19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B1E7AF-C4FA-FDCF-EB1E-B17EA8F65C9D}"/>
              </a:ext>
            </a:extLst>
          </p:cNvPr>
          <p:cNvSpPr txBox="1"/>
          <p:nvPr/>
        </p:nvSpPr>
        <p:spPr>
          <a:xfrm>
            <a:off x="3422281" y="1100308"/>
            <a:ext cx="45708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n-ea"/>
              </a:rPr>
              <a:t>基准概率：将主回归数据集中的因变量取平均值并保留三位小数，计算每个</a:t>
            </a:r>
            <a:r>
              <a:rPr lang="en-US" altLang="zh-CN" sz="1400" dirty="0">
                <a:latin typeface="+mn-ea"/>
              </a:rPr>
              <a:t>grid-year</a:t>
            </a:r>
            <a:r>
              <a:rPr lang="zh-CN" altLang="en-US" sz="1400" dirty="0">
                <a:latin typeface="+mn-ea"/>
              </a:rPr>
              <a:t>发生争端的概率。</a:t>
            </a:r>
            <a:endParaRPr lang="en-US" altLang="zh-CN" sz="1400" dirty="0">
              <a:latin typeface="+mn-ea"/>
            </a:endParaRPr>
          </a:p>
          <a:p>
            <a:r>
              <a:rPr lang="zh-CN" altLang="en-US" sz="1400" dirty="0">
                <a:latin typeface="+mn-ea"/>
              </a:rPr>
              <a:t>用</a:t>
            </a:r>
            <a:r>
              <a:rPr lang="en-US" altLang="zh-CN" sz="1400" dirty="0">
                <a:latin typeface="+mn-ea"/>
              </a:rPr>
              <a:t>impacts</a:t>
            </a:r>
            <a:r>
              <a:rPr lang="zh-CN" altLang="en-US" sz="1400" dirty="0">
                <a:latin typeface="+mn-ea"/>
              </a:rPr>
              <a:t>（）将空间模型结果转化为真实的边际效应</a:t>
            </a:r>
            <a:endParaRPr lang="en-US" altLang="zh-CN" sz="1400" dirty="0">
              <a:latin typeface="+mn-ea"/>
            </a:endParaRPr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8DFB2762-7D17-D820-BEEC-AA2ADF44401B}"/>
              </a:ext>
            </a:extLst>
          </p:cNvPr>
          <p:cNvCxnSpPr>
            <a:cxnSpLocks/>
            <a:stCxn id="9" idx="0"/>
            <a:endCxn id="5" idx="1"/>
          </p:cNvCxnSpPr>
          <p:nvPr/>
        </p:nvCxnSpPr>
        <p:spPr>
          <a:xfrm rot="5400000" flipH="1" flipV="1">
            <a:off x="2859283" y="1682282"/>
            <a:ext cx="742453" cy="3835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3ACFED6-BE4E-5600-7470-C178A19889A7}"/>
              </a:ext>
            </a:extLst>
          </p:cNvPr>
          <p:cNvSpPr/>
          <p:nvPr/>
        </p:nvSpPr>
        <p:spPr>
          <a:xfrm>
            <a:off x="164660" y="2245279"/>
            <a:ext cx="5748156" cy="53895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9C4B2FB-E8EB-E5A2-BFB7-E061A7C65752}"/>
              </a:ext>
            </a:extLst>
          </p:cNvPr>
          <p:cNvSpPr/>
          <p:nvPr/>
        </p:nvSpPr>
        <p:spPr>
          <a:xfrm>
            <a:off x="235088" y="2936636"/>
            <a:ext cx="2544673" cy="209083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3DACD71-C482-A034-C7C3-3E8E4B29DF11}"/>
              </a:ext>
            </a:extLst>
          </p:cNvPr>
          <p:cNvSpPr/>
          <p:nvPr/>
        </p:nvSpPr>
        <p:spPr>
          <a:xfrm>
            <a:off x="3236874" y="2864394"/>
            <a:ext cx="3649289" cy="307777"/>
          </a:xfrm>
          <a:prstGeom prst="roundRect">
            <a:avLst/>
          </a:prstGeom>
          <a:solidFill>
            <a:srgbClr val="FDEADA">
              <a:alpha val="19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2096F05-4E13-A70E-D9B1-40AFC0058BED}"/>
              </a:ext>
            </a:extLst>
          </p:cNvPr>
          <p:cNvSpPr txBox="1"/>
          <p:nvPr/>
        </p:nvSpPr>
        <p:spPr>
          <a:xfrm>
            <a:off x="3220891" y="2845625"/>
            <a:ext cx="35788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n-ea"/>
              </a:rPr>
              <a:t>每个解释变量的总体边际效应保留三位小数</a:t>
            </a:r>
            <a:endParaRPr lang="en-US" altLang="zh-CN" sz="1400" dirty="0">
              <a:latin typeface="+mn-ea"/>
            </a:endParaRPr>
          </a:p>
        </p:txBody>
      </p: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4B7A8718-4872-6481-8071-E1D2C76D1482}"/>
              </a:ext>
            </a:extLst>
          </p:cNvPr>
          <p:cNvCxnSpPr>
            <a:cxnSpLocks/>
          </p:cNvCxnSpPr>
          <p:nvPr/>
        </p:nvCxnSpPr>
        <p:spPr>
          <a:xfrm flipV="1">
            <a:off x="2830144" y="3053715"/>
            <a:ext cx="383544" cy="41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itle 1">
            <a:extLst>
              <a:ext uri="{FF2B5EF4-FFF2-40B4-BE49-F238E27FC236}">
                <a16:creationId xmlns:a16="http://schemas.microsoft.com/office/drawing/2014/main" id="{CE5FB133-6CD8-27C4-E1BA-316DF19E2174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边际效应：</a:t>
            </a:r>
            <a:endParaRPr lang="en-US" altLang="zh-CN" sz="2400" dirty="0"/>
          </a:p>
        </p:txBody>
      </p:sp>
      <p:sp>
        <p:nvSpPr>
          <p:cNvPr id="2" name="矩形: 圆角 8">
            <a:extLst>
              <a:ext uri="{FF2B5EF4-FFF2-40B4-BE49-F238E27FC236}">
                <a16:creationId xmlns:a16="http://schemas.microsoft.com/office/drawing/2014/main" id="{8B3E8E90-8CCB-F5F1-34DB-74A362296F9C}"/>
              </a:ext>
            </a:extLst>
          </p:cNvPr>
          <p:cNvSpPr/>
          <p:nvPr/>
        </p:nvSpPr>
        <p:spPr>
          <a:xfrm>
            <a:off x="196988" y="5355173"/>
            <a:ext cx="5848970" cy="491359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连接符: 肘形 6">
            <a:extLst>
              <a:ext uri="{FF2B5EF4-FFF2-40B4-BE49-F238E27FC236}">
                <a16:creationId xmlns:a16="http://schemas.microsoft.com/office/drawing/2014/main" id="{B7C5D124-9960-1737-BED0-A3E3B1AA984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939383" y="3071007"/>
            <a:ext cx="3623228" cy="1319474"/>
          </a:xfrm>
          <a:prstGeom prst="bentConnector3">
            <a:avLst>
              <a:gd name="adj1" fmla="val -9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046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244BD9A-0290-C1C6-0770-6BE698CCE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78" y="1555844"/>
            <a:ext cx="4898590" cy="449693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2E43752-FCC1-0D0A-2B17-FBA46A318B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1312"/>
          <a:stretch/>
        </p:blipFill>
        <p:spPr>
          <a:xfrm>
            <a:off x="4692075" y="779443"/>
            <a:ext cx="4388885" cy="255874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9100A1D-79C4-A59B-35EA-370237BC45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1820" y="3336525"/>
            <a:ext cx="2286047" cy="3182880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99ECE76-02CE-01FA-C622-E33FD5B19F71}"/>
              </a:ext>
            </a:extLst>
          </p:cNvPr>
          <p:cNvSpPr/>
          <p:nvPr/>
        </p:nvSpPr>
        <p:spPr>
          <a:xfrm>
            <a:off x="8046720" y="2153121"/>
            <a:ext cx="952902" cy="1022664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BF3A5AD-3F51-E692-7929-5E824AECDA04}"/>
              </a:ext>
            </a:extLst>
          </p:cNvPr>
          <p:cNvSpPr/>
          <p:nvPr/>
        </p:nvSpPr>
        <p:spPr>
          <a:xfrm>
            <a:off x="6985093" y="4616828"/>
            <a:ext cx="635268" cy="700052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F8D599D0-9297-E8C1-35AC-714DA0306BDA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2497540" y="4966854"/>
            <a:ext cx="4487553" cy="806149"/>
          </a:xfrm>
          <a:prstGeom prst="straightConnector1">
            <a:avLst/>
          </a:prstGeom>
          <a:ln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ED7A54EE-79F1-0C74-F828-157629F4736C}"/>
              </a:ext>
            </a:extLst>
          </p:cNvPr>
          <p:cNvCxnSpPr>
            <a:cxnSpLocks/>
          </p:cNvCxnSpPr>
          <p:nvPr/>
        </p:nvCxnSpPr>
        <p:spPr>
          <a:xfrm flipV="1">
            <a:off x="2593673" y="2920474"/>
            <a:ext cx="5453047" cy="768928"/>
          </a:xfrm>
          <a:prstGeom prst="straightConnector1">
            <a:avLst/>
          </a:prstGeom>
          <a:ln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4CEF3-DBF5-4A0C-CD38-01E2EBD70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0416B0FC-AF53-403E-9DE7-53C460C9D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78" y="1721378"/>
            <a:ext cx="5824812" cy="341524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A5757E0-C245-EBA5-9314-818211EF4E00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回归结果分析</a:t>
            </a:r>
            <a:endParaRPr lang="en-US" altLang="zh-CN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DE96DC5-38AF-9F5B-22A3-1BF65A237D33}"/>
              </a:ext>
            </a:extLst>
          </p:cNvPr>
          <p:cNvSpPr txBox="1"/>
          <p:nvPr/>
        </p:nvSpPr>
        <p:spPr>
          <a:xfrm>
            <a:off x="5969190" y="1674340"/>
            <a:ext cx="299085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所有网格对比</a:t>
            </a:r>
            <a:endParaRPr lang="en-US" altLang="zh-CN" dirty="0"/>
          </a:p>
          <a:p>
            <a:pPr lvl="1"/>
            <a:r>
              <a:rPr lang="zh-CN" altLang="en-US" dirty="0"/>
              <a:t>资本密集度越高→被提出领土主张的概率越低</a:t>
            </a:r>
            <a:endParaRPr lang="en-US" altLang="zh-CN" dirty="0"/>
          </a:p>
          <a:p>
            <a:pPr lvl="1"/>
            <a:r>
              <a:rPr lang="zh-CN" altLang="en-US" dirty="0"/>
              <a:t>控制变量符合预期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高风险网格对比</a:t>
            </a:r>
            <a:endParaRPr lang="en-US" altLang="zh-CN" dirty="0"/>
          </a:p>
          <a:p>
            <a:pPr lvl="1"/>
            <a:r>
              <a:rPr lang="zh-CN" altLang="en-US" dirty="0"/>
              <a:t>资本密集度越高→被提出领土主张的概率越低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所有网格和高风险网格对比</a:t>
            </a:r>
            <a:endParaRPr lang="en-US" altLang="zh-CN" dirty="0"/>
          </a:p>
          <a:p>
            <a:pPr lvl="1"/>
            <a:r>
              <a:rPr lang="zh-CN" altLang="en-US" dirty="0"/>
              <a:t>高风险网格本身就更容易发生争端，因此即便有资本密集度带来的抑制机制，其效果也会被“高风险背景”部分抵消。</a:t>
            </a:r>
          </a:p>
        </p:txBody>
      </p:sp>
    </p:spTree>
    <p:extLst>
      <p:ext uri="{BB962C8B-B14F-4D97-AF65-F5344CB8AC3E}">
        <p14:creationId xmlns:p14="http://schemas.microsoft.com/office/powerpoint/2010/main" val="3787519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434B1-BEC8-021C-DF3D-EDB9646D4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A27B233-42EB-FCA2-C426-E57A3F637982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回归结果补充</a:t>
            </a:r>
            <a:endParaRPr lang="en-US" altLang="zh-CN" sz="3600" dirty="0"/>
          </a:p>
          <a:p>
            <a:pPr algn="l"/>
            <a:r>
              <a:rPr lang="zh-CN" altLang="en-US" sz="2400" dirty="0"/>
              <a:t>常规</a:t>
            </a:r>
            <a:r>
              <a:rPr lang="en-US" altLang="zh-CN" sz="2400" dirty="0"/>
              <a:t>OLS</a:t>
            </a:r>
            <a:r>
              <a:rPr lang="zh-CN" altLang="en-US" sz="2400" dirty="0"/>
              <a:t>模型</a:t>
            </a:r>
            <a:endParaRPr lang="en-US" altLang="zh-CN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A6F0BFE-DB0E-1946-6B85-B899548AC45F}"/>
              </a:ext>
            </a:extLst>
          </p:cNvPr>
          <p:cNvPicPr>
            <a:picLocks/>
          </p:cNvPicPr>
          <p:nvPr/>
        </p:nvPicPr>
        <p:blipFill>
          <a:blip r:embed="rId3"/>
          <a:srcRect t="34098" b="13132"/>
          <a:stretch>
            <a:fillRect/>
          </a:stretch>
        </p:blipFill>
        <p:spPr>
          <a:xfrm>
            <a:off x="743857" y="2024743"/>
            <a:ext cx="7656285" cy="3722914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7D74DF09-780D-3C7B-FFBF-A79C4EABBD15}"/>
              </a:ext>
            </a:extLst>
          </p:cNvPr>
          <p:cNvSpPr/>
          <p:nvPr/>
        </p:nvSpPr>
        <p:spPr>
          <a:xfrm>
            <a:off x="743858" y="2024743"/>
            <a:ext cx="2427513" cy="21045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13A262C-7029-296D-4CDE-50FEC8F5C58C}"/>
              </a:ext>
            </a:extLst>
          </p:cNvPr>
          <p:cNvSpPr/>
          <p:nvPr/>
        </p:nvSpPr>
        <p:spPr>
          <a:xfrm>
            <a:off x="743858" y="2579699"/>
            <a:ext cx="2427513" cy="21045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6141C19-46FF-157C-C579-243EADBCA657}"/>
              </a:ext>
            </a:extLst>
          </p:cNvPr>
          <p:cNvSpPr/>
          <p:nvPr/>
        </p:nvSpPr>
        <p:spPr>
          <a:xfrm>
            <a:off x="743859" y="3141912"/>
            <a:ext cx="2050142" cy="21045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8DD21BA-59B1-6EB9-35D0-482B65F28013}"/>
              </a:ext>
            </a:extLst>
          </p:cNvPr>
          <p:cNvSpPr/>
          <p:nvPr/>
        </p:nvSpPr>
        <p:spPr>
          <a:xfrm>
            <a:off x="743859" y="3672114"/>
            <a:ext cx="2050142" cy="21045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479B97A-0E1D-264B-F952-18BFDFC41096}"/>
              </a:ext>
            </a:extLst>
          </p:cNvPr>
          <p:cNvSpPr/>
          <p:nvPr/>
        </p:nvSpPr>
        <p:spPr>
          <a:xfrm>
            <a:off x="743859" y="4201454"/>
            <a:ext cx="2050142" cy="21045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048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13541-480F-04FC-AE59-A6F8122B2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4917FA-D028-DE24-EC15-734AB593C9F3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回归结果补充</a:t>
            </a:r>
            <a:endParaRPr lang="en-US" altLang="zh-CN" sz="3600" dirty="0"/>
          </a:p>
          <a:p>
            <a:pPr algn="l"/>
            <a:r>
              <a:rPr lang="en-US" altLang="zh-CN" sz="2400" dirty="0"/>
              <a:t>Hazard</a:t>
            </a:r>
            <a:r>
              <a:rPr lang="zh-CN" altLang="en-US" sz="2400" dirty="0"/>
              <a:t>模型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5E1473-2E52-A02A-39EE-DB47926A0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224" y="1533410"/>
            <a:ext cx="6467552" cy="4802706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99AB77CB-09BC-E743-D92E-C3FB4C2D6BDB}"/>
              </a:ext>
            </a:extLst>
          </p:cNvPr>
          <p:cNvSpPr/>
          <p:nvPr/>
        </p:nvSpPr>
        <p:spPr>
          <a:xfrm>
            <a:off x="1338224" y="2469681"/>
            <a:ext cx="1866371" cy="550356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8C8A4E1-78CF-F81A-2BF1-71391B7B7334}"/>
              </a:ext>
            </a:extLst>
          </p:cNvPr>
          <p:cNvSpPr/>
          <p:nvPr/>
        </p:nvSpPr>
        <p:spPr>
          <a:xfrm>
            <a:off x="1338223" y="4016203"/>
            <a:ext cx="1866371" cy="550356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927DCA3-1593-B383-07A3-0889B13D17B5}"/>
              </a:ext>
            </a:extLst>
          </p:cNvPr>
          <p:cNvSpPr/>
          <p:nvPr/>
        </p:nvSpPr>
        <p:spPr>
          <a:xfrm>
            <a:off x="6515630" y="2524635"/>
            <a:ext cx="1059629" cy="550356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423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2DD3F-AE60-8E9C-348C-75448B494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75053BC-5194-B6EF-7E29-744810ADA067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回归结果补充</a:t>
            </a:r>
            <a:endParaRPr lang="en-US" altLang="zh-CN" sz="3600" dirty="0"/>
          </a:p>
          <a:p>
            <a:pPr algn="l"/>
            <a:r>
              <a:rPr lang="en-US" altLang="zh-CN" sz="2400" dirty="0"/>
              <a:t>50%</a:t>
            </a:r>
            <a:r>
              <a:rPr lang="zh-CN" altLang="en-US" sz="2400" dirty="0"/>
              <a:t>阈值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6C2824-4F32-0124-DCF9-FA00F77C6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540" y="2178050"/>
            <a:ext cx="4574625" cy="309493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7FF47D5-D5A4-9A7F-C251-B2D4D482E2E7}"/>
              </a:ext>
            </a:extLst>
          </p:cNvPr>
          <p:cNvPicPr>
            <a:picLocks/>
          </p:cNvPicPr>
          <p:nvPr/>
        </p:nvPicPr>
        <p:blipFill>
          <a:blip r:embed="rId4"/>
          <a:srcRect t="5591" r="3536"/>
          <a:stretch>
            <a:fillRect/>
          </a:stretch>
        </p:blipFill>
        <p:spPr>
          <a:xfrm>
            <a:off x="144378" y="2038350"/>
            <a:ext cx="4427622" cy="3445374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3531796D-883C-C363-2BA2-638F37112FFC}"/>
              </a:ext>
            </a:extLst>
          </p:cNvPr>
          <p:cNvSpPr/>
          <p:nvPr/>
        </p:nvSpPr>
        <p:spPr>
          <a:xfrm>
            <a:off x="1642176" y="2178050"/>
            <a:ext cx="802573" cy="102292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A2F553A-B3C6-5047-312E-E097D0C31320}"/>
              </a:ext>
            </a:extLst>
          </p:cNvPr>
          <p:cNvSpPr/>
          <p:nvPr/>
        </p:nvSpPr>
        <p:spPr>
          <a:xfrm>
            <a:off x="6027509" y="2284273"/>
            <a:ext cx="802573" cy="102292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9176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F88EC-BD2A-C1BD-2DBC-C973594BA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ECCD699-12B0-AA2A-DC82-8CB523F97317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回归结果补充</a:t>
            </a:r>
            <a:endParaRPr lang="en-US" altLang="zh-CN" sz="3600" dirty="0"/>
          </a:p>
          <a:p>
            <a:pPr algn="l"/>
            <a:r>
              <a:rPr lang="en-US" altLang="zh-CN" sz="2400" dirty="0"/>
              <a:t>50%</a:t>
            </a:r>
            <a:r>
              <a:rPr lang="zh-CN" altLang="en-US" sz="2400" dirty="0"/>
              <a:t>阈值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D3A1A65-9742-7F2B-B63A-91D2E04BB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6224"/>
            <a:ext cx="4619122" cy="301686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C394CC3-603E-D2DA-48E6-60D9A04CB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036082"/>
            <a:ext cx="4603185" cy="2785836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869FCB8C-DD1E-A085-0476-D3F3A38909A2}"/>
              </a:ext>
            </a:extLst>
          </p:cNvPr>
          <p:cNvSpPr/>
          <p:nvPr/>
        </p:nvSpPr>
        <p:spPr>
          <a:xfrm>
            <a:off x="1506988" y="1984936"/>
            <a:ext cx="937762" cy="161364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9995AC7-5276-42F6-EC92-732CC00A2E6D}"/>
              </a:ext>
            </a:extLst>
          </p:cNvPr>
          <p:cNvSpPr/>
          <p:nvPr/>
        </p:nvSpPr>
        <p:spPr>
          <a:xfrm>
            <a:off x="6078988" y="2146300"/>
            <a:ext cx="937762" cy="161364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0489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D71F8-6186-D301-CD6D-E81108BA2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2BB78A3-4DB4-EB39-AB38-032489DA7FC6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回归结果补充</a:t>
            </a:r>
            <a:endParaRPr lang="en-US" altLang="zh-CN" sz="3600" dirty="0"/>
          </a:p>
          <a:p>
            <a:pPr algn="l"/>
            <a:r>
              <a:rPr lang="en-US" altLang="zh-CN" sz="2400" dirty="0"/>
              <a:t>80%</a:t>
            </a:r>
            <a:r>
              <a:rPr lang="zh-CN" altLang="en-US" sz="2400" dirty="0"/>
              <a:t>阈值</a:t>
            </a:r>
            <a:endParaRPr lang="en-US" altLang="zh-CN" sz="2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9D6B6DF-B6C0-5342-DA95-B4FB9317B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94" y="1560649"/>
            <a:ext cx="4307205" cy="31851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C393DC0-B6A9-7AAA-36C7-830065694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986" y="1426664"/>
            <a:ext cx="4224655" cy="28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5558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011BD-1906-572E-4B9B-D36ACF6F1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378C5FB-8450-E35F-F659-A5B57AC35E8A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回归结果补充</a:t>
            </a:r>
            <a:endParaRPr lang="en-US" altLang="zh-CN" sz="3600" dirty="0"/>
          </a:p>
          <a:p>
            <a:pPr algn="l"/>
            <a:r>
              <a:rPr lang="en-US" altLang="zh-CN" sz="2400" dirty="0"/>
              <a:t>80%</a:t>
            </a:r>
            <a:r>
              <a:rPr lang="zh-CN" altLang="en-US" sz="2400" dirty="0"/>
              <a:t>阈值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1AD395-D18D-7285-5B52-4B113F130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78" y="1926046"/>
            <a:ext cx="4086225" cy="267208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A0F2AD8-F023-55DB-5408-9FC1562D2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117" y="1926046"/>
            <a:ext cx="4414520" cy="292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0534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27A4A-6030-9BBE-69DA-1A4CC02B1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8AF71D5-D771-22CD-401F-1653B7C2A391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稳健性检验与替代方案：</a:t>
            </a:r>
            <a:endParaRPr lang="en-US" altLang="zh-CN" sz="2400" dirty="0"/>
          </a:p>
          <a:p>
            <a:pPr algn="l"/>
            <a:r>
              <a:rPr lang="zh-CN" altLang="en-US" sz="2400" dirty="0"/>
              <a:t>稳健性检验</a:t>
            </a:r>
            <a:endParaRPr lang="zh-CN" altLang="zh-CN" sz="3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A97F25-6808-8C33-3B26-60C74DE09EA7}"/>
              </a:ext>
            </a:extLst>
          </p:cNvPr>
          <p:cNvSpPr txBox="1"/>
          <p:nvPr/>
        </p:nvSpPr>
        <p:spPr>
          <a:xfrm>
            <a:off x="144377" y="1510424"/>
            <a:ext cx="543827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（一）排除“历史争端路径依赖”的影响</a:t>
            </a:r>
          </a:p>
          <a:p>
            <a:pPr>
              <a:buNone/>
            </a:pPr>
            <a:r>
              <a:rPr lang="zh-CN" altLang="en-US" b="1" dirty="0"/>
              <a:t>检验 </a:t>
            </a:r>
            <a:r>
              <a:rPr lang="en-US" altLang="zh-CN" b="1" dirty="0"/>
              <a:t>1</a:t>
            </a:r>
            <a:r>
              <a:rPr lang="zh-CN" altLang="en-US" b="1" dirty="0"/>
              <a:t>：控制“是否曾被主张”的影响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逻辑：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如果一个地区过去被主张过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未来再次被主张的概率本来就更低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可能威胁：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结果可能只是“历史路径依赖”的产物</a:t>
            </a:r>
          </a:p>
          <a:p>
            <a:pPr>
              <a:buNone/>
            </a:pPr>
            <a:r>
              <a:rPr lang="zh-CN" altLang="en-US" b="1" dirty="0"/>
              <a:t>做法：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在控制“是否曾被主张”的条件下重新估计模型</a:t>
            </a:r>
            <a:endParaRPr lang="en-US" altLang="zh-CN" dirty="0"/>
          </a:p>
          <a:p>
            <a:r>
              <a:rPr lang="zh-CN" altLang="en-US" b="1" dirty="0"/>
              <a:t>结论：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结果依然不变（附录 </a:t>
            </a:r>
            <a:r>
              <a:rPr lang="en-US" altLang="zh-CN" dirty="0"/>
              <a:t>E1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49255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F586A-C24A-81D3-B9E2-A423781D5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F2291B3-2DB2-90C9-2286-5E83C8642177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稳健性检验与替代方案：</a:t>
            </a:r>
            <a:endParaRPr lang="en-US" altLang="zh-CN" sz="2400" dirty="0"/>
          </a:p>
          <a:p>
            <a:pPr algn="l"/>
            <a:r>
              <a:rPr lang="zh-CN" altLang="en-US" sz="2400" dirty="0"/>
              <a:t>稳健性检验</a:t>
            </a:r>
            <a:endParaRPr lang="zh-CN" altLang="zh-CN" sz="3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F8C471C-D695-D0CC-BAB6-2B7CB765ED8D}"/>
              </a:ext>
            </a:extLst>
          </p:cNvPr>
          <p:cNvSpPr txBox="1"/>
          <p:nvPr/>
        </p:nvSpPr>
        <p:spPr>
          <a:xfrm>
            <a:off x="144377" y="1510424"/>
            <a:ext cx="54382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（一）排除“历史争端路径依赖”的影响</a:t>
            </a:r>
          </a:p>
          <a:p>
            <a:pPr>
              <a:buNone/>
            </a:pPr>
            <a:r>
              <a:rPr lang="zh-CN" altLang="en-US" b="1" dirty="0"/>
              <a:t>复现结果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62CB60-71D3-5901-42ED-4D2AD5A5F4FA}"/>
              </a:ext>
            </a:extLst>
          </p:cNvPr>
          <p:cNvPicPr>
            <a:picLocks/>
          </p:cNvPicPr>
          <p:nvPr/>
        </p:nvPicPr>
        <p:blipFill>
          <a:blip r:embed="rId2"/>
          <a:srcRect t="13175" r="14250"/>
          <a:stretch>
            <a:fillRect/>
          </a:stretch>
        </p:blipFill>
        <p:spPr>
          <a:xfrm>
            <a:off x="4800598" y="1174613"/>
            <a:ext cx="4199024" cy="261439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5964500-EDAB-83EF-C344-1DE4B44350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03" r="30241"/>
          <a:stretch>
            <a:fillRect/>
          </a:stretch>
        </p:blipFill>
        <p:spPr>
          <a:xfrm>
            <a:off x="0" y="2154885"/>
            <a:ext cx="4341091" cy="3428418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F84826A9-5D5C-D517-F4A9-90F9DD1B4CE8}"/>
              </a:ext>
            </a:extLst>
          </p:cNvPr>
          <p:cNvSpPr/>
          <p:nvPr/>
        </p:nvSpPr>
        <p:spPr>
          <a:xfrm>
            <a:off x="702376" y="3361623"/>
            <a:ext cx="764473" cy="854778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B905DCA-2C51-6805-ADA4-9539C63C3505}"/>
              </a:ext>
            </a:extLst>
          </p:cNvPr>
          <p:cNvSpPr/>
          <p:nvPr/>
        </p:nvSpPr>
        <p:spPr>
          <a:xfrm>
            <a:off x="472539" y="2943057"/>
            <a:ext cx="638711" cy="186878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B668C0E-6AA4-5962-0FC3-744A81C5FA0E}"/>
              </a:ext>
            </a:extLst>
          </p:cNvPr>
          <p:cNvSpPr/>
          <p:nvPr/>
        </p:nvSpPr>
        <p:spPr>
          <a:xfrm>
            <a:off x="5515676" y="2275157"/>
            <a:ext cx="764473" cy="481185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B1FEFF4-7411-B341-2702-25BF4BA91988}"/>
              </a:ext>
            </a:extLst>
          </p:cNvPr>
          <p:cNvSpPr/>
          <p:nvPr/>
        </p:nvSpPr>
        <p:spPr>
          <a:xfrm>
            <a:off x="5269647" y="1935639"/>
            <a:ext cx="638711" cy="118198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C7A5125-56E9-F2A2-4474-9FF0281C3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598" y="4044407"/>
            <a:ext cx="4066783" cy="1404970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2C43109-25FA-1C55-89F4-339DAF7254AF}"/>
              </a:ext>
            </a:extLst>
          </p:cNvPr>
          <p:cNvSpPr/>
          <p:nvPr/>
        </p:nvSpPr>
        <p:spPr>
          <a:xfrm>
            <a:off x="8267702" y="4104573"/>
            <a:ext cx="599679" cy="854778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9894F0D-C41E-1480-BB66-7FE437068447}"/>
              </a:ext>
            </a:extLst>
          </p:cNvPr>
          <p:cNvSpPr/>
          <p:nvPr/>
        </p:nvSpPr>
        <p:spPr>
          <a:xfrm>
            <a:off x="8213879" y="5019517"/>
            <a:ext cx="599679" cy="42986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8D00386-4348-4EB0-92E7-98753DE47622}"/>
              </a:ext>
            </a:extLst>
          </p:cNvPr>
          <p:cNvSpPr/>
          <p:nvPr/>
        </p:nvSpPr>
        <p:spPr>
          <a:xfrm>
            <a:off x="3318577" y="3361623"/>
            <a:ext cx="269174" cy="854778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45BFCE5-2197-5D3E-0357-725BD8DBC1E6}"/>
              </a:ext>
            </a:extLst>
          </p:cNvPr>
          <p:cNvSpPr/>
          <p:nvPr/>
        </p:nvSpPr>
        <p:spPr>
          <a:xfrm>
            <a:off x="8133115" y="2275157"/>
            <a:ext cx="269174" cy="481185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213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1241BB6-4830-7FA2-6D70-EE4C8E73E4EE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稳健性检验与替代方案：</a:t>
            </a:r>
            <a:endParaRPr lang="en-US" altLang="zh-CN" sz="2400" dirty="0"/>
          </a:p>
          <a:p>
            <a:pPr algn="l"/>
            <a:r>
              <a:rPr lang="zh-CN" altLang="en-US" sz="2400" dirty="0"/>
              <a:t>稳健性检验</a:t>
            </a:r>
            <a:endParaRPr lang="zh-CN" altLang="zh-CN" sz="3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A9FE967-5C56-4653-AA31-23DB85DFE395}"/>
              </a:ext>
            </a:extLst>
          </p:cNvPr>
          <p:cNvSpPr txBox="1"/>
          <p:nvPr/>
        </p:nvSpPr>
        <p:spPr>
          <a:xfrm>
            <a:off x="144377" y="1510424"/>
            <a:ext cx="606391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（二）排除“特定历史时期驱动”的可能</a:t>
            </a:r>
          </a:p>
          <a:p>
            <a:r>
              <a:rPr lang="zh-CN" altLang="en-US" b="1" dirty="0"/>
              <a:t>检验 </a:t>
            </a:r>
            <a:r>
              <a:rPr lang="en-US" altLang="zh-CN" b="1" dirty="0"/>
              <a:t>2</a:t>
            </a:r>
            <a:r>
              <a:rPr lang="zh-CN" altLang="en-US" b="1" dirty="0"/>
              <a:t>：分十年期回归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做法：</a:t>
            </a:r>
          </a:p>
          <a:p>
            <a:pPr lvl="1"/>
            <a:r>
              <a:rPr lang="zh-CN" altLang="en-US" dirty="0"/>
              <a:t>按 </a:t>
            </a:r>
            <a:r>
              <a:rPr lang="en-US" altLang="zh-CN" dirty="0"/>
              <a:t>10 </a:t>
            </a:r>
            <a:r>
              <a:rPr lang="zh-CN" altLang="en-US" dirty="0"/>
              <a:t>年为一个时间段分别估计模型</a:t>
            </a:r>
          </a:p>
          <a:p>
            <a:pPr lvl="1"/>
            <a:r>
              <a:rPr lang="zh-CN" altLang="en-US" dirty="0"/>
              <a:t>检验是否只在某些年代成立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目的：</a:t>
            </a:r>
          </a:p>
          <a:p>
            <a:r>
              <a:rPr lang="zh-CN" altLang="en-US" dirty="0"/>
              <a:t>防止结果只是某个历史节点（如冷战、资源危机）驱动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结论：</a:t>
            </a:r>
          </a:p>
          <a:p>
            <a:r>
              <a:rPr lang="zh-CN" altLang="en-US" dirty="0"/>
              <a:t>在几乎所有时间段：</a:t>
            </a:r>
          </a:p>
          <a:p>
            <a:r>
              <a:rPr lang="zh-CN" altLang="en-US" dirty="0"/>
              <a:t>矿产和石油都与领土主张显著负相关（附录 </a:t>
            </a:r>
            <a:r>
              <a:rPr lang="en-US" altLang="zh-CN" dirty="0"/>
              <a:t>D1</a:t>
            </a:r>
            <a:r>
              <a:rPr lang="zh-CN" altLang="en-US" dirty="0"/>
              <a:t>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C55E973-947B-84DB-D384-D442BAFD5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78" y="4455296"/>
            <a:ext cx="5267487" cy="61657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33D9D-16B8-C30E-7CDF-1064EA1A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6049B96-E013-B1D9-4DE9-B6BBD6F498E6}"/>
              </a:ext>
            </a:extLst>
          </p:cNvPr>
          <p:cNvPicPr>
            <a:picLocks/>
          </p:cNvPicPr>
          <p:nvPr/>
        </p:nvPicPr>
        <p:blipFill>
          <a:blip r:embed="rId3"/>
          <a:srcRect t="16066" b="11386"/>
          <a:stretch>
            <a:fillRect/>
          </a:stretch>
        </p:blipFill>
        <p:spPr>
          <a:xfrm>
            <a:off x="144376" y="2157813"/>
            <a:ext cx="6216970" cy="35750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DB12036-7465-FC3F-06C4-CECF6F6178FE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稳健性检验与替代方案：</a:t>
            </a:r>
            <a:endParaRPr lang="en-US" altLang="zh-CN" sz="2400" dirty="0"/>
          </a:p>
          <a:p>
            <a:pPr algn="l"/>
            <a:r>
              <a:rPr lang="zh-CN" altLang="en-US" sz="2400" dirty="0"/>
              <a:t>稳健性检验</a:t>
            </a:r>
            <a:endParaRPr lang="zh-CN" altLang="zh-CN" sz="3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C74AE3-9B12-2F94-5429-DC3ED4522F77}"/>
              </a:ext>
            </a:extLst>
          </p:cNvPr>
          <p:cNvSpPr txBox="1"/>
          <p:nvPr/>
        </p:nvSpPr>
        <p:spPr>
          <a:xfrm>
            <a:off x="144377" y="1510424"/>
            <a:ext cx="60639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（二）排除“特定历史时期驱动”的可能</a:t>
            </a:r>
          </a:p>
          <a:p>
            <a:r>
              <a:rPr lang="zh-CN" altLang="en-US" b="1" dirty="0"/>
              <a:t>复现结果：</a:t>
            </a:r>
            <a:r>
              <a:rPr lang="en-US" altLang="zh-CN" b="1" dirty="0"/>
              <a:t>1860</a:t>
            </a:r>
            <a:r>
              <a:rPr lang="zh-CN" altLang="en-US" b="1" dirty="0"/>
              <a:t>年前</a:t>
            </a:r>
            <a:endParaRPr lang="en-US" altLang="zh-CN" b="1" dirty="0"/>
          </a:p>
          <a:p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D2A786D-7448-331C-D7F9-223BF9E07792}"/>
              </a:ext>
            </a:extLst>
          </p:cNvPr>
          <p:cNvSpPr txBox="1"/>
          <p:nvPr/>
        </p:nvSpPr>
        <p:spPr>
          <a:xfrm>
            <a:off x="-4233" y="6210432"/>
            <a:ext cx="7628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无论换哪种设定</a:t>
            </a:r>
            <a:r>
              <a:rPr lang="en-US" altLang="zh-CN" dirty="0"/>
              <a:t>/</a:t>
            </a:r>
            <a:r>
              <a:rPr lang="zh-CN" altLang="en-US" dirty="0"/>
              <a:t>样本</a:t>
            </a:r>
            <a:r>
              <a:rPr lang="en-US" altLang="zh-CN" dirty="0"/>
              <a:t>/</a:t>
            </a:r>
            <a:r>
              <a:rPr lang="zh-CN" altLang="en-US" dirty="0"/>
              <a:t>因变量口径，资本密集度资源（中</a:t>
            </a:r>
            <a:r>
              <a:rPr lang="en-US" altLang="zh-CN" dirty="0"/>
              <a:t>/</a:t>
            </a:r>
            <a:r>
              <a:rPr lang="zh-CN" altLang="en-US" dirty="0"/>
              <a:t>高）与领土主张概率的负相关都成立 → 结论稳健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297F811-11F7-F44D-241D-F2BFD31B1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8950" y="1968698"/>
            <a:ext cx="324319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时段：1830s–1850s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特点：当时还没有石油变量</a:t>
            </a:r>
            <a:endParaRPr lang="en-US" altLang="zh-CN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所以只有：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capordMed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9A5A2E6-8A89-F563-621E-3906E1B315C7}"/>
              </a:ext>
            </a:extLst>
          </p:cNvPr>
          <p:cNvSpPr/>
          <p:nvPr/>
        </p:nvSpPr>
        <p:spPr>
          <a:xfrm>
            <a:off x="195175" y="2795011"/>
            <a:ext cx="2167025" cy="17044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1956E2A-21D6-5D1C-FD0A-0C891390D89B}"/>
              </a:ext>
            </a:extLst>
          </p:cNvPr>
          <p:cNvSpPr/>
          <p:nvPr/>
        </p:nvSpPr>
        <p:spPr>
          <a:xfrm>
            <a:off x="195175" y="3429000"/>
            <a:ext cx="3062375" cy="17044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476C89-771E-C6DA-5B79-0D1A953C0312}"/>
              </a:ext>
            </a:extLst>
          </p:cNvPr>
          <p:cNvSpPr txBox="1"/>
          <p:nvPr/>
        </p:nvSpPr>
        <p:spPr>
          <a:xfrm>
            <a:off x="5568950" y="3121913"/>
            <a:ext cx="29985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结果：中等资本密集度资源（</a:t>
            </a:r>
            <a:r>
              <a:rPr lang="en-US" altLang="zh-CN" dirty="0"/>
              <a:t>minerals</a:t>
            </a:r>
            <a:r>
              <a:rPr lang="zh-CN" altLang="en-US" dirty="0"/>
              <a:t>）与领土主张发生概率之间是 </a:t>
            </a:r>
            <a:r>
              <a:rPr lang="zh-CN" altLang="en-US" b="1" dirty="0"/>
              <a:t>显著负相关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65420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2AFFE-5987-F34E-0BBE-8F49555B1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667439A-FD7E-CD8F-3768-7C942BAFD976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稳健性检验与替代方案：</a:t>
            </a:r>
            <a:endParaRPr lang="en-US" altLang="zh-CN" sz="2400" dirty="0"/>
          </a:p>
          <a:p>
            <a:pPr algn="l"/>
            <a:r>
              <a:rPr lang="zh-CN" altLang="en-US" sz="2400" dirty="0"/>
              <a:t>稳健性检验</a:t>
            </a:r>
            <a:endParaRPr lang="zh-CN" altLang="zh-CN" sz="3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467B50-6844-48E8-1AC3-2CC851ADE524}"/>
              </a:ext>
            </a:extLst>
          </p:cNvPr>
          <p:cNvSpPr txBox="1"/>
          <p:nvPr/>
        </p:nvSpPr>
        <p:spPr>
          <a:xfrm>
            <a:off x="144377" y="1510424"/>
            <a:ext cx="60639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（二）排除“特定历史时期驱动”的可能</a:t>
            </a:r>
          </a:p>
          <a:p>
            <a:r>
              <a:rPr lang="zh-CN" altLang="en-US" b="1" dirty="0"/>
              <a:t>复现结果：</a:t>
            </a:r>
            <a:r>
              <a:rPr lang="en-US" altLang="zh-CN" b="1" dirty="0"/>
              <a:t>1860</a:t>
            </a:r>
            <a:r>
              <a:rPr lang="zh-CN" altLang="en-US" b="1" dirty="0"/>
              <a:t>年后</a:t>
            </a:r>
            <a:endParaRPr lang="en-US" altLang="zh-CN" b="1" dirty="0"/>
          </a:p>
          <a:p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2FF3B7D-8CB0-11BD-B999-573ABF37F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78" y="2193734"/>
            <a:ext cx="3881044" cy="4461025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CDD76C2-9B5C-2323-C68E-7A97D4DE1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5183" y="2313418"/>
            <a:ext cx="511881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latin typeface="Arial" panose="020B0604020202020204" pitchFamily="34" charset="0"/>
              </a:rPr>
              <a:t>样本：所有网格（all gridcells）</a:t>
            </a:r>
            <a:endParaRPr lang="en-US" altLang="zh-CN" dirty="0">
              <a:latin typeface="Arial" panose="020B060402020202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latin typeface="Arial" panose="020B0604020202020204" pitchFamily="34" charset="0"/>
              </a:rPr>
              <a:t>因变量：每个 decade 的 ddisp（争端发生）</a:t>
            </a:r>
            <a:endParaRPr lang="en-US" altLang="zh-CN" dirty="0">
              <a:latin typeface="Arial" panose="020B060402020202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</a:rPr>
              <a:t>自</a:t>
            </a:r>
            <a:r>
              <a:rPr lang="zh-CN" altLang="zh-CN" dirty="0">
                <a:latin typeface="Arial" panose="020B0604020202020204" pitchFamily="34" charset="0"/>
              </a:rPr>
              <a:t>变量：</a:t>
            </a:r>
            <a:r>
              <a:rPr lang="zh-CN" altLang="en-US" dirty="0">
                <a:latin typeface="Arial" panose="020B0604020202020204" pitchFamily="34" charset="0"/>
              </a:rPr>
              <a:t>资源资本密集度</a:t>
            </a:r>
            <a:endParaRPr lang="en-US" altLang="zh-CN" dirty="0">
              <a:latin typeface="Arial" panose="020B060402020202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latin typeface="Arial" panose="020B0604020202020204" pitchFamily="34" charset="0"/>
              </a:rPr>
              <a:t>控制变量：overlap、nocol、borderdist</a:t>
            </a:r>
            <a:endParaRPr lang="en-US" altLang="zh-CN" dirty="0">
              <a:latin typeface="Arial" panose="020B060402020202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latin typeface="Arial" panose="020B0604020202020204" pitchFamily="34" charset="0"/>
              </a:rPr>
              <a:t>估计方式：按 decade 分别跑回归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1C086EB-5E53-1A31-0AE3-7A11D763B36D}"/>
              </a:ext>
            </a:extLst>
          </p:cNvPr>
          <p:cNvSpPr txBox="1"/>
          <p:nvPr/>
        </p:nvSpPr>
        <p:spPr>
          <a:xfrm>
            <a:off x="4025183" y="3944092"/>
            <a:ext cx="4591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结果：在 </a:t>
            </a:r>
            <a:r>
              <a:rPr lang="en-US" altLang="zh-CN" dirty="0"/>
              <a:t>1860s–1950s </a:t>
            </a:r>
            <a:r>
              <a:rPr lang="zh-CN" altLang="en-US" dirty="0"/>
              <a:t>的每一个十年里，</a:t>
            </a:r>
            <a:r>
              <a:rPr lang="en-US" altLang="zh-CN" dirty="0" err="1"/>
              <a:t>capordHigh</a:t>
            </a:r>
            <a:r>
              <a:rPr lang="en-US" altLang="zh-CN" dirty="0"/>
              <a:t> / </a:t>
            </a:r>
            <a:r>
              <a:rPr lang="en-US" altLang="zh-CN" dirty="0" err="1"/>
              <a:t>capordMed</a:t>
            </a:r>
            <a:r>
              <a:rPr lang="en-US" altLang="zh-CN" dirty="0"/>
              <a:t> </a:t>
            </a:r>
            <a:r>
              <a:rPr lang="zh-CN" altLang="en-US" dirty="0"/>
              <a:t>的系数几乎一直为负→ 结果不是某个特定时期驱动的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C0C3E45-7BB0-6268-02BD-366E3FB724D4}"/>
              </a:ext>
            </a:extLst>
          </p:cNvPr>
          <p:cNvSpPr/>
          <p:nvPr/>
        </p:nvSpPr>
        <p:spPr>
          <a:xfrm>
            <a:off x="1079023" y="3200400"/>
            <a:ext cx="1137127" cy="122384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0933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AADD5-CD04-ADCC-9C23-72E2F85F2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416918A-2832-90E7-7AC6-6098F2E58997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稳健性检验与替代方案：</a:t>
            </a:r>
            <a:endParaRPr lang="en-US" altLang="zh-CN" sz="2400" dirty="0"/>
          </a:p>
          <a:p>
            <a:pPr algn="l"/>
            <a:r>
              <a:rPr lang="zh-CN" altLang="en-US" sz="2400" dirty="0"/>
              <a:t>稳健性检验</a:t>
            </a:r>
            <a:endParaRPr lang="zh-CN" altLang="zh-CN" sz="3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7D87E8-2643-8274-9826-747DEC1C0B65}"/>
              </a:ext>
            </a:extLst>
          </p:cNvPr>
          <p:cNvSpPr txBox="1"/>
          <p:nvPr/>
        </p:nvSpPr>
        <p:spPr>
          <a:xfrm>
            <a:off x="144377" y="1510424"/>
            <a:ext cx="60639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（二）排除“特定历史时期驱动”的可能</a:t>
            </a:r>
          </a:p>
          <a:p>
            <a:r>
              <a:rPr lang="zh-CN" altLang="en-US" b="1" dirty="0"/>
              <a:t>复现结果：用不同因变量口径</a:t>
            </a:r>
            <a:endParaRPr lang="en-US" altLang="zh-CN" b="1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A735BFA-CC99-7C29-BC84-347A413B5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78" y="2081924"/>
            <a:ext cx="5723024" cy="2919694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E793ACA-ED10-D3B8-6362-E6CEB8FE8B18}"/>
              </a:ext>
            </a:extLst>
          </p:cNvPr>
          <p:cNvSpPr/>
          <p:nvPr/>
        </p:nvSpPr>
        <p:spPr>
          <a:xfrm>
            <a:off x="270934" y="3448638"/>
            <a:ext cx="448733" cy="93133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8B7E8FC-9055-92AA-468C-8794E26CC4FE}"/>
              </a:ext>
            </a:extLst>
          </p:cNvPr>
          <p:cNvSpPr/>
          <p:nvPr/>
        </p:nvSpPr>
        <p:spPr>
          <a:xfrm>
            <a:off x="247650" y="3721100"/>
            <a:ext cx="495300" cy="93133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F5DE88F-9001-FDFB-756C-D04841A0187E}"/>
              </a:ext>
            </a:extLst>
          </p:cNvPr>
          <p:cNvSpPr/>
          <p:nvPr/>
        </p:nvSpPr>
        <p:spPr>
          <a:xfrm>
            <a:off x="950042" y="3427126"/>
            <a:ext cx="644206" cy="93134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8542931-C1D3-2315-0C84-0ACF7091E831}"/>
              </a:ext>
            </a:extLst>
          </p:cNvPr>
          <p:cNvSpPr/>
          <p:nvPr/>
        </p:nvSpPr>
        <p:spPr>
          <a:xfrm>
            <a:off x="967795" y="3721100"/>
            <a:ext cx="670505" cy="93133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2E2011D-B057-1914-2B60-2B347EC4F1AC}"/>
              </a:ext>
            </a:extLst>
          </p:cNvPr>
          <p:cNvSpPr txBox="1"/>
          <p:nvPr/>
        </p:nvSpPr>
        <p:spPr>
          <a:xfrm>
            <a:off x="93578" y="5080132"/>
            <a:ext cx="7628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无论换哪种设定</a:t>
            </a:r>
            <a:r>
              <a:rPr lang="en-US" altLang="zh-CN" dirty="0"/>
              <a:t>/</a:t>
            </a:r>
            <a:r>
              <a:rPr lang="zh-CN" altLang="en-US" dirty="0"/>
              <a:t>样本</a:t>
            </a:r>
            <a:r>
              <a:rPr lang="en-US" altLang="zh-CN" dirty="0"/>
              <a:t>/</a:t>
            </a:r>
            <a:r>
              <a:rPr lang="zh-CN" altLang="en-US" dirty="0"/>
              <a:t>因变量口径，资本密集度资源（中</a:t>
            </a:r>
            <a:r>
              <a:rPr lang="en-US" altLang="zh-CN" dirty="0"/>
              <a:t>/</a:t>
            </a:r>
            <a:r>
              <a:rPr lang="zh-CN" altLang="en-US" dirty="0"/>
              <a:t>高）与领土主张概率的负相关都成立 → 结论稳健</a:t>
            </a:r>
          </a:p>
        </p:txBody>
      </p:sp>
    </p:spTree>
    <p:extLst>
      <p:ext uri="{BB962C8B-B14F-4D97-AF65-F5344CB8AC3E}">
        <p14:creationId xmlns:p14="http://schemas.microsoft.com/office/powerpoint/2010/main" val="4488114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0C0F7-2D4D-46BE-D420-8EDC31C6A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2868F49-3555-8994-8E24-5C31C5605771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稳健性检验与替代方案：</a:t>
            </a:r>
            <a:endParaRPr lang="en-US" altLang="zh-CN" sz="2400" dirty="0"/>
          </a:p>
          <a:p>
            <a:pPr algn="l"/>
            <a:r>
              <a:rPr lang="zh-CN" altLang="en-US" sz="2400" dirty="0"/>
              <a:t>稳健性检验</a:t>
            </a:r>
            <a:endParaRPr lang="zh-CN" altLang="zh-CN" sz="3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0CD3879-E84A-019C-5120-05630B86CD6F}"/>
              </a:ext>
            </a:extLst>
          </p:cNvPr>
          <p:cNvSpPr txBox="1"/>
          <p:nvPr/>
        </p:nvSpPr>
        <p:spPr>
          <a:xfrm>
            <a:off x="144377" y="1510424"/>
            <a:ext cx="290362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（三）更换因变量定义</a:t>
            </a:r>
          </a:p>
          <a:p>
            <a:r>
              <a:rPr lang="zh-CN" altLang="en-US" b="1" dirty="0"/>
              <a:t>检验 </a:t>
            </a:r>
            <a:r>
              <a:rPr lang="en-US" altLang="zh-CN" b="1" dirty="0"/>
              <a:t>3</a:t>
            </a:r>
            <a:r>
              <a:rPr lang="zh-CN" altLang="en-US" b="1" dirty="0"/>
              <a:t>：用“主张发生时间”替代“发生率”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原模型：</a:t>
            </a:r>
          </a:p>
          <a:p>
            <a:pPr lvl="1"/>
            <a:r>
              <a:rPr lang="zh-CN" altLang="en-US" dirty="0"/>
              <a:t>因变量 </a:t>
            </a:r>
            <a:r>
              <a:rPr lang="en-US" altLang="zh-CN" dirty="0"/>
              <a:t>= </a:t>
            </a:r>
            <a:r>
              <a:rPr lang="zh-CN" altLang="en-US" dirty="0"/>
              <a:t>主张发生率（</a:t>
            </a:r>
            <a:r>
              <a:rPr lang="en-US" altLang="zh-CN" dirty="0"/>
              <a:t>incidence</a:t>
            </a:r>
            <a:r>
              <a:rPr lang="zh-CN" altLang="en-US" dirty="0"/>
              <a:t>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稳健性：</a:t>
            </a:r>
          </a:p>
          <a:p>
            <a:pPr lvl="1"/>
            <a:r>
              <a:rPr lang="zh-CN" altLang="en-US" dirty="0"/>
              <a:t>改用：</a:t>
            </a:r>
            <a:r>
              <a:rPr lang="zh-CN" altLang="en-US" b="1" dirty="0"/>
              <a:t>主张发生时间（</a:t>
            </a:r>
            <a:r>
              <a:rPr lang="en-US" altLang="zh-CN" b="1" dirty="0"/>
              <a:t>onset</a:t>
            </a:r>
            <a:r>
              <a:rPr lang="zh-CN" altLang="en-US" b="1" dirty="0"/>
              <a:t>）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目的：</a:t>
            </a:r>
          </a:p>
          <a:p>
            <a:r>
              <a:rPr lang="zh-CN" altLang="en-US" dirty="0"/>
              <a:t>避免时间序列依赖性影响结果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结论：</a:t>
            </a:r>
          </a:p>
          <a:p>
            <a:r>
              <a:rPr lang="zh-CN" altLang="en-US" dirty="0"/>
              <a:t>结果完全一致（附录 </a:t>
            </a:r>
            <a:r>
              <a:rPr lang="en-US" altLang="zh-CN" dirty="0"/>
              <a:t>D4</a:t>
            </a:r>
            <a:r>
              <a:rPr lang="zh-CN" altLang="en-US" dirty="0"/>
              <a:t>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B47777A-83FE-50E4-3A69-5779E563C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388" y="2256099"/>
            <a:ext cx="6213612" cy="2696900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BACA96DE-40AC-1CD5-0E7F-B0249605C470}"/>
              </a:ext>
            </a:extLst>
          </p:cNvPr>
          <p:cNvSpPr/>
          <p:nvPr/>
        </p:nvSpPr>
        <p:spPr>
          <a:xfrm>
            <a:off x="2930388" y="2205154"/>
            <a:ext cx="2098812" cy="22478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FFBE495-3DBC-7900-00D0-58453E8E9FD3}"/>
              </a:ext>
            </a:extLst>
          </p:cNvPr>
          <p:cNvSpPr/>
          <p:nvPr/>
        </p:nvSpPr>
        <p:spPr>
          <a:xfrm>
            <a:off x="2930388" y="2604606"/>
            <a:ext cx="2098812" cy="22478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F74F0D1-A8DF-E288-AA1A-BBED4CD3D1E4}"/>
              </a:ext>
            </a:extLst>
          </p:cNvPr>
          <p:cNvSpPr/>
          <p:nvPr/>
        </p:nvSpPr>
        <p:spPr>
          <a:xfrm>
            <a:off x="2930388" y="3004058"/>
            <a:ext cx="1743212" cy="22478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6856C51-BAF2-F49B-AD34-CDD3DF695B1D}"/>
              </a:ext>
            </a:extLst>
          </p:cNvPr>
          <p:cNvSpPr/>
          <p:nvPr/>
        </p:nvSpPr>
        <p:spPr>
          <a:xfrm>
            <a:off x="2930388" y="3417496"/>
            <a:ext cx="1671024" cy="200163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B7EF35F-DBA6-BAD7-8A52-CD7C83ECC347}"/>
              </a:ext>
            </a:extLst>
          </p:cNvPr>
          <p:cNvSpPr/>
          <p:nvPr/>
        </p:nvSpPr>
        <p:spPr>
          <a:xfrm>
            <a:off x="2930387" y="3807008"/>
            <a:ext cx="2208880" cy="200163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1268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DBE8D-5E7A-EFA1-4152-51FEC8A77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7BE7FB-6C1E-C7D9-7736-2CCC4C3EDA76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稳健性检验与替代方案：</a:t>
            </a:r>
            <a:endParaRPr lang="en-US" altLang="zh-CN" sz="2400" dirty="0"/>
          </a:p>
          <a:p>
            <a:pPr algn="l"/>
            <a:r>
              <a:rPr lang="zh-CN" altLang="en-US" sz="2400" dirty="0"/>
              <a:t>稳健性检验</a:t>
            </a:r>
            <a:endParaRPr lang="zh-CN" altLang="zh-CN" sz="3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2E675D5-681A-79D0-CA44-4CDC9CA6B5D2}"/>
              </a:ext>
            </a:extLst>
          </p:cNvPr>
          <p:cNvSpPr txBox="1"/>
          <p:nvPr/>
        </p:nvSpPr>
        <p:spPr>
          <a:xfrm>
            <a:off x="144378" y="1512680"/>
            <a:ext cx="560671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（四）加入额外控制变量</a:t>
            </a:r>
          </a:p>
          <a:p>
            <a:pPr>
              <a:buNone/>
            </a:pPr>
            <a:r>
              <a:rPr lang="zh-CN" altLang="en-US" b="1" dirty="0"/>
              <a:t>检验 </a:t>
            </a:r>
            <a:r>
              <a:rPr lang="en-US" altLang="zh-CN" b="1" dirty="0"/>
              <a:t>4</a:t>
            </a:r>
            <a:r>
              <a:rPr lang="zh-CN" altLang="en-US" b="1" dirty="0"/>
              <a:t>：控制地形因素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控制：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平均海拔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崎岖程度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目的：</a:t>
            </a:r>
            <a:r>
              <a:rPr lang="zh-CN" altLang="en-US" dirty="0"/>
              <a:t>排除“地理难度”影响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结论：</a:t>
            </a:r>
            <a:r>
              <a:rPr lang="zh-CN" altLang="en-US" dirty="0"/>
              <a:t>结果依然显著稳健（附录 </a:t>
            </a:r>
            <a:r>
              <a:rPr lang="en-US" altLang="zh-CN" dirty="0"/>
              <a:t>D8</a:t>
            </a:r>
            <a:r>
              <a:rPr lang="zh-CN" altLang="en-US" dirty="0"/>
              <a:t>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4405BBC-8107-7727-48A7-0223CA3C4D14}"/>
              </a:ext>
            </a:extLst>
          </p:cNvPr>
          <p:cNvPicPr>
            <a:picLocks/>
          </p:cNvPicPr>
          <p:nvPr/>
        </p:nvPicPr>
        <p:blipFill>
          <a:blip r:embed="rId2"/>
          <a:srcRect t="43716" r="28809"/>
          <a:stretch>
            <a:fillRect/>
          </a:stretch>
        </p:blipFill>
        <p:spPr>
          <a:xfrm>
            <a:off x="4132789" y="1219581"/>
            <a:ext cx="4616450" cy="279927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FF054FC-BE49-E852-D31B-9E6FC95E318F}"/>
              </a:ext>
            </a:extLst>
          </p:cNvPr>
          <p:cNvPicPr>
            <a:picLocks/>
          </p:cNvPicPr>
          <p:nvPr/>
        </p:nvPicPr>
        <p:blipFill>
          <a:blip r:embed="rId3"/>
          <a:srcRect t="49305" r="20234"/>
          <a:stretch>
            <a:fillRect/>
          </a:stretch>
        </p:blipFill>
        <p:spPr>
          <a:xfrm>
            <a:off x="4083661" y="4099467"/>
            <a:ext cx="5060338" cy="2491706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0FA592C0-8680-CD32-5B35-D05629CB1302}"/>
              </a:ext>
            </a:extLst>
          </p:cNvPr>
          <p:cNvSpPr/>
          <p:nvPr/>
        </p:nvSpPr>
        <p:spPr>
          <a:xfrm>
            <a:off x="5531486" y="2522523"/>
            <a:ext cx="870427" cy="122384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EB5E2D2-79D8-31A9-56E4-FA489797E1EA}"/>
              </a:ext>
            </a:extLst>
          </p:cNvPr>
          <p:cNvSpPr/>
          <p:nvPr/>
        </p:nvSpPr>
        <p:spPr>
          <a:xfrm>
            <a:off x="5646988" y="5447933"/>
            <a:ext cx="870427" cy="872823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A5B386E-88DA-1A3F-048E-FA05BE77F328}"/>
              </a:ext>
            </a:extLst>
          </p:cNvPr>
          <p:cNvSpPr/>
          <p:nvPr/>
        </p:nvSpPr>
        <p:spPr>
          <a:xfrm>
            <a:off x="4132789" y="2143846"/>
            <a:ext cx="1316624" cy="138979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7EBB378-F636-7EB5-4B0A-5054D72A7D16}"/>
              </a:ext>
            </a:extLst>
          </p:cNvPr>
          <p:cNvSpPr/>
          <p:nvPr/>
        </p:nvSpPr>
        <p:spPr>
          <a:xfrm>
            <a:off x="4132789" y="5033096"/>
            <a:ext cx="1316624" cy="138979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6305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03561-B823-D468-810F-4CFD51683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F02888D-4E23-8B36-B928-B664090DB5B3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稳健性检验与替代方案：</a:t>
            </a:r>
            <a:endParaRPr lang="en-US" altLang="zh-CN" sz="2400" dirty="0"/>
          </a:p>
          <a:p>
            <a:pPr algn="l"/>
            <a:r>
              <a:rPr lang="zh-CN" altLang="en-US" sz="2400" dirty="0"/>
              <a:t>替代方案的排除</a:t>
            </a:r>
            <a:endParaRPr lang="zh-CN" altLang="zh-CN" sz="3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572B45-DA9A-836B-498E-AFC4164F33BD}"/>
              </a:ext>
            </a:extLst>
          </p:cNvPr>
          <p:cNvSpPr txBox="1"/>
          <p:nvPr/>
        </p:nvSpPr>
        <p:spPr>
          <a:xfrm>
            <a:off x="144379" y="1561711"/>
            <a:ext cx="89996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（一）排除“资源发现预期”解释</a:t>
            </a:r>
          </a:p>
          <a:p>
            <a:pPr>
              <a:buNone/>
            </a:pPr>
            <a:r>
              <a:rPr lang="zh-CN" altLang="en-US" b="1" dirty="0"/>
              <a:t>可能替代逻辑：</a:t>
            </a:r>
          </a:p>
          <a:p>
            <a:pPr>
              <a:buNone/>
            </a:pPr>
            <a:r>
              <a:rPr lang="zh-CN" altLang="en-US" dirty="0"/>
              <a:t>国家不是因为资源难以开发才不主张，而是“预期以后会发现资源”，所以暂时不主张？</a:t>
            </a:r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r>
              <a:rPr lang="zh-CN" altLang="en-US" b="1" dirty="0"/>
              <a:t>检验方式：</a:t>
            </a:r>
            <a:r>
              <a:rPr lang="zh-CN" altLang="en-US" dirty="0"/>
              <a:t>将资源变量前移 </a:t>
            </a:r>
            <a:r>
              <a:rPr lang="en-US" altLang="zh-CN" dirty="0"/>
              <a:t>10 </a:t>
            </a:r>
            <a:r>
              <a:rPr lang="zh-CN" altLang="en-US" dirty="0"/>
              <a:t>年，检验“未来资源发现是否预测当前主张”</a:t>
            </a:r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r>
              <a:rPr lang="zh-CN" altLang="en-US" b="1" dirty="0"/>
              <a:t>结论：</a:t>
            </a:r>
            <a:r>
              <a:rPr lang="zh-CN" altLang="en-US" dirty="0"/>
              <a:t>十年后的资源发现仍与主张负相关→ 说明并非“预期效应”（附录 </a:t>
            </a:r>
            <a:r>
              <a:rPr lang="en-US" altLang="zh-CN" dirty="0"/>
              <a:t>E2</a:t>
            </a:r>
            <a:r>
              <a:rPr lang="zh-CN" altLang="en-US" dirty="0"/>
              <a:t>）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70142DC-6935-E336-555B-E2012ACB48BE}"/>
              </a:ext>
            </a:extLst>
          </p:cNvPr>
          <p:cNvPicPr>
            <a:picLocks/>
          </p:cNvPicPr>
          <p:nvPr/>
        </p:nvPicPr>
        <p:blipFill>
          <a:blip r:embed="rId2"/>
          <a:srcRect t="46801" r="21016" b="1920"/>
          <a:stretch>
            <a:fillRect/>
          </a:stretch>
        </p:blipFill>
        <p:spPr>
          <a:xfrm>
            <a:off x="-30021" y="3899555"/>
            <a:ext cx="4602021" cy="2159001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5D33599F-5EEF-17F6-D0CA-1DCBE306A73E}"/>
              </a:ext>
            </a:extLst>
          </p:cNvPr>
          <p:cNvSpPr/>
          <p:nvPr/>
        </p:nvSpPr>
        <p:spPr>
          <a:xfrm>
            <a:off x="1369365" y="5250746"/>
            <a:ext cx="843471" cy="557011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D4C9F14-8C90-5DF4-63DC-9C9CC3A47AED}"/>
              </a:ext>
            </a:extLst>
          </p:cNvPr>
          <p:cNvPicPr>
            <a:picLocks/>
          </p:cNvPicPr>
          <p:nvPr/>
        </p:nvPicPr>
        <p:blipFill>
          <a:blip r:embed="rId3"/>
          <a:srcRect l="-2457" t="21171" r="15192" b="2608"/>
          <a:stretch>
            <a:fillRect/>
          </a:stretch>
        </p:blipFill>
        <p:spPr>
          <a:xfrm>
            <a:off x="4266515" y="3777161"/>
            <a:ext cx="4877485" cy="2466622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3C4DC441-6A3D-BBD8-14D1-AE22CDD699C8}"/>
              </a:ext>
            </a:extLst>
          </p:cNvPr>
          <p:cNvSpPr/>
          <p:nvPr/>
        </p:nvSpPr>
        <p:spPr>
          <a:xfrm>
            <a:off x="5737678" y="5059103"/>
            <a:ext cx="988403" cy="999453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9405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BA385-70A1-DEA2-0F47-71C8493FD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612714C-0C02-1C19-0607-6A3147F02593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稳健性检验与替代方案：</a:t>
            </a:r>
            <a:endParaRPr lang="en-US" altLang="zh-CN" sz="2400" dirty="0"/>
          </a:p>
          <a:p>
            <a:pPr algn="l"/>
            <a:r>
              <a:rPr lang="zh-CN" altLang="en-US" sz="2400" dirty="0"/>
              <a:t>替代方案的排除</a:t>
            </a:r>
            <a:endParaRPr lang="zh-CN" altLang="zh-CN" sz="3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651DF2-9589-D391-A6B1-1C9825CB459C}"/>
              </a:ext>
            </a:extLst>
          </p:cNvPr>
          <p:cNvSpPr txBox="1"/>
          <p:nvPr/>
        </p:nvSpPr>
        <p:spPr>
          <a:xfrm>
            <a:off x="144378" y="1502364"/>
            <a:ext cx="502029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（二）排除“战略选择解释”</a:t>
            </a:r>
          </a:p>
          <a:p>
            <a:pPr>
              <a:buNone/>
            </a:pPr>
            <a:r>
              <a:rPr lang="zh-CN" altLang="en-US" b="1" dirty="0"/>
              <a:t>可能替代逻辑：</a:t>
            </a:r>
          </a:p>
          <a:p>
            <a:pPr>
              <a:buNone/>
            </a:pPr>
            <a:r>
              <a:rPr lang="zh-CN" altLang="en-US" dirty="0"/>
              <a:t>国家只在“容易打赢”的地方主张，而资源丰富地区往往更难打赢？</a:t>
            </a:r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r>
              <a:rPr lang="zh-CN" altLang="en-US" b="1" dirty="0"/>
              <a:t>作者的反驳逻辑：</a:t>
            </a:r>
          </a:p>
          <a:p>
            <a:pPr>
              <a:buNone/>
            </a:pPr>
            <a:r>
              <a:rPr lang="zh-CN" altLang="en-US" dirty="0"/>
              <a:t>如果这一解释成立，应看到：</a:t>
            </a:r>
          </a:p>
          <a:p>
            <a:pPr>
              <a:buFont typeface="+mj-lt"/>
              <a:buAutoNum type="arabicPeriod"/>
            </a:pPr>
            <a:r>
              <a:rPr lang="zh-CN" altLang="en-US" dirty="0"/>
              <a:t>强国更愿意主张资源丰富地区</a:t>
            </a:r>
          </a:p>
          <a:p>
            <a:pPr>
              <a:buFont typeface="+mj-lt"/>
              <a:buAutoNum type="arabicPeriod"/>
            </a:pPr>
            <a:r>
              <a:rPr lang="zh-CN" altLang="en-US" dirty="0"/>
              <a:t>在实力差距悬殊时，更容易主张资源丰富地区</a:t>
            </a:r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r>
              <a:rPr lang="zh-CN" altLang="en-US" b="1" dirty="0"/>
              <a:t>实证检验：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在双边实力差异的情境下检验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在实力突然变化时检验</a:t>
            </a:r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r>
              <a:rPr lang="zh-CN" altLang="en-US" b="1" dirty="0"/>
              <a:t>结论：</a:t>
            </a:r>
          </a:p>
          <a:p>
            <a:pPr>
              <a:buNone/>
            </a:pPr>
            <a:r>
              <a:rPr lang="zh-CN" altLang="en-US" dirty="0"/>
              <a:t>即使在强国对弱国的情境中，</a:t>
            </a:r>
            <a:br>
              <a:rPr lang="zh-CN" altLang="en-US" dirty="0"/>
            </a:br>
            <a:r>
              <a:rPr lang="zh-CN" altLang="en-US" dirty="0"/>
              <a:t>领土主张与资源仍然呈负相关（附录 </a:t>
            </a:r>
            <a:r>
              <a:rPr lang="en-US" altLang="zh-CN" dirty="0"/>
              <a:t>E3.1</a:t>
            </a:r>
            <a:r>
              <a:rPr lang="zh-CN" altLang="en-US" dirty="0"/>
              <a:t>、</a:t>
            </a:r>
            <a:r>
              <a:rPr lang="en-US" altLang="zh-CN" dirty="0"/>
              <a:t>E3.2</a:t>
            </a:r>
            <a:r>
              <a:rPr lang="zh-CN" altLang="en-US" dirty="0"/>
              <a:t>）</a:t>
            </a:r>
          </a:p>
          <a:p>
            <a:pPr>
              <a:buNone/>
            </a:pPr>
            <a:r>
              <a:rPr lang="zh-CN" altLang="en-US" dirty="0"/>
              <a:t>➡ 说明：负相关并非“战略成本计算”的结果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E1FFB7B-896E-459E-9485-1C407A35D556}"/>
              </a:ext>
            </a:extLst>
          </p:cNvPr>
          <p:cNvPicPr>
            <a:picLocks/>
          </p:cNvPicPr>
          <p:nvPr/>
        </p:nvPicPr>
        <p:blipFill>
          <a:blip r:embed="rId3"/>
          <a:srcRect r="5186"/>
          <a:stretch>
            <a:fillRect/>
          </a:stretch>
        </p:blipFill>
        <p:spPr>
          <a:xfrm>
            <a:off x="4419155" y="4250266"/>
            <a:ext cx="4580467" cy="1549401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55A4A94A-2EDB-6B62-A42B-486C9BC8B329}"/>
              </a:ext>
            </a:extLst>
          </p:cNvPr>
          <p:cNvSpPr/>
          <p:nvPr/>
        </p:nvSpPr>
        <p:spPr>
          <a:xfrm>
            <a:off x="5071057" y="4548173"/>
            <a:ext cx="2193343" cy="20162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5301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9159B-1EA5-C866-6E11-DC6378B14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C787CC2-02A5-552C-11FA-09DAC7142E47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稳健性检验与替代方案：</a:t>
            </a:r>
            <a:endParaRPr lang="en-US" altLang="zh-CN" sz="2400" dirty="0"/>
          </a:p>
          <a:p>
            <a:pPr algn="l"/>
            <a:r>
              <a:rPr lang="zh-CN" altLang="en-US" sz="2400" dirty="0"/>
              <a:t>替代方案的排除</a:t>
            </a:r>
            <a:endParaRPr lang="zh-CN" altLang="zh-CN" sz="3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FDACD4-ED68-2565-F936-4AEA7F66824B}"/>
              </a:ext>
            </a:extLst>
          </p:cNvPr>
          <p:cNvSpPr txBox="1"/>
          <p:nvPr/>
        </p:nvSpPr>
        <p:spPr>
          <a:xfrm>
            <a:off x="144377" y="1528062"/>
            <a:ext cx="375385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（三）排除“未观测异质性”解释</a:t>
            </a:r>
          </a:p>
          <a:p>
            <a:pPr>
              <a:buNone/>
            </a:pPr>
            <a:r>
              <a:rPr lang="zh-CN" altLang="en-US" b="1" dirty="0"/>
              <a:t>检验：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同时加入：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年份固定效应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网格单元固定效应</a:t>
            </a:r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r>
              <a:rPr lang="zh-CN" altLang="en-US" b="1" dirty="0"/>
              <a:t>目的：</a:t>
            </a:r>
          </a:p>
          <a:p>
            <a:pPr>
              <a:buNone/>
            </a:pPr>
            <a:r>
              <a:rPr lang="zh-CN" altLang="en-US" dirty="0"/>
              <a:t>控制所有不随时间变化的地区特征</a:t>
            </a:r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r>
              <a:rPr lang="zh-CN" altLang="en-US" b="1" dirty="0"/>
              <a:t>结论：</a:t>
            </a:r>
          </a:p>
          <a:p>
            <a:pPr>
              <a:buNone/>
            </a:pPr>
            <a:r>
              <a:rPr lang="zh-CN" altLang="en-US" dirty="0"/>
              <a:t>资源发现后，并不会增加领土主张概率（附录 </a:t>
            </a:r>
            <a:r>
              <a:rPr lang="en-US" altLang="zh-CN" dirty="0"/>
              <a:t>D5</a:t>
            </a:r>
            <a:r>
              <a:rPr lang="zh-CN" altLang="en-US" dirty="0"/>
              <a:t>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DA9F889-4A0D-749F-C0DA-A180F6488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603" y="1325618"/>
            <a:ext cx="4663019" cy="2487395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F2165F45-20B9-26F5-869E-A5F8E9490F63}"/>
              </a:ext>
            </a:extLst>
          </p:cNvPr>
          <p:cNvSpPr/>
          <p:nvPr/>
        </p:nvSpPr>
        <p:spPr>
          <a:xfrm>
            <a:off x="5263563" y="2786750"/>
            <a:ext cx="983233" cy="514715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5DA4B3C-CB92-412F-AB6B-3CC31A31A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402" y="3994384"/>
            <a:ext cx="4832598" cy="2584583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194CD1F-7BD9-A7BA-7135-EEAF7BCA847C}"/>
              </a:ext>
            </a:extLst>
          </p:cNvPr>
          <p:cNvSpPr/>
          <p:nvPr/>
        </p:nvSpPr>
        <p:spPr>
          <a:xfrm>
            <a:off x="5156081" y="5358247"/>
            <a:ext cx="983233" cy="514715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8134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D7D73-AF10-1158-E84E-CBE3B9F8F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E88DDF4-511F-1594-97E4-3D774B74603B}"/>
              </a:ext>
            </a:extLst>
          </p:cNvPr>
          <p:cNvSpPr txBox="1"/>
          <p:nvPr/>
        </p:nvSpPr>
        <p:spPr>
          <a:xfrm>
            <a:off x="360947" y="1680244"/>
            <a:ext cx="568371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/>
              <a:t>历史背景：两个争议地区</a:t>
            </a:r>
            <a:endParaRPr lang="zh-CN" altLang="en-US" sz="2000" dirty="0"/>
          </a:p>
          <a:p>
            <a:r>
              <a:rPr lang="zh-CN" altLang="en-US" sz="2000" dirty="0"/>
              <a:t>玻利维亚在</a:t>
            </a:r>
            <a:r>
              <a:rPr lang="en-US" altLang="zh-CN" sz="2000" dirty="0"/>
              <a:t>19–20</a:t>
            </a:r>
            <a:r>
              <a:rPr lang="zh-CN" altLang="en-US" sz="2000" dirty="0"/>
              <a:t>世纪失去两个地区：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Litoral</a:t>
            </a:r>
            <a:r>
              <a:rPr lang="zh-CN" altLang="en-US" sz="2000" dirty="0"/>
              <a:t>（</a:t>
            </a:r>
            <a:r>
              <a:rPr lang="en-US" altLang="zh-CN" sz="2000" dirty="0"/>
              <a:t>1879–1884</a:t>
            </a:r>
            <a:r>
              <a:rPr lang="zh-CN" altLang="en-US" sz="2000" dirty="0"/>
              <a:t>，输给智利）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Chaco</a:t>
            </a:r>
            <a:r>
              <a:rPr lang="zh-CN" altLang="en-US" sz="2000" dirty="0"/>
              <a:t>（</a:t>
            </a:r>
            <a:r>
              <a:rPr lang="en-US" altLang="zh-CN" sz="2000" dirty="0"/>
              <a:t>1932–1935</a:t>
            </a:r>
            <a:r>
              <a:rPr lang="zh-CN" altLang="en-US" sz="2000" dirty="0"/>
              <a:t>，与巴拉圭争端）</a:t>
            </a:r>
          </a:p>
          <a:p>
            <a:pPr>
              <a:buNone/>
            </a:pPr>
            <a:r>
              <a:rPr lang="zh-CN" altLang="en-US" sz="2000" b="1" dirty="0"/>
              <a:t>核心谜题：</a:t>
            </a:r>
            <a:endParaRPr lang="zh-CN" altLang="en-US" sz="2000" dirty="0"/>
          </a:p>
          <a:p>
            <a:r>
              <a:rPr lang="zh-CN" altLang="en-US" sz="2000" dirty="0"/>
              <a:t>玻利维亚对两个地区都有历史权利</a:t>
            </a:r>
          </a:p>
          <a:p>
            <a:r>
              <a:rPr lang="zh-CN" altLang="en-US" sz="2000" dirty="0"/>
              <a:t>但实际政策却完全不同：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对 </a:t>
            </a:r>
            <a:r>
              <a:rPr lang="en-US" altLang="zh-CN" sz="2000" dirty="0"/>
              <a:t>Litoral</a:t>
            </a:r>
            <a:r>
              <a:rPr lang="zh-CN" altLang="en-US" sz="2000" dirty="0"/>
              <a:t>：持续强烈的领土主张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对 </a:t>
            </a:r>
            <a:r>
              <a:rPr lang="en-US" altLang="zh-CN" sz="2000" dirty="0"/>
              <a:t>Chaco</a:t>
            </a:r>
            <a:r>
              <a:rPr lang="zh-CN" altLang="en-US" sz="2000" dirty="0"/>
              <a:t>：几乎没有正式主张</a:t>
            </a:r>
          </a:p>
          <a:p>
            <a:pPr>
              <a:buNone/>
            </a:pPr>
            <a:r>
              <a:rPr lang="zh-CN" altLang="en-US" sz="2000" dirty="0"/>
              <a:t>→ 传统理论难以解释这一差异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6D5A1DA-6529-A4C1-8FF9-65F420526EB9}"/>
              </a:ext>
            </a:extLst>
          </p:cNvPr>
          <p:cNvGraphicFramePr>
            <a:graphicFrameLocks noGrp="1"/>
          </p:cNvGraphicFramePr>
          <p:nvPr/>
        </p:nvGraphicFramePr>
        <p:xfrm>
          <a:off x="200626" y="4985477"/>
          <a:ext cx="8742747" cy="1097280"/>
        </p:xfrm>
        <a:graphic>
          <a:graphicData uri="http://schemas.openxmlformats.org/drawingml/2006/table">
            <a:tbl>
              <a:tblPr/>
              <a:tblGrid>
                <a:gridCol w="1373405">
                  <a:extLst>
                    <a:ext uri="{9D8B030D-6E8A-4147-A177-3AD203B41FA5}">
                      <a16:colId xmlns:a16="http://schemas.microsoft.com/office/drawing/2014/main" val="592068734"/>
                    </a:ext>
                  </a:extLst>
                </a:gridCol>
                <a:gridCol w="2569945">
                  <a:extLst>
                    <a:ext uri="{9D8B030D-6E8A-4147-A177-3AD203B41FA5}">
                      <a16:colId xmlns:a16="http://schemas.microsoft.com/office/drawing/2014/main" val="4001847088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412104104"/>
                    </a:ext>
                  </a:extLst>
                </a:gridCol>
                <a:gridCol w="2827722">
                  <a:extLst>
                    <a:ext uri="{9D8B030D-6E8A-4147-A177-3AD203B41FA5}">
                      <a16:colId xmlns:a16="http://schemas.microsoft.com/office/drawing/2014/main" val="15381999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地区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资源类型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资本密集度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经济特征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382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Chaco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石油、天然气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高</a:t>
                      </a:r>
                      <a:endParaRPr lang="zh-CN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开发门槛高、投资需求大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011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Litoral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少量矿产（已衰退）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低</a:t>
                      </a:r>
                      <a:endParaRPr lang="zh-CN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缺乏高资本密集资源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915559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04349104-5611-04AF-D139-479639F71CB6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案例研究：</a:t>
            </a:r>
            <a:endParaRPr lang="en-US" altLang="zh-CN" sz="2400" dirty="0"/>
          </a:p>
          <a:p>
            <a:pPr algn="l"/>
            <a:r>
              <a:rPr lang="zh-CN" altLang="en-US" sz="2400" dirty="0"/>
              <a:t>玻利维亚</a:t>
            </a:r>
            <a:endParaRPr lang="zh-CN" altLang="zh-CN" sz="3600" dirty="0"/>
          </a:p>
        </p:txBody>
      </p:sp>
    </p:spTree>
    <p:extLst>
      <p:ext uri="{BB962C8B-B14F-4D97-AF65-F5344CB8AC3E}">
        <p14:creationId xmlns:p14="http://schemas.microsoft.com/office/powerpoint/2010/main" val="30829446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2B022-6F9D-A6C8-574B-90B4123F9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4BC8CB58-4FA4-3146-5037-49E2057DB922}"/>
              </a:ext>
            </a:extLst>
          </p:cNvPr>
          <p:cNvSpPr txBox="1"/>
          <p:nvPr/>
        </p:nvSpPr>
        <p:spPr>
          <a:xfrm>
            <a:off x="293569" y="1564933"/>
            <a:ext cx="416292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000" dirty="0"/>
              <a:t>Chaco </a:t>
            </a:r>
            <a:r>
              <a:rPr lang="zh-CN" altLang="en-US" sz="2000" dirty="0"/>
              <a:t>的特点：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高资本密集度资源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开发需要大规模投资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容易被少数精英或外国公司控制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普通民众难以直接受益</a:t>
            </a:r>
          </a:p>
          <a:p>
            <a:pPr>
              <a:buNone/>
            </a:pPr>
            <a:r>
              <a:rPr lang="zh-CN" altLang="en-US" sz="2000" dirty="0"/>
              <a:t>政治后果：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国内公众与反对派强烈质疑：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“战争只是为少数利益集团服务”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对 </a:t>
            </a:r>
            <a:r>
              <a:rPr lang="en-US" altLang="zh-CN" sz="2000" dirty="0"/>
              <a:t>Chaco </a:t>
            </a:r>
            <a:r>
              <a:rPr lang="zh-CN" altLang="en-US" sz="2000" dirty="0"/>
              <a:t>的主张：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政治成本高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缺乏社会支持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BCAF666-1731-E32B-63E4-DBF244CD55D2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案例研究：</a:t>
            </a:r>
            <a:endParaRPr lang="en-US" altLang="zh-CN" sz="2400" dirty="0"/>
          </a:p>
          <a:p>
            <a:pPr algn="l"/>
            <a:r>
              <a:rPr lang="zh-CN" altLang="en-US" sz="2400" dirty="0"/>
              <a:t>玻利维亚</a:t>
            </a:r>
            <a:endParaRPr lang="zh-CN" altLang="zh-CN" sz="36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26651D1-EEDD-F304-F026-24F1F87C4A6A}"/>
              </a:ext>
            </a:extLst>
          </p:cNvPr>
          <p:cNvSpPr txBox="1"/>
          <p:nvPr/>
        </p:nvSpPr>
        <p:spPr>
          <a:xfrm>
            <a:off x="4456496" y="1507415"/>
            <a:ext cx="429286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/>
              <a:t>案例研究结论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玻利维亚案例表明：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高资本密集度资源 →引发强烈的国内分配担忧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分配冲突 →提高领土主张的政治成本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最终结果：</a:t>
            </a:r>
            <a:br>
              <a:rPr lang="zh-CN" altLang="en-US" sz="2000" dirty="0"/>
            </a:br>
            <a:r>
              <a:rPr lang="zh-CN" altLang="en-US" sz="2000" dirty="0"/>
              <a:t>资源越“有价值”，反而越不愿主张</a:t>
            </a:r>
          </a:p>
          <a:p>
            <a:pPr>
              <a:buNone/>
            </a:pPr>
            <a:r>
              <a:rPr lang="zh-CN" altLang="en-US" sz="2000" b="1" dirty="0"/>
              <a:t>与主回归结果一致：</a:t>
            </a:r>
            <a:endParaRPr lang="zh-CN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机制层面验证了定量发现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支持论文的核心假说</a:t>
            </a:r>
          </a:p>
        </p:txBody>
      </p:sp>
    </p:spTree>
    <p:extLst>
      <p:ext uri="{BB962C8B-B14F-4D97-AF65-F5344CB8AC3E}">
        <p14:creationId xmlns:p14="http://schemas.microsoft.com/office/powerpoint/2010/main" val="4308599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8CBCA3D-2704-4B1F-540A-2FE1A0B1E623}"/>
              </a:ext>
            </a:extLst>
          </p:cNvPr>
          <p:cNvSpPr txBox="1"/>
          <p:nvPr/>
        </p:nvSpPr>
        <p:spPr>
          <a:xfrm>
            <a:off x="144378" y="1461344"/>
            <a:ext cx="40513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1. </a:t>
            </a:r>
            <a:r>
              <a:rPr lang="zh-CN" altLang="en-US" b="1" dirty="0"/>
              <a:t>理论贡献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与传统理论相反：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资源越“有价值”，未必越容易引发领土主张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实证结果表明：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矿产、石油等高资本密集资源</a:t>
            </a:r>
            <a:br>
              <a:rPr lang="zh-CN" altLang="en-US" dirty="0"/>
            </a:br>
            <a:r>
              <a:rPr lang="zh-CN" altLang="en-US" dirty="0"/>
              <a:t>→ 显著降低领土主张概率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>
              <a:buNone/>
            </a:pPr>
            <a:r>
              <a:rPr lang="en-US" altLang="zh-CN" b="1" dirty="0"/>
              <a:t>2. </a:t>
            </a:r>
            <a:r>
              <a:rPr lang="zh-CN" altLang="en-US" b="1" dirty="0"/>
              <a:t>机制创新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不只是说“资源重要”，而是细分为：</a:t>
            </a:r>
          </a:p>
          <a:p>
            <a:r>
              <a:rPr lang="zh-CN" altLang="en-US" b="1" dirty="0"/>
              <a:t>资源类型 → 资本密集度 → 收益分配结构 → 国内政治成本 → 主张意愿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这是一个比“资源诅咒 </a:t>
            </a:r>
            <a:r>
              <a:rPr lang="en-US" altLang="zh-CN" dirty="0"/>
              <a:t>/ </a:t>
            </a:r>
            <a:r>
              <a:rPr lang="zh-CN" altLang="en-US" dirty="0"/>
              <a:t>资源冲突”文献更细致的机制链条</a:t>
            </a:r>
            <a:endParaRPr lang="en-US" altLang="zh-CN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1511017-1A8F-49CB-CC77-C2C385FBE1AE}"/>
              </a:ext>
            </a:extLst>
          </p:cNvPr>
          <p:cNvSpPr txBox="1"/>
          <p:nvPr/>
        </p:nvSpPr>
        <p:spPr>
          <a:xfrm>
            <a:off x="4644188" y="1847793"/>
            <a:ext cx="45719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方法贡献</a:t>
            </a:r>
          </a:p>
          <a:p>
            <a:r>
              <a:rPr lang="zh-CN" altLang="en-US" dirty="0"/>
              <a:t>构建了一个非常细致的</a:t>
            </a:r>
          </a:p>
          <a:p>
            <a:r>
              <a:rPr lang="en-US" altLang="zh-CN" b="1" dirty="0"/>
              <a:t>grid-year × 170 </a:t>
            </a:r>
            <a:r>
              <a:rPr lang="zh-CN" altLang="en-US" b="1" dirty="0"/>
              <a:t>年的空间面板数据</a:t>
            </a:r>
            <a:endParaRPr lang="zh-CN" altLang="en-US" dirty="0"/>
          </a:p>
          <a:p>
            <a:r>
              <a:rPr lang="zh-CN" altLang="en-US" dirty="0"/>
              <a:t>结合：</a:t>
            </a:r>
          </a:p>
          <a:p>
            <a:pPr lvl="1"/>
            <a:r>
              <a:rPr lang="zh-CN" altLang="en-US" dirty="0"/>
              <a:t>历史 </a:t>
            </a:r>
            <a:r>
              <a:rPr lang="en-US" altLang="zh-CN" dirty="0"/>
              <a:t>GIS</a:t>
            </a:r>
          </a:p>
          <a:p>
            <a:pPr lvl="1"/>
            <a:r>
              <a:rPr lang="zh-CN" altLang="en-US" dirty="0"/>
              <a:t>手工编码领土主张</a:t>
            </a:r>
          </a:p>
          <a:p>
            <a:pPr lvl="1"/>
            <a:r>
              <a:rPr lang="zh-CN" altLang="en-US" dirty="0"/>
              <a:t>空间滞后面板模型</a:t>
            </a:r>
          </a:p>
          <a:p>
            <a:r>
              <a:rPr lang="zh-CN" altLang="en-US" dirty="0"/>
              <a:t>提供了一个很好的研究范式</a:t>
            </a:r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r>
              <a:rPr lang="en-US" altLang="zh-CN" b="1" dirty="0"/>
              <a:t>4. </a:t>
            </a:r>
            <a:r>
              <a:rPr lang="zh-CN" altLang="en-US" b="1" dirty="0"/>
              <a:t>实证说服力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多重稳健性检验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机制检验</a:t>
            </a:r>
            <a:r>
              <a:rPr lang="en-US" altLang="zh-CN" dirty="0"/>
              <a:t>+</a:t>
            </a:r>
            <a:r>
              <a:rPr lang="zh-CN" altLang="en-US" dirty="0"/>
              <a:t>案例研究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定性定量结合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后续：外部有效性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286841D-CD9F-C095-790C-B987FE12FBC2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总结讨论：</a:t>
            </a:r>
            <a:endParaRPr lang="en-US" altLang="zh-CN" sz="2400" dirty="0"/>
          </a:p>
          <a:p>
            <a:pPr algn="l"/>
            <a:r>
              <a:rPr lang="zh-CN" altLang="en-US" sz="2400" dirty="0"/>
              <a:t>核心贡献</a:t>
            </a:r>
            <a:endParaRPr lang="zh-CN" altLang="zh-CN" sz="3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495DE-D3CC-8DCB-473A-1C82A2C69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FE46E25-F250-37C8-3D49-8176E8E90698}"/>
              </a:ext>
            </a:extLst>
          </p:cNvPr>
          <p:cNvSpPr txBox="1"/>
          <p:nvPr/>
        </p:nvSpPr>
        <p:spPr>
          <a:xfrm>
            <a:off x="144380" y="1680244"/>
            <a:ext cx="89996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1. </a:t>
            </a:r>
            <a:r>
              <a:rPr lang="zh-CN" altLang="en-US" b="1" dirty="0"/>
              <a:t>因果识别的有限性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观察性研究本质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资源类型并非随机分布，可能与地理可达性、国家发展水平等均相关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b="1" dirty="0"/>
              <a:t>2. </a:t>
            </a:r>
            <a:r>
              <a:rPr lang="zh-CN" altLang="en-US" b="1" dirty="0"/>
              <a:t>历史数据编码误差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地理编码误差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争端起止时间的主观性界定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不同资料来源的一致性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endParaRPr lang="en-US" altLang="zh-C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0FB5C32-08E9-CF26-3E8F-E99FCBF6C482}"/>
              </a:ext>
            </a:extLst>
          </p:cNvPr>
          <p:cNvSpPr txBox="1">
            <a:spLocks/>
          </p:cNvSpPr>
          <p:nvPr/>
        </p:nvSpPr>
        <p:spPr>
          <a:xfrm>
            <a:off x="144378" y="537244"/>
            <a:ext cx="8999621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总结讨论：</a:t>
            </a:r>
            <a:endParaRPr lang="en-US" altLang="zh-CN" sz="2400" dirty="0"/>
          </a:p>
          <a:p>
            <a:pPr algn="l"/>
            <a:r>
              <a:rPr lang="zh-CN" altLang="en-US" sz="2400" dirty="0"/>
              <a:t>潜在局限</a:t>
            </a:r>
            <a:endParaRPr lang="zh-CN" altLang="zh-CN" sz="3600" dirty="0"/>
          </a:p>
        </p:txBody>
      </p:sp>
    </p:spTree>
    <p:extLst>
      <p:ext uri="{BB962C8B-B14F-4D97-AF65-F5344CB8AC3E}">
        <p14:creationId xmlns:p14="http://schemas.microsoft.com/office/powerpoint/2010/main" val="24900167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65D66-97C6-983E-1984-4818AE35D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C6F13DB-6385-D27A-CBAB-CDD5340E5BD8}"/>
              </a:ext>
            </a:extLst>
          </p:cNvPr>
          <p:cNvSpPr txBox="1"/>
          <p:nvPr/>
        </p:nvSpPr>
        <p:spPr>
          <a:xfrm>
            <a:off x="2469739" y="1748627"/>
            <a:ext cx="4204518" cy="1260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6000" b="1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感谢聆听！</a:t>
            </a:r>
            <a:endParaRPr lang="en" altLang="zh-CN" sz="6000" b="1" dirty="0">
              <a:solidFill>
                <a:schemeClr val="tx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94079A-C88D-5A55-9892-9B938E07B05A}"/>
              </a:ext>
            </a:extLst>
          </p:cNvPr>
          <p:cNvSpPr txBox="1"/>
          <p:nvPr/>
        </p:nvSpPr>
        <p:spPr>
          <a:xfrm>
            <a:off x="2911127" y="4143940"/>
            <a:ext cx="3321743" cy="1286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杨洁菡 何柄岐 修小苏</a:t>
            </a:r>
            <a:endParaRPr kumimoji="1"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北京外国语大学 国际关系学院</a:t>
            </a:r>
            <a:endParaRPr kumimoji="1"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2026</a:t>
            </a:r>
            <a:r>
              <a:rPr kumimoji="1"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年</a:t>
            </a:r>
            <a:r>
              <a:rPr kumimoji="1"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2</a:t>
            </a:r>
            <a:r>
              <a:rPr kumimoji="1"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4043240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13777</TotalTime>
  <Words>3508</Words>
  <Application>Microsoft Macintosh PowerPoint</Application>
  <PresentationFormat>全屏显示(4:3)</PresentationFormat>
  <Paragraphs>460</Paragraphs>
  <Slides>43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9" baseType="lpstr">
      <vt:lpstr>等线</vt:lpstr>
      <vt:lpstr>华文楷体</vt:lpstr>
      <vt:lpstr>KaiTi</vt:lpstr>
      <vt:lpstr>宋体</vt:lpstr>
      <vt:lpstr>Google Sans</vt:lpstr>
      <vt:lpstr>Google Sans Text</vt:lpstr>
      <vt:lpstr>Mallory</vt:lpstr>
      <vt:lpstr>NotoSansCJKsc-Regular</vt:lpstr>
      <vt:lpstr>NotoSansCJKsc-Regular,Italic</vt:lpstr>
      <vt:lpstr>Arial</vt:lpstr>
      <vt:lpstr>Calibri</vt:lpstr>
      <vt:lpstr>Courier New</vt:lpstr>
      <vt:lpstr>Symbol</vt:lpstr>
      <vt:lpstr>Times New Roman</vt:lpstr>
      <vt:lpstr>Wingdings</vt:lpstr>
      <vt:lpstr>Office Theme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基础构造数据 资源收益集中程度的处理 </vt:lpstr>
      <vt:lpstr>Table 3：主回归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KZzzzzzz</dc:creator>
  <dc:description>generated using python-pptx</dc:description>
  <cp:lastModifiedBy>office user</cp:lastModifiedBy>
  <cp:revision>83</cp:revision>
  <dcterms:created xsi:type="dcterms:W3CDTF">2026-02-04T03:07:22Z</dcterms:created>
  <dcterms:modified xsi:type="dcterms:W3CDTF">2026-02-15T02:06:23Z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A7E5315594B20BACEAB782690E58D3EC_42</vt:lpwstr>
  </property>
  <property fmtid="{D5CDD505-2E9C-101B-9397-08002B2CF9AE}" pid="3" name="KSOProductBuildVer">
    <vt:lpwstr>2052-6.14.0.8924</vt:lpwstr>
  </property>
</Properties>
</file>