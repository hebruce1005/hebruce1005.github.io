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21"/>
  </p:handoutMasterIdLst>
  <p:sldIdLst>
    <p:sldId id="257" r:id="rId3"/>
    <p:sldId id="258" r:id="rId4"/>
    <p:sldId id="260" r:id="rId5"/>
    <p:sldId id="286" r:id="rId6"/>
    <p:sldId id="261" r:id="rId7"/>
    <p:sldId id="262" r:id="rId8"/>
    <p:sldId id="263" r:id="rId9"/>
    <p:sldId id="264" r:id="rId10"/>
    <p:sldId id="265" r:id="rId11"/>
    <p:sldId id="266" r:id="rId12"/>
    <p:sldId id="275" r:id="rId13"/>
    <p:sldId id="267" r:id="rId14"/>
    <p:sldId id="269" r:id="rId15"/>
    <p:sldId id="268" r:id="rId16"/>
    <p:sldId id="270" r:id="rId17"/>
    <p:sldId id="271" r:id="rId19"/>
    <p:sldId id="259" r:id="rId2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1.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0.xml"/><Relationship Id="rId2" Type="http://schemas.openxmlformats.org/officeDocument/2006/relationships/image" Target="../media/image1.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xml"/><Relationship Id="rId2" Type="http://schemas.openxmlformats.org/officeDocument/2006/relationships/image" Target="../media/image1.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C:/Users/Administrator/AppData/Local/Temp/picturecompress_20220520140653/output_6.pngoutput_6"/>
          <p:cNvPicPr>
            <a:picLocks noChangeAspect="1"/>
          </p:cNvPicPr>
          <p:nvPr/>
        </p:nvPicPr>
        <p:blipFill>
          <a:blip r:embed="rId1">
            <a:duotone>
              <a:schemeClr val="accent6">
                <a:shade val="45000"/>
                <a:satMod val="135000"/>
              </a:schemeClr>
              <a:prstClr val="white"/>
            </a:duotone>
          </a:blip>
          <a:srcRect/>
          <a:stretch>
            <a:fillRect/>
          </a:stretch>
        </p:blipFill>
        <p:spPr>
          <a:xfrm>
            <a:off x="4335603" y="2352675"/>
            <a:ext cx="7856397" cy="4505325"/>
          </a:xfrm>
          <a:prstGeom prst="rect">
            <a:avLst/>
          </a:prstGeom>
        </p:spPr>
      </p:pic>
      <p:sp>
        <p:nvSpPr>
          <p:cNvPr id="21" name="任意多边形: 形状 20"/>
          <p:cNvSpPr/>
          <p:nvPr/>
        </p:nvSpPr>
        <p:spPr>
          <a:xfrm>
            <a:off x="0" y="0"/>
            <a:ext cx="3667592" cy="3429000"/>
          </a:xfrm>
          <a:custGeom>
            <a:avLst/>
            <a:gdLst>
              <a:gd name="connsiteX0" fmla="*/ 0 w 3667592"/>
              <a:gd name="connsiteY0" fmla="*/ 0 h 3429000"/>
              <a:gd name="connsiteX1" fmla="*/ 3559647 w 3667592"/>
              <a:gd name="connsiteY1" fmla="*/ 0 h 3429000"/>
              <a:gd name="connsiteX2" fmla="*/ 3613129 w 3667592"/>
              <a:gd name="connsiteY2" fmla="*/ 207996 h 3429000"/>
              <a:gd name="connsiteX3" fmla="*/ 3667592 w 3667592"/>
              <a:gd name="connsiteY3" fmla="*/ 748259 h 3429000"/>
              <a:gd name="connsiteX4" fmla="*/ 986851 w 3667592"/>
              <a:gd name="connsiteY4" fmla="*/ 3429000 h 3429000"/>
              <a:gd name="connsiteX5" fmla="*/ 189681 w 3667592"/>
              <a:gd name="connsiteY5" fmla="*/ 3308479 h 3429000"/>
              <a:gd name="connsiteX6" fmla="*/ 0 w 3667592"/>
              <a:gd name="connsiteY6" fmla="*/ 3239055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92" h="3429000">
                <a:moveTo>
                  <a:pt x="0" y="0"/>
                </a:moveTo>
                <a:lnTo>
                  <a:pt x="3559647" y="0"/>
                </a:lnTo>
                <a:lnTo>
                  <a:pt x="3613129" y="207996"/>
                </a:lnTo>
                <a:cubicBezTo>
                  <a:pt x="3648839" y="382506"/>
                  <a:pt x="3667592" y="563193"/>
                  <a:pt x="3667592" y="748259"/>
                </a:cubicBezTo>
                <a:cubicBezTo>
                  <a:pt x="3667592" y="2228791"/>
                  <a:pt x="2467383" y="3429000"/>
                  <a:pt x="986851" y="3429000"/>
                </a:cubicBezTo>
                <a:cubicBezTo>
                  <a:pt x="709251" y="3429000"/>
                  <a:pt x="441507" y="3386805"/>
                  <a:pt x="189681" y="3308479"/>
                </a:cubicBezTo>
                <a:lnTo>
                  <a:pt x="0" y="3239055"/>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椭圆 7"/>
          <p:cNvSpPr/>
          <p:nvPr/>
        </p:nvSpPr>
        <p:spPr>
          <a:xfrm>
            <a:off x="3218927" y="5988109"/>
            <a:ext cx="2117324" cy="21173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íṧliḋè"/>
          <p:cNvSpPr/>
          <p:nvPr/>
        </p:nvSpPr>
        <p:spPr>
          <a:xfrm>
            <a:off x="1511498" y="3267417"/>
            <a:ext cx="436354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dist"/>
            <a:r>
              <a:rPr lang="en-US" altLang="zh-CN" sz="1200" dirty="0">
                <a:solidFill>
                  <a:schemeClr val="tx1"/>
                </a:solidFill>
                <a:latin typeface="微软雅黑" charset="-122"/>
                <a:ea typeface="微软雅黑" charset="-122"/>
              </a:rPr>
              <a:t>BEIJING  FOREIGN  STUDIES  UNIVERSITY </a:t>
            </a:r>
            <a:endParaRPr lang="en-US" altLang="zh-CN" sz="1200" dirty="0">
              <a:solidFill>
                <a:schemeClr val="tx1"/>
              </a:solidFill>
              <a:latin typeface="微软雅黑" charset="-122"/>
              <a:ea typeface="微软雅黑" charset="-122"/>
            </a:endParaRPr>
          </a:p>
        </p:txBody>
      </p:sp>
      <p:pic>
        <p:nvPicPr>
          <p:cNvPr id="27" name="幻灯片缩放定位 26">
            <a:hlinkClick r:id="rId2" action="ppaction://hlinksldjump"/>
          </p:cNvPr>
          <p:cNvPicPr>
            <a:picLocks noGrp="1" noRot="1" noChangeAspect="1" noMove="1" noResize="1" noEditPoints="1" noAdjustHandles="1" noChangeArrowheads="1" noChangeShapeType="1"/>
          </p:cNvPicPr>
          <p:nvPr/>
        </p:nvPicPr>
        <p:blipFill>
          <a:blip r:embed="rId3"/>
          <a:stretch>
            <a:fillRect/>
          </a:stretch>
        </p:blipFill>
        <p:spPr>
          <a:xfrm>
            <a:off x="8652681" y="5339526"/>
            <a:ext cx="673290" cy="378726"/>
          </a:xfrm>
          <a:prstGeom prst="rect">
            <a:avLst/>
          </a:prstGeom>
          <a:ln w="3175">
            <a:solidFill>
              <a:prstClr val="lightGray"/>
            </a:solidFill>
          </a:ln>
          <a:effectLst>
            <a:softEdge rad="1270000"/>
          </a:effectLst>
        </p:spPr>
      </p:pic>
      <p:pic>
        <p:nvPicPr>
          <p:cNvPr id="13" name="图片 12" descr="C:/Users/Administrator/AppData/Local/Temp/picturecompress_20220520140653/output_23.pngoutput_23"/>
          <p:cNvPicPr>
            <a:picLocks noChangeAspect="1"/>
          </p:cNvPicPr>
          <p:nvPr/>
        </p:nvPicPr>
        <p:blipFill>
          <a:blip r:embed="rId4"/>
          <a:stretch>
            <a:fillRect/>
          </a:stretch>
        </p:blipFill>
        <p:spPr>
          <a:xfrm>
            <a:off x="1511093" y="958686"/>
            <a:ext cx="1925840" cy="441018"/>
          </a:xfrm>
          <a:prstGeom prst="rect">
            <a:avLst/>
          </a:prstGeom>
        </p:spPr>
      </p:pic>
      <p:sp>
        <p:nvSpPr>
          <p:cNvPr id="3" name="文本框 2"/>
          <p:cNvSpPr txBox="1"/>
          <p:nvPr/>
        </p:nvSpPr>
        <p:spPr>
          <a:xfrm>
            <a:off x="1261110" y="3882390"/>
            <a:ext cx="1169035" cy="521970"/>
          </a:xfrm>
          <a:prstGeom prst="rect">
            <a:avLst/>
          </a:prstGeom>
          <a:noFill/>
        </p:spPr>
        <p:txBody>
          <a:bodyPr wrap="none" rtlCol="0">
            <a:noAutofit/>
          </a:bodyPr>
          <a:lstStyle/>
          <a:p>
            <a:r>
              <a:rPr lang="zh-CN" altLang="en-US" sz="2400" dirty="0" smtClean="0">
                <a:solidFill>
                  <a:schemeClr val="bg1"/>
                </a:solidFill>
                <a:latin typeface="宋体" charset="0"/>
                <a:ea typeface="宋体" charset="0"/>
              </a:rPr>
              <a:t>汇报人</a:t>
            </a:r>
            <a:endParaRPr lang="zh-CN" altLang="en-US" sz="2400" dirty="0" smtClean="0">
              <a:solidFill>
                <a:schemeClr val="bg1"/>
              </a:solidFill>
              <a:latin typeface="宋体" charset="0"/>
              <a:ea typeface="宋体" charset="0"/>
            </a:endParaRPr>
          </a:p>
        </p:txBody>
      </p:sp>
      <p:sp>
        <p:nvSpPr>
          <p:cNvPr id="18" name="文本框 17"/>
          <p:cNvSpPr txBox="1"/>
          <p:nvPr/>
        </p:nvSpPr>
        <p:spPr>
          <a:xfrm>
            <a:off x="2058035" y="3922395"/>
            <a:ext cx="2515235" cy="521335"/>
          </a:xfrm>
          <a:prstGeom prst="rect">
            <a:avLst/>
          </a:prstGeom>
          <a:noFill/>
        </p:spPr>
        <p:txBody>
          <a:bodyPr wrap="none" rtlCol="0">
            <a:noAutofit/>
          </a:bodyPr>
          <a:lstStyle/>
          <a:p>
            <a:r>
              <a:rPr lang="zh-CN" altLang="en-US" sz="2800" b="1" dirty="0">
                <a:solidFill>
                  <a:schemeClr val="tx1"/>
                </a:solidFill>
                <a:latin typeface="微软雅黑" charset="0"/>
                <a:ea typeface="微软雅黑" charset="0"/>
                <a:cs typeface="微软雅黑" charset="0"/>
              </a:rPr>
              <a:t>北外国关</a:t>
            </a:r>
            <a:r>
              <a:rPr lang="en-US" altLang="zh-CN" sz="2800" b="1" dirty="0">
                <a:solidFill>
                  <a:schemeClr val="tx1"/>
                </a:solidFill>
                <a:latin typeface="微软雅黑" charset="0"/>
                <a:ea typeface="微软雅黑" charset="0"/>
                <a:cs typeface="微软雅黑" charset="0"/>
              </a:rPr>
              <a:t> </a:t>
            </a:r>
            <a:r>
              <a:rPr lang="zh-CN" altLang="en-US" sz="2800" b="1" dirty="0">
                <a:solidFill>
                  <a:schemeClr val="tx1"/>
                </a:solidFill>
                <a:latin typeface="微软雅黑" charset="0"/>
                <a:ea typeface="微软雅黑" charset="0"/>
                <a:cs typeface="微软雅黑" charset="0"/>
              </a:rPr>
              <a:t>何柄岐</a:t>
            </a:r>
            <a:r>
              <a:rPr lang="en-US" altLang="zh-CN" sz="2800" b="1" dirty="0">
                <a:solidFill>
                  <a:schemeClr val="tx1"/>
                </a:solidFill>
                <a:latin typeface="微软雅黑" charset="0"/>
                <a:ea typeface="微软雅黑" charset="0"/>
                <a:cs typeface="微软雅黑" charset="0"/>
              </a:rPr>
              <a:t> </a:t>
            </a:r>
            <a:endParaRPr lang="zh-CN" altLang="en-US" sz="2800" b="1" dirty="0">
              <a:solidFill>
                <a:schemeClr val="tx1"/>
              </a:solidFill>
              <a:latin typeface="微软雅黑" charset="0"/>
              <a:ea typeface="微软雅黑" charset="0"/>
              <a:cs typeface="微软雅黑" charset="0"/>
            </a:endParaRPr>
          </a:p>
        </p:txBody>
      </p:sp>
      <p:sp>
        <p:nvSpPr>
          <p:cNvPr id="4" name="文本框 3"/>
          <p:cNvSpPr txBox="1"/>
          <p:nvPr/>
        </p:nvSpPr>
        <p:spPr>
          <a:xfrm>
            <a:off x="5102561" y="3921792"/>
            <a:ext cx="2807335" cy="521970"/>
          </a:xfrm>
          <a:prstGeom prst="rect">
            <a:avLst/>
          </a:prstGeom>
          <a:noFill/>
        </p:spPr>
        <p:txBody>
          <a:bodyPr wrap="none" rtlCol="0">
            <a:spAutoFit/>
          </a:bodyPr>
          <a:lstStyle/>
          <a:p>
            <a:r>
              <a:rPr lang="en-US" altLang="zh-CN" sz="2800" b="1" dirty="0" smtClean="0">
                <a:solidFill>
                  <a:schemeClr val="tx1"/>
                </a:solidFill>
                <a:latin typeface="微软雅黑" charset="0"/>
                <a:ea typeface="微软雅黑" charset="0"/>
                <a:cs typeface="微软雅黑" charset="0"/>
              </a:rPr>
              <a:t>2025</a:t>
            </a:r>
            <a:r>
              <a:rPr lang="zh-CN" altLang="en-US" sz="2800" b="1" dirty="0" smtClean="0">
                <a:solidFill>
                  <a:schemeClr val="tx1"/>
                </a:solidFill>
                <a:latin typeface="微软雅黑" charset="0"/>
                <a:ea typeface="微软雅黑" charset="0"/>
                <a:cs typeface="微软雅黑" charset="0"/>
              </a:rPr>
              <a:t>年</a:t>
            </a:r>
            <a:r>
              <a:rPr lang="en-US" altLang="zh-CN" sz="2800" b="1" dirty="0" smtClean="0">
                <a:solidFill>
                  <a:schemeClr val="tx1"/>
                </a:solidFill>
                <a:latin typeface="微软雅黑" charset="0"/>
                <a:ea typeface="微软雅黑" charset="0"/>
                <a:cs typeface="微软雅黑" charset="0"/>
              </a:rPr>
              <a:t>5</a:t>
            </a:r>
            <a:r>
              <a:rPr lang="zh-CN" altLang="en-US" sz="2800" b="1" dirty="0" smtClean="0">
                <a:solidFill>
                  <a:schemeClr val="tx1"/>
                </a:solidFill>
                <a:latin typeface="微软雅黑" charset="0"/>
                <a:ea typeface="微软雅黑" charset="0"/>
                <a:cs typeface="微软雅黑" charset="0"/>
              </a:rPr>
              <a:t>月</a:t>
            </a:r>
            <a:r>
              <a:rPr lang="en-US" altLang="zh-CN" sz="2800" b="1" dirty="0" smtClean="0">
                <a:solidFill>
                  <a:schemeClr val="tx1"/>
                </a:solidFill>
                <a:latin typeface="微软雅黑" charset="0"/>
                <a:ea typeface="微软雅黑" charset="0"/>
                <a:cs typeface="微软雅黑" charset="0"/>
              </a:rPr>
              <a:t>11</a:t>
            </a:r>
            <a:r>
              <a:rPr lang="zh-CN" altLang="en-US" sz="2800" b="1" dirty="0" smtClean="0">
                <a:solidFill>
                  <a:schemeClr val="tx1"/>
                </a:solidFill>
                <a:latin typeface="微软雅黑" charset="0"/>
                <a:ea typeface="微软雅黑" charset="0"/>
                <a:cs typeface="微软雅黑" charset="0"/>
              </a:rPr>
              <a:t>日</a:t>
            </a:r>
            <a:endParaRPr lang="zh-CN" altLang="en-US" sz="2800" b="1" dirty="0" smtClean="0">
              <a:solidFill>
                <a:schemeClr val="tx1"/>
              </a:solidFill>
              <a:latin typeface="微软雅黑" charset="0"/>
              <a:ea typeface="微软雅黑" charset="0"/>
              <a:cs typeface="微软雅黑" charset="0"/>
            </a:endParaRPr>
          </a:p>
        </p:txBody>
      </p:sp>
      <p:sp>
        <p:nvSpPr>
          <p:cNvPr id="5" name="文本框 4"/>
          <p:cNvSpPr txBox="1"/>
          <p:nvPr>
            <p:custDataLst>
              <p:tags r:id="rId5"/>
            </p:custDataLst>
          </p:nvPr>
        </p:nvSpPr>
        <p:spPr>
          <a:xfrm>
            <a:off x="1691640" y="1711325"/>
            <a:ext cx="8808720" cy="1322070"/>
          </a:xfrm>
          <a:prstGeom prst="rect">
            <a:avLst/>
          </a:prstGeom>
          <a:noFill/>
        </p:spPr>
        <p:txBody>
          <a:bodyPr wrap="square" rtlCol="0">
            <a:spAutoFit/>
          </a:bodyPr>
          <a:p>
            <a:pPr algn="ctr"/>
            <a:r>
              <a:rPr lang="zh-CN" altLang="en-US" sz="4000" b="1">
                <a:latin typeface="+mj-ea"/>
                <a:ea typeface="+mj-ea"/>
                <a:cs typeface="+mj-ea"/>
              </a:rPr>
              <a:t>全球治理中的多边主义变迁</a:t>
            </a:r>
            <a:endParaRPr lang="zh-CN" altLang="en-US" sz="4000" b="1">
              <a:latin typeface="+mj-ea"/>
              <a:ea typeface="+mj-ea"/>
              <a:cs typeface="+mj-ea"/>
            </a:endParaRPr>
          </a:p>
          <a:p>
            <a:pPr algn="ctr"/>
            <a:r>
              <a:rPr lang="en-US" altLang="zh-CN" sz="4000" b="1">
                <a:latin typeface="+mj-ea"/>
                <a:ea typeface="+mj-ea"/>
                <a:cs typeface="+mj-ea"/>
              </a:rPr>
              <a:t>               ——</a:t>
            </a:r>
            <a:r>
              <a:rPr lang="zh-CN" altLang="en-US" sz="4000" b="1">
                <a:latin typeface="+mj-ea"/>
                <a:ea typeface="+mj-ea"/>
                <a:cs typeface="+mj-ea"/>
              </a:rPr>
              <a:t>一种历史制度主义的分析</a:t>
            </a:r>
            <a:endParaRPr lang="zh-CN" altLang="en-US" sz="4000" b="1">
              <a:latin typeface="+mj-ea"/>
              <a:ea typeface="+mj-ea"/>
              <a:cs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19"/>
          <p:cNvSpPr/>
          <p:nvPr/>
        </p:nvSpPr>
        <p:spPr>
          <a:xfrm rot="5400000" flipH="1">
            <a:off x="-405546" y="514263"/>
            <a:ext cx="1856718" cy="1045625"/>
          </a:xfrm>
          <a:custGeom>
            <a:avLst/>
            <a:gdLst>
              <a:gd name="connsiteX0" fmla="*/ 1809750 w 3619500"/>
              <a:gd name="connsiteY0" fmla="*/ 0 h 2038350"/>
              <a:gd name="connsiteX1" fmla="*/ 3619500 w 3619500"/>
              <a:gd name="connsiteY1" fmla="*/ 1809750 h 2038350"/>
              <a:gd name="connsiteX2" fmla="*/ 3610157 w 3619500"/>
              <a:gd name="connsiteY2" fmla="*/ 1994787 h 2038350"/>
              <a:gd name="connsiteX3" fmla="*/ 3603508 w 3619500"/>
              <a:gd name="connsiteY3" fmla="*/ 2038350 h 2038350"/>
              <a:gd name="connsiteX4" fmla="*/ 15992 w 3619500"/>
              <a:gd name="connsiteY4" fmla="*/ 2038350 h 2038350"/>
              <a:gd name="connsiteX5" fmla="*/ 9344 w 3619500"/>
              <a:gd name="connsiteY5" fmla="*/ 1994787 h 2038350"/>
              <a:gd name="connsiteX6" fmla="*/ 0 w 3619500"/>
              <a:gd name="connsiteY6" fmla="*/ 1809750 h 2038350"/>
              <a:gd name="connsiteX7" fmla="*/ 1809750 w 3619500"/>
              <a:gd name="connsiteY7"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0" h="2038350">
                <a:moveTo>
                  <a:pt x="1809750" y="0"/>
                </a:moveTo>
                <a:cubicBezTo>
                  <a:pt x="2809247" y="0"/>
                  <a:pt x="3619500" y="810253"/>
                  <a:pt x="3619500" y="1809750"/>
                </a:cubicBezTo>
                <a:cubicBezTo>
                  <a:pt x="3619500" y="1872219"/>
                  <a:pt x="3616335" y="1933948"/>
                  <a:pt x="3610157" y="1994787"/>
                </a:cubicBezTo>
                <a:lnTo>
                  <a:pt x="3603508" y="2038350"/>
                </a:lnTo>
                <a:lnTo>
                  <a:pt x="15992" y="2038350"/>
                </a:lnTo>
                <a:lnTo>
                  <a:pt x="9344" y="1994787"/>
                </a:lnTo>
                <a:cubicBezTo>
                  <a:pt x="3165" y="1933948"/>
                  <a:pt x="0" y="1872219"/>
                  <a:pt x="0" y="1809750"/>
                </a:cubicBezTo>
                <a:cubicBezTo>
                  <a:pt x="0" y="810253"/>
                  <a:pt x="810253" y="0"/>
                  <a:pt x="1809750" y="0"/>
                </a:cubicBezTo>
                <a:close/>
              </a:path>
            </a:pathLst>
          </a:custGeom>
          <a:gradFill>
            <a:gsLst>
              <a:gs pos="0">
                <a:srgbClr val="007BD3"/>
              </a:gs>
              <a:gs pos="100000">
                <a:srgbClr val="034373"/>
              </a:gs>
            </a:gsLst>
            <a:lin ang="5400000" scaled="0"/>
          </a:gradFill>
          <a:ln>
            <a:noFill/>
          </a:ln>
          <a:effectLst>
            <a:glow rad="469900">
              <a:srgbClr val="0070C0">
                <a:alpha val="6000"/>
              </a:srgb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20"/>
          <p:cNvSpPr/>
          <p:nvPr/>
        </p:nvSpPr>
        <p:spPr>
          <a:xfrm flipV="1">
            <a:off x="0" y="3429000"/>
            <a:ext cx="3667592" cy="3429000"/>
          </a:xfrm>
          <a:custGeom>
            <a:avLst/>
            <a:gdLst>
              <a:gd name="connsiteX0" fmla="*/ 0 w 3667592"/>
              <a:gd name="connsiteY0" fmla="*/ 0 h 3429000"/>
              <a:gd name="connsiteX1" fmla="*/ 3559647 w 3667592"/>
              <a:gd name="connsiteY1" fmla="*/ 0 h 3429000"/>
              <a:gd name="connsiteX2" fmla="*/ 3613129 w 3667592"/>
              <a:gd name="connsiteY2" fmla="*/ 207996 h 3429000"/>
              <a:gd name="connsiteX3" fmla="*/ 3667592 w 3667592"/>
              <a:gd name="connsiteY3" fmla="*/ 748259 h 3429000"/>
              <a:gd name="connsiteX4" fmla="*/ 986851 w 3667592"/>
              <a:gd name="connsiteY4" fmla="*/ 3429000 h 3429000"/>
              <a:gd name="connsiteX5" fmla="*/ 189681 w 3667592"/>
              <a:gd name="connsiteY5" fmla="*/ 3308479 h 3429000"/>
              <a:gd name="connsiteX6" fmla="*/ 0 w 3667592"/>
              <a:gd name="connsiteY6" fmla="*/ 3239055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92" h="3429000">
                <a:moveTo>
                  <a:pt x="0" y="0"/>
                </a:moveTo>
                <a:lnTo>
                  <a:pt x="3559647" y="0"/>
                </a:lnTo>
                <a:lnTo>
                  <a:pt x="3613129" y="207996"/>
                </a:lnTo>
                <a:cubicBezTo>
                  <a:pt x="3648839" y="382506"/>
                  <a:pt x="3667592" y="563193"/>
                  <a:pt x="3667592" y="748259"/>
                </a:cubicBezTo>
                <a:cubicBezTo>
                  <a:pt x="3667592" y="2228791"/>
                  <a:pt x="2467383" y="3429000"/>
                  <a:pt x="986851" y="3429000"/>
                </a:cubicBezTo>
                <a:cubicBezTo>
                  <a:pt x="709251" y="3429000"/>
                  <a:pt x="441507" y="3386805"/>
                  <a:pt x="189681" y="3308479"/>
                </a:cubicBezTo>
                <a:lnTo>
                  <a:pt x="0" y="3239055"/>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椭圆 7"/>
          <p:cNvSpPr/>
          <p:nvPr/>
        </p:nvSpPr>
        <p:spPr>
          <a:xfrm>
            <a:off x="9759605" y="108357"/>
            <a:ext cx="2117324" cy="21173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483842" y="978049"/>
            <a:ext cx="4361815" cy="706755"/>
            <a:chOff x="722477" y="765959"/>
            <a:chExt cx="4361815" cy="706755"/>
          </a:xfrm>
        </p:grpSpPr>
        <p:sp>
          <p:nvSpPr>
            <p:cNvPr id="11" name="文本框 10"/>
            <p:cNvSpPr txBox="1"/>
            <p:nvPr/>
          </p:nvSpPr>
          <p:spPr>
            <a:xfrm>
              <a:off x="722477" y="765959"/>
              <a:ext cx="1467485" cy="706755"/>
            </a:xfrm>
            <a:prstGeom prst="rect">
              <a:avLst/>
            </a:prstGeom>
            <a:noFill/>
          </p:spPr>
          <p:txBody>
            <a:bodyPr wrap="square" rtlCol="0">
              <a:spAutoFit/>
            </a:bodyPr>
            <a:lstStyle/>
            <a:p>
              <a:r>
                <a:rPr kumimoji="0" lang="zh-CN" altLang="en-US" sz="4000" b="1" i="0" u="none" strike="noStrike" kern="1200" cap="none" spc="0" normalizeH="0" baseline="0" noProof="0" dirty="0">
                  <a:ln>
                    <a:noFill/>
                  </a:ln>
                  <a:effectLst/>
                  <a:uLnTx/>
                  <a:uFillTx/>
                  <a:latin typeface="微软雅黑" charset="-122"/>
                  <a:ea typeface="微软雅黑" charset="-122"/>
                </a:rPr>
                <a:t>目</a:t>
              </a:r>
              <a:r>
                <a:rPr kumimoji="0" lang="en-US" altLang="zh-CN" sz="4000" b="1" i="0" u="none" strike="noStrike" kern="1200" cap="none" spc="0" normalizeH="0" baseline="0" noProof="0" dirty="0">
                  <a:ln>
                    <a:noFill/>
                  </a:ln>
                  <a:effectLst/>
                  <a:uLnTx/>
                  <a:uFillTx/>
                  <a:latin typeface="微软雅黑" charset="-122"/>
                  <a:ea typeface="微软雅黑" charset="-122"/>
                </a:rPr>
                <a:t> </a:t>
              </a:r>
              <a:r>
                <a:rPr kumimoji="0" lang="zh-CN" altLang="en-US" sz="4000" b="1" i="0" u="none" strike="noStrike" kern="1200" cap="none" spc="0" normalizeH="0" baseline="0" noProof="0" dirty="0">
                  <a:ln>
                    <a:noFill/>
                  </a:ln>
                  <a:effectLst/>
                  <a:uLnTx/>
                  <a:uFillTx/>
                  <a:latin typeface="微软雅黑" charset="-122"/>
                  <a:ea typeface="微软雅黑" charset="-122"/>
                </a:rPr>
                <a:t>录</a:t>
              </a:r>
              <a:endParaRPr kumimoji="0" lang="zh-CN" altLang="en-US" sz="4000" b="1" i="0" u="none" strike="noStrike" kern="1200" cap="none" spc="0" normalizeH="0" baseline="0" noProof="0" dirty="0">
                <a:ln>
                  <a:noFill/>
                </a:ln>
                <a:effectLst/>
                <a:uLnTx/>
                <a:uFillTx/>
                <a:latin typeface="微软雅黑" charset="-122"/>
                <a:ea typeface="微软雅黑" charset="-122"/>
              </a:endParaRPr>
            </a:p>
          </p:txBody>
        </p:sp>
        <p:sp>
          <p:nvSpPr>
            <p:cNvPr id="12" name="矩形 11"/>
            <p:cNvSpPr/>
            <p:nvPr/>
          </p:nvSpPr>
          <p:spPr>
            <a:xfrm>
              <a:off x="2189962" y="959634"/>
              <a:ext cx="2894330" cy="460375"/>
            </a:xfrm>
            <a:prstGeom prst="rect">
              <a:avLst/>
            </a:prstGeom>
          </p:spPr>
          <p:txBody>
            <a:bodyPr wrap="square" anchor="t" anchorCtr="0">
              <a:spAutoFit/>
            </a:bodyPr>
            <a:lstStyle/>
            <a:p>
              <a:pPr>
                <a:buSzPct val="25000"/>
              </a:pPr>
              <a:r>
                <a:rPr lang="en-US" altLang="zh-CN" sz="2400" b="1" dirty="0">
                  <a:latin typeface="微软雅黑" charset="-122"/>
                  <a:ea typeface="微软雅黑" charset="-122"/>
                </a:rPr>
                <a:t>CONTENTS</a:t>
              </a:r>
              <a:endParaRPr lang="en-US" altLang="zh-CN" sz="2400" b="1" dirty="0">
                <a:latin typeface="微软雅黑" charset="-122"/>
                <a:ea typeface="微软雅黑" charset="-122"/>
              </a:endParaRPr>
            </a:p>
          </p:txBody>
        </p:sp>
      </p:grpSp>
      <p:grpSp>
        <p:nvGrpSpPr>
          <p:cNvPr id="3" name="组合 2"/>
          <p:cNvGrpSpPr/>
          <p:nvPr/>
        </p:nvGrpSpPr>
        <p:grpSpPr>
          <a:xfrm>
            <a:off x="2548890" y="2007870"/>
            <a:ext cx="2474595" cy="876300"/>
            <a:chOff x="2360" y="4651"/>
            <a:chExt cx="3897" cy="1380"/>
          </a:xfrm>
        </p:grpSpPr>
        <p:sp>
          <p:nvSpPr>
            <p:cNvPr id="14" name="文本框 13"/>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01</a:t>
              </a:r>
              <a:endParaRPr lang="en-US" altLang="zh-CN" sz="4800" dirty="0">
                <a:solidFill>
                  <a:schemeClr val="tx1"/>
                </a:solidFill>
                <a:latin typeface="微软雅黑" charset="-122"/>
                <a:ea typeface="微软雅黑" charset="-122"/>
              </a:endParaRPr>
            </a:p>
          </p:txBody>
        </p:sp>
        <p:sp>
          <p:nvSpPr>
            <p:cNvPr id="15" name="文本框 14"/>
            <p:cNvSpPr txBox="1"/>
            <p:nvPr/>
          </p:nvSpPr>
          <p:spPr>
            <a:xfrm>
              <a:off x="3890" y="4721"/>
              <a:ext cx="2367" cy="661"/>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研究背景</a:t>
              </a:r>
              <a:endParaRPr lang="zh-CN" altLang="en-US" sz="2000" b="1" dirty="0">
                <a:latin typeface="微软雅黑" charset="-122"/>
                <a:ea typeface="微软雅黑" charset="-122"/>
              </a:endParaRPr>
            </a:p>
          </p:txBody>
        </p:sp>
        <p:sp>
          <p:nvSpPr>
            <p:cNvPr id="16" name="矩形 15"/>
            <p:cNvSpPr/>
            <p:nvPr/>
          </p:nvSpPr>
          <p:spPr>
            <a:xfrm>
              <a:off x="3892" y="5382"/>
              <a:ext cx="2364" cy="398"/>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Background</a:t>
              </a:r>
              <a:endParaRPr lang="en-US" altLang="zh-CN" sz="900" dirty="0">
                <a:latin typeface="微软雅黑" charset="-122"/>
                <a:ea typeface="微软雅黑" charset="-122"/>
              </a:endParaRPr>
            </a:p>
          </p:txBody>
        </p:sp>
        <p:sp>
          <p:nvSpPr>
            <p:cNvPr id="30"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grpSp>
        <p:nvGrpSpPr>
          <p:cNvPr id="22" name="组合 21"/>
          <p:cNvGrpSpPr/>
          <p:nvPr/>
        </p:nvGrpSpPr>
        <p:grpSpPr>
          <a:xfrm>
            <a:off x="2548890" y="2967355"/>
            <a:ext cx="4164399" cy="1568450"/>
            <a:chOff x="2360" y="4143"/>
            <a:chExt cx="6328" cy="2470"/>
          </a:xfrm>
        </p:grpSpPr>
        <p:sp>
          <p:nvSpPr>
            <p:cNvPr id="33" name="文本框 32"/>
            <p:cNvSpPr txBox="1"/>
            <p:nvPr/>
          </p:nvSpPr>
          <p:spPr>
            <a:xfrm>
              <a:off x="2360" y="4143"/>
              <a:ext cx="1532" cy="247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03</a:t>
              </a:r>
              <a:endParaRPr lang="en-US" altLang="zh-CN" sz="4800" dirty="0">
                <a:solidFill>
                  <a:schemeClr val="tx1"/>
                </a:solidFill>
                <a:latin typeface="微软雅黑" charset="-122"/>
                <a:ea typeface="微软雅黑" charset="-122"/>
              </a:endParaRPr>
            </a:p>
          </p:txBody>
        </p:sp>
        <p:sp>
          <p:nvSpPr>
            <p:cNvPr id="34" name="文本框 33"/>
            <p:cNvSpPr txBox="1"/>
            <p:nvPr/>
          </p:nvSpPr>
          <p:spPr>
            <a:xfrm>
              <a:off x="3890" y="4834"/>
              <a:ext cx="4798"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新旧多边主义的</a:t>
              </a:r>
              <a:r>
                <a:rPr lang="zh-CN" altLang="en-US" sz="2000" b="1" dirty="0">
                  <a:latin typeface="微软雅黑" charset="-122"/>
                  <a:ea typeface="微软雅黑" charset="-122"/>
                </a:rPr>
                <a:t>历史演进</a:t>
              </a:r>
              <a:endParaRPr lang="zh-CN" altLang="en-US" sz="2000" b="1" dirty="0">
                <a:latin typeface="微软雅黑" charset="-122"/>
                <a:ea typeface="微软雅黑" charset="-122"/>
              </a:endParaRPr>
            </a:p>
          </p:txBody>
        </p:sp>
        <p:sp>
          <p:nvSpPr>
            <p:cNvPr id="35" name="矩形 34"/>
            <p:cNvSpPr/>
            <p:nvPr/>
          </p:nvSpPr>
          <p:spPr>
            <a:xfrm>
              <a:off x="3892" y="5382"/>
              <a:ext cx="3027" cy="471"/>
            </a:xfrm>
            <a:prstGeom prst="rect">
              <a:avLst/>
            </a:prstGeom>
          </p:spPr>
          <p:txBody>
            <a:bodyPr wrap="square" anchor="t" anchorCtr="0">
              <a:spAutoFit/>
            </a:bodyPr>
            <a:lstStyle/>
            <a:p>
              <a:pPr algn="dist">
                <a:lnSpc>
                  <a:spcPct val="150000"/>
                </a:lnSpc>
              </a:pPr>
              <a:r>
                <a:rPr lang="en-US" altLang="zh-CN" sz="900" dirty="0">
                  <a:latin typeface="微软雅黑" charset="-122"/>
                  <a:ea typeface="微软雅黑" charset="-122"/>
                </a:rPr>
                <a:t>Historical Evolution</a:t>
              </a:r>
              <a:endParaRPr lang="en-US" altLang="zh-CN" sz="900" dirty="0">
                <a:latin typeface="微软雅黑" charset="-122"/>
                <a:ea typeface="微软雅黑" charset="-122"/>
              </a:endParaRPr>
            </a:p>
          </p:txBody>
        </p:sp>
        <p:sp>
          <p:nvSpPr>
            <p:cNvPr id="36"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grpSp>
        <p:nvGrpSpPr>
          <p:cNvPr id="37" name="组合 36"/>
          <p:cNvGrpSpPr/>
          <p:nvPr/>
        </p:nvGrpSpPr>
        <p:grpSpPr>
          <a:xfrm>
            <a:off x="6950710" y="3254375"/>
            <a:ext cx="4639310" cy="876300"/>
            <a:chOff x="2360" y="4651"/>
            <a:chExt cx="7306"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2"/>
              <a:ext cx="5776"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a:t>
              </a:r>
              <a:r>
                <a:rPr lang="zh-CN" altLang="en-US" sz="2000" b="1" dirty="0">
                  <a:latin typeface="微软雅黑" charset="-122"/>
                  <a:ea typeface="微软雅黑" charset="-122"/>
                </a:rPr>
                <a:t>历史制度主义分析</a:t>
              </a:r>
              <a:endParaRPr lang="zh-CN" altLang="en-US" sz="2000" b="1" dirty="0">
                <a:latin typeface="微软雅黑" charset="-122"/>
                <a:ea typeface="微软雅黑" charset="-122"/>
              </a:endParaRPr>
            </a:p>
          </p:txBody>
        </p:sp>
        <p:sp>
          <p:nvSpPr>
            <p:cNvPr id="40" name="矩形 39"/>
            <p:cNvSpPr/>
            <p:nvPr/>
          </p:nvSpPr>
          <p:spPr>
            <a:xfrm>
              <a:off x="3892" y="5382"/>
              <a:ext cx="5431" cy="605"/>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6938645" y="2013585"/>
            <a:ext cx="2534920" cy="876300"/>
            <a:chOff x="2360" y="4651"/>
            <a:chExt cx="3992" cy="1380"/>
          </a:xfrm>
        </p:grpSpPr>
        <p:sp>
          <p:nvSpPr>
            <p:cNvPr id="13" name="文本框 12"/>
            <p:cNvSpPr txBox="1"/>
            <p:nvPr>
              <p:custDataLst>
                <p:tags r:id="rId3"/>
              </p:custDataLst>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02</a:t>
              </a:r>
              <a:endParaRPr lang="en-US" altLang="zh-CN" sz="4800" dirty="0">
                <a:solidFill>
                  <a:schemeClr val="tx1"/>
                </a:solidFill>
                <a:latin typeface="微软雅黑" charset="-122"/>
                <a:ea typeface="微软雅黑" charset="-122"/>
              </a:endParaRPr>
            </a:p>
          </p:txBody>
        </p:sp>
        <p:sp>
          <p:nvSpPr>
            <p:cNvPr id="17" name="文本框 16"/>
            <p:cNvSpPr txBox="1"/>
            <p:nvPr>
              <p:custDataLst>
                <p:tags r:id="rId4"/>
              </p:custDataLst>
            </p:nvPr>
          </p:nvSpPr>
          <p:spPr>
            <a:xfrm>
              <a:off x="3890" y="4830"/>
              <a:ext cx="2205"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研究框架</a:t>
              </a:r>
              <a:endParaRPr lang="zh-CN" altLang="en-US" sz="2000" b="1" dirty="0">
                <a:latin typeface="微软雅黑" charset="-122"/>
                <a:ea typeface="微软雅黑" charset="-122"/>
              </a:endParaRPr>
            </a:p>
          </p:txBody>
        </p:sp>
        <p:sp>
          <p:nvSpPr>
            <p:cNvPr id="18" name="矩形 17"/>
            <p:cNvSpPr/>
            <p:nvPr>
              <p:custDataLst>
                <p:tags r:id="rId5"/>
              </p:custDataLst>
            </p:nvPr>
          </p:nvSpPr>
          <p:spPr>
            <a:xfrm>
              <a:off x="3892" y="5382"/>
              <a:ext cx="2460" cy="471"/>
            </a:xfrm>
            <a:prstGeom prst="rect">
              <a:avLst/>
            </a:prstGeom>
          </p:spPr>
          <p:txBody>
            <a:bodyPr wrap="square" anchor="t" anchorCtr="0">
              <a:spAutoFit/>
            </a:bodyPr>
            <a:lstStyle/>
            <a:p>
              <a:pPr algn="dist">
                <a:lnSpc>
                  <a:spcPct val="150000"/>
                </a:lnSpc>
              </a:pPr>
              <a:r>
                <a:rPr lang="en-US" altLang="zh-CN" sz="900" dirty="0">
                  <a:latin typeface="微软雅黑" charset="-122"/>
                  <a:ea typeface="微软雅黑" charset="-122"/>
                </a:rPr>
                <a:t>Research Framework</a:t>
              </a:r>
              <a:endParaRPr lang="en-US" altLang="zh-CN" sz="900" dirty="0">
                <a:latin typeface="微软雅黑" charset="-122"/>
                <a:ea typeface="微软雅黑" charset="-122"/>
              </a:endParaRPr>
            </a:p>
          </p:txBody>
        </p:sp>
        <p:sp>
          <p:nvSpPr>
            <p:cNvPr id="19" name="圆角矩形 103"/>
            <p:cNvSpPr/>
            <p:nvPr>
              <p:custDataLst>
                <p:tags r:id="rId6"/>
              </p:custDataLst>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grpSp>
        <p:nvGrpSpPr>
          <p:cNvPr id="7" name="组合 6"/>
          <p:cNvGrpSpPr/>
          <p:nvPr/>
        </p:nvGrpSpPr>
        <p:grpSpPr>
          <a:xfrm>
            <a:off x="2577465" y="4618990"/>
            <a:ext cx="2538730" cy="876300"/>
            <a:chOff x="2360" y="4651"/>
            <a:chExt cx="3998" cy="1380"/>
          </a:xfrm>
        </p:grpSpPr>
        <p:sp>
          <p:nvSpPr>
            <p:cNvPr id="9" name="文本框 8"/>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05</a:t>
              </a:r>
              <a:endParaRPr lang="en-US" altLang="zh-CN" sz="4800" dirty="0">
                <a:solidFill>
                  <a:schemeClr val="tx1"/>
                </a:solidFill>
                <a:latin typeface="微软雅黑" charset="-122"/>
                <a:ea typeface="微软雅黑" charset="-122"/>
              </a:endParaRPr>
            </a:p>
          </p:txBody>
        </p:sp>
        <p:sp>
          <p:nvSpPr>
            <p:cNvPr id="10" name="文本框 9"/>
            <p:cNvSpPr txBox="1"/>
            <p:nvPr/>
          </p:nvSpPr>
          <p:spPr>
            <a:xfrm>
              <a:off x="3890" y="4832"/>
              <a:ext cx="2417"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三重挑战</a:t>
              </a:r>
              <a:endParaRPr lang="zh-CN" altLang="en-US" sz="2000" b="1" dirty="0">
                <a:latin typeface="微软雅黑" charset="-122"/>
                <a:ea typeface="微软雅黑" charset="-122"/>
              </a:endParaRPr>
            </a:p>
          </p:txBody>
        </p:sp>
        <p:sp>
          <p:nvSpPr>
            <p:cNvPr id="23" name="矩形 22"/>
            <p:cNvSpPr/>
            <p:nvPr/>
          </p:nvSpPr>
          <p:spPr>
            <a:xfrm>
              <a:off x="3892" y="5382"/>
              <a:ext cx="2466" cy="472"/>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Triple Challenges</a:t>
              </a:r>
              <a:endParaRPr lang="en-US" altLang="zh-CN" sz="900" dirty="0">
                <a:latin typeface="微软雅黑" charset="-122"/>
                <a:ea typeface="微软雅黑" charset="-122"/>
              </a:endParaRPr>
            </a:p>
          </p:txBody>
        </p:sp>
        <p:sp>
          <p:nvSpPr>
            <p:cNvPr id="24"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grpSp>
        <p:nvGrpSpPr>
          <p:cNvPr id="25" name="组合 24"/>
          <p:cNvGrpSpPr/>
          <p:nvPr/>
        </p:nvGrpSpPr>
        <p:grpSpPr>
          <a:xfrm>
            <a:off x="6950710" y="4621530"/>
            <a:ext cx="2084705" cy="876300"/>
            <a:chOff x="2360" y="4651"/>
            <a:chExt cx="3283" cy="1380"/>
          </a:xfrm>
        </p:grpSpPr>
        <p:sp>
          <p:nvSpPr>
            <p:cNvPr id="26" name="文本框 25"/>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06</a:t>
              </a:r>
              <a:endParaRPr lang="en-US" altLang="zh-CN" sz="4800" dirty="0">
                <a:solidFill>
                  <a:schemeClr val="tx1"/>
                </a:solidFill>
                <a:latin typeface="微软雅黑" charset="-122"/>
                <a:ea typeface="微软雅黑" charset="-122"/>
              </a:endParaRPr>
            </a:p>
          </p:txBody>
        </p:sp>
        <p:sp>
          <p:nvSpPr>
            <p:cNvPr id="27" name="文本框 26"/>
            <p:cNvSpPr txBox="1"/>
            <p:nvPr/>
          </p:nvSpPr>
          <p:spPr>
            <a:xfrm>
              <a:off x="3890" y="4829"/>
              <a:ext cx="1648"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结语</a:t>
              </a:r>
              <a:endParaRPr lang="zh-CN" altLang="en-US" sz="2000" b="1" dirty="0">
                <a:latin typeface="微软雅黑" charset="-122"/>
                <a:ea typeface="微软雅黑" charset="-122"/>
              </a:endParaRPr>
            </a:p>
          </p:txBody>
        </p:sp>
        <p:sp>
          <p:nvSpPr>
            <p:cNvPr id="28" name="矩形 27"/>
            <p:cNvSpPr/>
            <p:nvPr/>
          </p:nvSpPr>
          <p:spPr>
            <a:xfrm>
              <a:off x="3892" y="5382"/>
              <a:ext cx="1751" cy="397"/>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Conclusion</a:t>
              </a:r>
              <a:endParaRPr lang="en-US" altLang="zh-CN" sz="900" dirty="0">
                <a:latin typeface="微软雅黑" charset="-122"/>
                <a:ea typeface="微软雅黑" charset="-122"/>
              </a:endParaRPr>
            </a:p>
          </p:txBody>
        </p:sp>
        <p:sp>
          <p:nvSpPr>
            <p:cNvPr id="32"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291465" y="196215"/>
            <a:ext cx="2474595" cy="876300"/>
            <a:chOff x="2360" y="4651"/>
            <a:chExt cx="3897" cy="1380"/>
          </a:xfrm>
        </p:grpSpPr>
        <p:sp>
          <p:nvSpPr>
            <p:cNvPr id="6" name="文本框 5"/>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01</a:t>
              </a:r>
              <a:endParaRPr lang="en-US" altLang="zh-CN" sz="4800" dirty="0">
                <a:solidFill>
                  <a:schemeClr val="tx1"/>
                </a:solidFill>
                <a:latin typeface="微软雅黑" charset="-122"/>
                <a:ea typeface="微软雅黑" charset="-122"/>
              </a:endParaRPr>
            </a:p>
          </p:txBody>
        </p:sp>
        <p:sp>
          <p:nvSpPr>
            <p:cNvPr id="43" name="文本框 42"/>
            <p:cNvSpPr txBox="1"/>
            <p:nvPr/>
          </p:nvSpPr>
          <p:spPr>
            <a:xfrm>
              <a:off x="3890" y="4721"/>
              <a:ext cx="2367" cy="661"/>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研究背景</a:t>
              </a:r>
              <a:endParaRPr lang="zh-CN" altLang="en-US" sz="2000" b="1" dirty="0">
                <a:latin typeface="微软雅黑" charset="-122"/>
                <a:ea typeface="微软雅黑" charset="-122"/>
              </a:endParaRPr>
            </a:p>
          </p:txBody>
        </p:sp>
        <p:sp>
          <p:nvSpPr>
            <p:cNvPr id="44" name="矩形 43"/>
            <p:cNvSpPr/>
            <p:nvPr/>
          </p:nvSpPr>
          <p:spPr>
            <a:xfrm>
              <a:off x="3892" y="5382"/>
              <a:ext cx="2364" cy="398"/>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Background</a:t>
              </a:r>
              <a:endParaRPr lang="en-US" altLang="zh-CN" sz="900" dirty="0">
                <a:latin typeface="微软雅黑" charset="-122"/>
                <a:ea typeface="微软雅黑" charset="-122"/>
              </a:endParaRPr>
            </a:p>
          </p:txBody>
        </p:sp>
        <p:sp>
          <p:nvSpPr>
            <p:cNvPr id="45"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3" name="文本框 2"/>
          <p:cNvSpPr txBox="1"/>
          <p:nvPr/>
        </p:nvSpPr>
        <p:spPr>
          <a:xfrm>
            <a:off x="471170" y="1234440"/>
            <a:ext cx="4550410" cy="2861310"/>
          </a:xfrm>
          <a:prstGeom prst="rect">
            <a:avLst/>
          </a:prstGeom>
          <a:noFill/>
        </p:spPr>
        <p:txBody>
          <a:bodyPr wrap="square" rtlCol="0">
            <a:spAutoFit/>
          </a:bodyPr>
          <a:p>
            <a:r>
              <a:rPr lang="zh-CN" altLang="en-US" b="1">
                <a:latin typeface="微软雅黑" charset="0"/>
                <a:ea typeface="微软雅黑" charset="0"/>
                <a:cs typeface="微软雅黑" charset="0"/>
              </a:rPr>
              <a:t>治理困境</a:t>
            </a:r>
            <a:r>
              <a:rPr lang="en-US" altLang="zh-CN" b="1">
                <a:latin typeface="微软雅黑" charset="0"/>
                <a:ea typeface="微软雅黑" charset="0"/>
                <a:cs typeface="微软雅黑" charset="0"/>
              </a:rPr>
              <a:t>：</a:t>
            </a:r>
            <a:endParaRPr lang="en-US" altLang="zh-CN" b="1">
              <a:latin typeface="微软雅黑" charset="0"/>
              <a:ea typeface="微软雅黑" charset="0"/>
              <a:cs typeface="微软雅黑" charset="0"/>
            </a:endParaRPr>
          </a:p>
          <a:p>
            <a:endParaRPr lang="en-US" altLang="zh-CN" b="1">
              <a:latin typeface="微软雅黑" charset="0"/>
              <a:ea typeface="微软雅黑" charset="0"/>
              <a:cs typeface="微软雅黑" charset="0"/>
            </a:endParaRPr>
          </a:p>
          <a:p>
            <a:r>
              <a:rPr lang="en-US" altLang="zh-CN" b="1">
                <a:latin typeface="微软雅黑" charset="0"/>
                <a:ea typeface="微软雅黑" charset="0"/>
                <a:cs typeface="微软雅黑" charset="0"/>
              </a:rPr>
              <a:t>2008</a:t>
            </a:r>
            <a:r>
              <a:rPr lang="zh-CN" altLang="en-US" b="1">
                <a:latin typeface="微软雅黑" charset="0"/>
                <a:ea typeface="微软雅黑" charset="0"/>
                <a:cs typeface="微软雅黑" charset="0"/>
              </a:rPr>
              <a:t>金融危机</a:t>
            </a:r>
            <a:r>
              <a:rPr lang="en-US" altLang="zh-CN" b="1">
                <a:latin typeface="微软雅黑" charset="0"/>
                <a:ea typeface="微软雅黑" charset="0"/>
                <a:cs typeface="微软雅黑" charset="0"/>
              </a:rPr>
              <a:t>；</a:t>
            </a:r>
            <a:endParaRPr lang="en-US" altLang="zh-CN" b="1">
              <a:latin typeface="微软雅黑" charset="0"/>
              <a:ea typeface="微软雅黑" charset="0"/>
              <a:cs typeface="微软雅黑" charset="0"/>
            </a:endParaRPr>
          </a:p>
          <a:p>
            <a:r>
              <a:rPr lang="en-US" altLang="zh-CN" b="1">
                <a:latin typeface="微软雅黑" charset="0"/>
                <a:ea typeface="微软雅黑" charset="0"/>
                <a:cs typeface="微软雅黑" charset="0"/>
              </a:rPr>
              <a:t>2016</a:t>
            </a:r>
            <a:r>
              <a:rPr lang="zh-CN" altLang="en-US" b="1">
                <a:latin typeface="微软雅黑" charset="0"/>
                <a:ea typeface="微软雅黑" charset="0"/>
                <a:cs typeface="微软雅黑" charset="0"/>
              </a:rPr>
              <a:t>特朗普时代</a:t>
            </a:r>
            <a:r>
              <a:rPr lang="en-US" altLang="zh-CN" b="1">
                <a:latin typeface="微软雅黑" charset="0"/>
                <a:ea typeface="微软雅黑" charset="0"/>
                <a:cs typeface="微软雅黑" charset="0"/>
              </a:rPr>
              <a:t>，MAGA，</a:t>
            </a:r>
            <a:r>
              <a:rPr lang="zh-CN" altLang="en-US" b="1">
                <a:latin typeface="微软雅黑" charset="0"/>
                <a:ea typeface="微软雅黑" charset="0"/>
                <a:cs typeface="微软雅黑" charset="0"/>
              </a:rPr>
              <a:t>单边主义</a:t>
            </a:r>
            <a:endParaRPr lang="zh-CN" altLang="en-US" b="1">
              <a:latin typeface="微软雅黑" charset="0"/>
              <a:ea typeface="微软雅黑" charset="0"/>
              <a:cs typeface="微软雅黑" charset="0"/>
            </a:endParaRPr>
          </a:p>
          <a:p>
            <a:r>
              <a:rPr lang="en-US" altLang="zh-CN" b="1">
                <a:latin typeface="微软雅黑" charset="0"/>
                <a:ea typeface="微软雅黑" charset="0"/>
                <a:cs typeface="微软雅黑" charset="0"/>
              </a:rPr>
              <a:t>2020</a:t>
            </a:r>
            <a:r>
              <a:rPr lang="zh-CN" altLang="en-US" b="1">
                <a:latin typeface="微软雅黑" charset="0"/>
                <a:ea typeface="微软雅黑" charset="0"/>
                <a:cs typeface="微软雅黑" charset="0"/>
              </a:rPr>
              <a:t>新冠疫情</a:t>
            </a:r>
            <a:endParaRPr lang="zh-CN" altLang="en-US" b="1">
              <a:latin typeface="微软雅黑" charset="0"/>
              <a:ea typeface="微软雅黑" charset="0"/>
              <a:cs typeface="微软雅黑" charset="0"/>
            </a:endParaRPr>
          </a:p>
          <a:p>
            <a:r>
              <a:rPr lang="en-US" altLang="zh-CN" b="1">
                <a:latin typeface="微软雅黑" charset="0"/>
                <a:ea typeface="微软雅黑" charset="0"/>
                <a:cs typeface="微软雅黑" charset="0"/>
              </a:rPr>
              <a:t>2020</a:t>
            </a:r>
            <a:r>
              <a:rPr lang="zh-CN" altLang="en-US" b="1">
                <a:latin typeface="微软雅黑" charset="0"/>
                <a:ea typeface="微软雅黑" charset="0"/>
                <a:cs typeface="微软雅黑" charset="0"/>
              </a:rPr>
              <a:t>双碳目标</a:t>
            </a:r>
            <a:r>
              <a:rPr lang="en-US" altLang="zh-CN" b="1">
                <a:latin typeface="微软雅黑" charset="0"/>
                <a:ea typeface="微软雅黑" charset="0"/>
                <a:cs typeface="微软雅黑" charset="0"/>
              </a:rPr>
              <a:t>-</a:t>
            </a:r>
            <a:r>
              <a:rPr lang="zh-CN" altLang="en-US" b="1">
                <a:latin typeface="微软雅黑" charset="0"/>
                <a:ea typeface="微软雅黑" charset="0"/>
                <a:cs typeface="微软雅黑" charset="0"/>
              </a:rPr>
              <a:t>气候治理</a:t>
            </a:r>
            <a:endParaRPr lang="zh-CN" altLang="en-US" b="1">
              <a:latin typeface="微软雅黑" charset="0"/>
              <a:ea typeface="微软雅黑" charset="0"/>
              <a:cs typeface="微软雅黑" charset="0"/>
            </a:endParaRPr>
          </a:p>
          <a:p>
            <a:r>
              <a:rPr lang="en-US" altLang="zh-CN" b="1">
                <a:latin typeface="微软雅黑" charset="0"/>
                <a:ea typeface="微软雅黑" charset="0"/>
                <a:cs typeface="微软雅黑" charset="0"/>
              </a:rPr>
              <a:t>2022</a:t>
            </a:r>
            <a:r>
              <a:rPr lang="zh-CN" altLang="en-US" b="1">
                <a:latin typeface="微软雅黑" charset="0"/>
                <a:ea typeface="微软雅黑" charset="0"/>
                <a:cs typeface="微软雅黑" charset="0"/>
              </a:rPr>
              <a:t>俄乌冲突</a:t>
            </a:r>
            <a:r>
              <a:rPr lang="en-US" altLang="zh-CN" b="1">
                <a:latin typeface="微软雅黑" charset="0"/>
                <a:ea typeface="微软雅黑" charset="0"/>
                <a:cs typeface="微软雅黑" charset="0"/>
              </a:rPr>
              <a:t>；2023</a:t>
            </a:r>
            <a:r>
              <a:rPr lang="zh-CN" altLang="en-US" b="1">
                <a:latin typeface="微软雅黑" charset="0"/>
                <a:ea typeface="微软雅黑" charset="0"/>
                <a:cs typeface="微软雅黑" charset="0"/>
              </a:rPr>
              <a:t>巴以冲突</a:t>
            </a:r>
            <a:endParaRPr lang="zh-CN" altLang="en-US" b="1">
              <a:latin typeface="微软雅黑" charset="0"/>
              <a:ea typeface="微软雅黑" charset="0"/>
              <a:cs typeface="微软雅黑" charset="0"/>
            </a:endParaRPr>
          </a:p>
          <a:p>
            <a:r>
              <a:rPr lang="en-US" altLang="zh-CN" b="1">
                <a:latin typeface="微软雅黑" charset="0"/>
                <a:ea typeface="微软雅黑" charset="0"/>
                <a:cs typeface="微软雅黑" charset="0"/>
              </a:rPr>
              <a:t>2022ChatGPT; 2025Deepseek-AI</a:t>
            </a:r>
            <a:r>
              <a:rPr lang="zh-CN" altLang="en-US" b="1">
                <a:latin typeface="微软雅黑" charset="0"/>
                <a:ea typeface="微软雅黑" charset="0"/>
                <a:cs typeface="微软雅黑" charset="0"/>
              </a:rPr>
              <a:t>治理</a:t>
            </a:r>
            <a:endParaRPr lang="zh-CN" altLang="en-US" b="1">
              <a:latin typeface="微软雅黑" charset="0"/>
              <a:ea typeface="微软雅黑" charset="0"/>
              <a:cs typeface="微软雅黑" charset="0"/>
            </a:endParaRPr>
          </a:p>
          <a:p>
            <a:r>
              <a:rPr lang="en-US" altLang="zh-CN" b="1">
                <a:latin typeface="微软雅黑" charset="0"/>
                <a:ea typeface="微软雅黑" charset="0"/>
                <a:cs typeface="微软雅黑" charset="0"/>
              </a:rPr>
              <a:t>2025.4</a:t>
            </a:r>
            <a:r>
              <a:rPr lang="zh-CN" altLang="en-US" b="1">
                <a:latin typeface="微软雅黑" charset="0"/>
                <a:ea typeface="微软雅黑" charset="0"/>
                <a:cs typeface="微软雅黑" charset="0"/>
              </a:rPr>
              <a:t>特朗普新的“关税大棒”</a:t>
            </a:r>
            <a:endParaRPr lang="zh-CN" altLang="en-US" b="1">
              <a:latin typeface="微软雅黑" charset="0"/>
              <a:ea typeface="微软雅黑" charset="0"/>
              <a:cs typeface="微软雅黑" charset="0"/>
            </a:endParaRPr>
          </a:p>
          <a:p>
            <a:endParaRPr lang="zh-CN" altLang="en-US" b="1">
              <a:latin typeface="微软雅黑" charset="0"/>
              <a:ea typeface="微软雅黑" charset="0"/>
              <a:cs typeface="微软雅黑" charset="0"/>
            </a:endParaRPr>
          </a:p>
        </p:txBody>
      </p:sp>
      <p:sp>
        <p:nvSpPr>
          <p:cNvPr id="4" name="文本框 3"/>
          <p:cNvSpPr txBox="1"/>
          <p:nvPr/>
        </p:nvSpPr>
        <p:spPr>
          <a:xfrm>
            <a:off x="471170" y="4257675"/>
            <a:ext cx="7860030" cy="1198880"/>
          </a:xfrm>
          <a:prstGeom prst="rect">
            <a:avLst/>
          </a:prstGeom>
          <a:noFill/>
        </p:spPr>
        <p:txBody>
          <a:bodyPr wrap="square" rtlCol="0">
            <a:spAutoFit/>
          </a:bodyPr>
          <a:p>
            <a:r>
              <a:rPr lang="zh-CN" altLang="en-US" b="1">
                <a:latin typeface="微软雅黑" charset="0"/>
                <a:ea typeface="微软雅黑" charset="0"/>
              </a:rPr>
              <a:t>权力结构</a:t>
            </a:r>
            <a:r>
              <a:rPr lang="en-US" altLang="zh-CN" b="1">
                <a:latin typeface="微软雅黑" charset="0"/>
                <a:ea typeface="微软雅黑" charset="0"/>
              </a:rPr>
              <a:t>：</a:t>
            </a:r>
            <a:endParaRPr lang="en-US" altLang="zh-CN" b="1">
              <a:latin typeface="微软雅黑" charset="0"/>
              <a:ea typeface="微软雅黑" charset="0"/>
            </a:endParaRPr>
          </a:p>
          <a:p>
            <a:endParaRPr lang="en-US" altLang="zh-CN" b="1">
              <a:latin typeface="微软雅黑" charset="0"/>
              <a:ea typeface="微软雅黑" charset="0"/>
            </a:endParaRPr>
          </a:p>
          <a:p>
            <a:r>
              <a:rPr lang="zh-CN" altLang="en-US" b="1">
                <a:latin typeface="微软雅黑" charset="0"/>
                <a:ea typeface="微软雅黑" charset="0"/>
              </a:rPr>
              <a:t>全球南方兴起</a:t>
            </a:r>
            <a:r>
              <a:rPr lang="en-US" altLang="zh-CN" b="1">
                <a:latin typeface="微软雅黑" charset="0"/>
                <a:ea typeface="微软雅黑" charset="0"/>
              </a:rPr>
              <a:t>；</a:t>
            </a:r>
            <a:r>
              <a:rPr lang="zh-CN" altLang="en-US" b="1">
                <a:latin typeface="微软雅黑" charset="0"/>
                <a:ea typeface="微软雅黑" charset="0"/>
              </a:rPr>
              <a:t>老牌民主国家面临民粹主义冲击</a:t>
            </a:r>
            <a:r>
              <a:rPr lang="en-US" altLang="zh-CN" b="1">
                <a:latin typeface="微软雅黑" charset="0"/>
                <a:ea typeface="微软雅黑" charset="0"/>
              </a:rPr>
              <a:t>、</a:t>
            </a:r>
            <a:r>
              <a:rPr lang="zh-CN" altLang="en-US" b="1">
                <a:latin typeface="微软雅黑" charset="0"/>
                <a:ea typeface="微软雅黑" charset="0"/>
              </a:rPr>
              <a:t>保守主义回潮</a:t>
            </a:r>
            <a:r>
              <a:rPr lang="en-US" altLang="zh-CN" b="1">
                <a:latin typeface="微软雅黑" charset="0"/>
                <a:ea typeface="微软雅黑" charset="0"/>
              </a:rPr>
              <a:t>；</a:t>
            </a:r>
            <a:r>
              <a:rPr lang="zh-CN" altLang="en-US" b="1">
                <a:latin typeface="微软雅黑" charset="0"/>
                <a:ea typeface="微软雅黑" charset="0"/>
              </a:rPr>
              <a:t>中美博弈</a:t>
            </a:r>
            <a:endParaRPr lang="zh-CN" altLang="en-US" b="1">
              <a:latin typeface="微软雅黑" charset="0"/>
              <a:ea typeface="微软雅黑" charset="0"/>
            </a:endParaRPr>
          </a:p>
          <a:p>
            <a:r>
              <a:rPr lang="zh-CN" altLang="en-US" b="1">
                <a:latin typeface="微软雅黑" charset="0"/>
                <a:ea typeface="微软雅黑" charset="0"/>
              </a:rPr>
              <a:t>新兴行为体</a:t>
            </a:r>
            <a:r>
              <a:rPr lang="en-US" altLang="zh-CN" b="1">
                <a:latin typeface="微软雅黑" charset="0"/>
                <a:ea typeface="微软雅黑" charset="0"/>
              </a:rPr>
              <a:t>：</a:t>
            </a:r>
            <a:r>
              <a:rPr lang="zh-CN" altLang="en-US" b="1">
                <a:latin typeface="微软雅黑" charset="0"/>
                <a:ea typeface="微软雅黑" charset="0"/>
              </a:rPr>
              <a:t>国际组织</a:t>
            </a:r>
            <a:r>
              <a:rPr lang="en-US" altLang="zh-CN" b="1">
                <a:latin typeface="微软雅黑" charset="0"/>
                <a:ea typeface="微软雅黑" charset="0"/>
              </a:rPr>
              <a:t>；</a:t>
            </a:r>
            <a:r>
              <a:rPr lang="zh-CN" altLang="en-US" b="1">
                <a:latin typeface="微软雅黑" charset="0"/>
                <a:ea typeface="微软雅黑" charset="0"/>
              </a:rPr>
              <a:t>国际机制</a:t>
            </a:r>
            <a:r>
              <a:rPr lang="en-US" altLang="zh-CN" b="1">
                <a:latin typeface="微软雅黑" charset="0"/>
                <a:ea typeface="微软雅黑" charset="0"/>
              </a:rPr>
              <a:t>；</a:t>
            </a:r>
            <a:endParaRPr lang="en-US" altLang="zh-CN" b="1">
              <a:latin typeface="微软雅黑" charset="0"/>
              <a:ea typeface="微软雅黑" charset="0"/>
            </a:endParaRPr>
          </a:p>
        </p:txBody>
      </p:sp>
      <p:sp>
        <p:nvSpPr>
          <p:cNvPr id="7" name="下箭头 6"/>
          <p:cNvSpPr/>
          <p:nvPr/>
        </p:nvSpPr>
        <p:spPr>
          <a:xfrm rot="16200000">
            <a:off x="5870575" y="2373630"/>
            <a:ext cx="450215" cy="873125"/>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3"/>
          <a:stretch>
            <a:fillRect/>
          </a:stretch>
        </p:blipFill>
        <p:spPr>
          <a:xfrm>
            <a:off x="6694805" y="1760855"/>
            <a:ext cx="5334000" cy="1819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291465" y="196215"/>
            <a:ext cx="2474595" cy="876300"/>
            <a:chOff x="2360" y="4651"/>
            <a:chExt cx="3897" cy="1380"/>
          </a:xfrm>
        </p:grpSpPr>
        <p:sp>
          <p:nvSpPr>
            <p:cNvPr id="6" name="文本框 5"/>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01</a:t>
              </a:r>
              <a:endParaRPr lang="en-US" altLang="zh-CN" sz="4800" dirty="0">
                <a:solidFill>
                  <a:schemeClr val="tx1"/>
                </a:solidFill>
                <a:latin typeface="微软雅黑" charset="-122"/>
                <a:ea typeface="微软雅黑" charset="-122"/>
              </a:endParaRPr>
            </a:p>
          </p:txBody>
        </p:sp>
        <p:sp>
          <p:nvSpPr>
            <p:cNvPr id="43" name="文本框 42"/>
            <p:cNvSpPr txBox="1"/>
            <p:nvPr/>
          </p:nvSpPr>
          <p:spPr>
            <a:xfrm>
              <a:off x="3890" y="4721"/>
              <a:ext cx="2367" cy="661"/>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研究背景</a:t>
              </a:r>
              <a:endParaRPr lang="zh-CN" altLang="en-US" sz="2000" b="1" dirty="0">
                <a:latin typeface="微软雅黑" charset="-122"/>
                <a:ea typeface="微软雅黑" charset="-122"/>
              </a:endParaRPr>
            </a:p>
          </p:txBody>
        </p:sp>
        <p:sp>
          <p:nvSpPr>
            <p:cNvPr id="44" name="矩形 43"/>
            <p:cNvSpPr/>
            <p:nvPr/>
          </p:nvSpPr>
          <p:spPr>
            <a:xfrm>
              <a:off x="3892" y="5382"/>
              <a:ext cx="2364" cy="398"/>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Background</a:t>
              </a:r>
              <a:endParaRPr lang="en-US" altLang="zh-CN" sz="900" dirty="0">
                <a:latin typeface="微软雅黑" charset="-122"/>
                <a:ea typeface="微软雅黑" charset="-122"/>
              </a:endParaRPr>
            </a:p>
          </p:txBody>
        </p:sp>
        <p:sp>
          <p:nvSpPr>
            <p:cNvPr id="45"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46" name="文本框 45"/>
          <p:cNvSpPr txBox="1"/>
          <p:nvPr/>
        </p:nvSpPr>
        <p:spPr>
          <a:xfrm>
            <a:off x="291465" y="4476750"/>
            <a:ext cx="5861685" cy="1014730"/>
          </a:xfrm>
          <a:prstGeom prst="rect">
            <a:avLst/>
          </a:prstGeom>
          <a:noFill/>
        </p:spPr>
        <p:txBody>
          <a:bodyPr wrap="square" rtlCol="0">
            <a:spAutoFit/>
          </a:bodyPr>
          <a:p>
            <a:r>
              <a:rPr lang="zh-CN" altLang="en-US" sz="2000">
                <a:solidFill>
                  <a:srgbClr val="FF0000"/>
                </a:solidFill>
                <a:latin typeface="微软雅黑" charset="0"/>
                <a:ea typeface="微软雅黑" charset="0"/>
                <a:cs typeface="微软雅黑" charset="0"/>
              </a:rPr>
              <a:t>核心问题</a:t>
            </a:r>
            <a:r>
              <a:rPr lang="en-US" altLang="zh-CN" sz="2000">
                <a:solidFill>
                  <a:srgbClr val="FF0000"/>
                </a:solidFill>
                <a:latin typeface="微软雅黑" charset="0"/>
                <a:ea typeface="微软雅黑" charset="0"/>
                <a:cs typeface="微软雅黑" charset="0"/>
              </a:rPr>
              <a:t> (puzzle)：</a:t>
            </a:r>
            <a:r>
              <a:rPr lang="zh-CN" altLang="en-US" sz="2000">
                <a:solidFill>
                  <a:srgbClr val="FF0000"/>
                </a:solidFill>
                <a:latin typeface="微软雅黑" charset="0"/>
                <a:ea typeface="微软雅黑" charset="0"/>
                <a:cs typeface="微软雅黑" charset="0"/>
              </a:rPr>
              <a:t>当前新旧多边主义转型后理应“更加合法且高效地运作”</a:t>
            </a:r>
            <a:r>
              <a:rPr lang="en-US" altLang="zh-CN" sz="2000">
                <a:solidFill>
                  <a:srgbClr val="FF0000"/>
                </a:solidFill>
                <a:latin typeface="微软雅黑" charset="0"/>
                <a:ea typeface="微软雅黑" charset="0"/>
                <a:cs typeface="微软雅黑" charset="0"/>
              </a:rPr>
              <a:t>，</a:t>
            </a:r>
            <a:r>
              <a:rPr lang="zh-CN" altLang="en-US" sz="2000">
                <a:solidFill>
                  <a:srgbClr val="FF0000"/>
                </a:solidFill>
                <a:latin typeface="微软雅黑" charset="0"/>
                <a:ea typeface="微软雅黑" charset="0"/>
                <a:cs typeface="微软雅黑" charset="0"/>
              </a:rPr>
              <a:t>为何还是治理困境频发</a:t>
            </a:r>
            <a:r>
              <a:rPr lang="en-US" altLang="zh-CN" sz="2000">
                <a:solidFill>
                  <a:srgbClr val="FF0000"/>
                </a:solidFill>
                <a:latin typeface="微软雅黑" charset="0"/>
                <a:ea typeface="微软雅黑" charset="0"/>
                <a:cs typeface="微软雅黑" charset="0"/>
              </a:rPr>
              <a:t>？</a:t>
            </a:r>
            <a:r>
              <a:rPr lang="zh-CN" altLang="en-US" sz="2000">
                <a:solidFill>
                  <a:srgbClr val="FF0000"/>
                </a:solidFill>
                <a:latin typeface="微软雅黑" charset="0"/>
                <a:ea typeface="微软雅黑" charset="0"/>
                <a:cs typeface="微软雅黑" charset="0"/>
              </a:rPr>
              <a:t>新多边主义治理绩效为何不彰</a:t>
            </a:r>
            <a:r>
              <a:rPr lang="en-US" altLang="zh-CN" sz="2000">
                <a:solidFill>
                  <a:srgbClr val="FF0000"/>
                </a:solidFill>
                <a:latin typeface="微软雅黑" charset="0"/>
                <a:ea typeface="微软雅黑" charset="0"/>
                <a:cs typeface="微软雅黑" charset="0"/>
              </a:rPr>
              <a:t>？</a:t>
            </a:r>
            <a:endParaRPr lang="en-US" altLang="zh-CN" sz="2000">
              <a:solidFill>
                <a:srgbClr val="FF0000"/>
              </a:solidFill>
              <a:latin typeface="微软雅黑" charset="0"/>
              <a:ea typeface="微软雅黑" charset="0"/>
              <a:cs typeface="微软雅黑" charset="0"/>
            </a:endParaRPr>
          </a:p>
        </p:txBody>
      </p:sp>
      <p:pic>
        <p:nvPicPr>
          <p:cNvPr id="48" name="图片 47"/>
          <p:cNvPicPr>
            <a:picLocks noChangeAspect="1"/>
          </p:cNvPicPr>
          <p:nvPr/>
        </p:nvPicPr>
        <p:blipFill>
          <a:blip r:embed="rId3"/>
          <a:stretch>
            <a:fillRect/>
          </a:stretch>
        </p:blipFill>
        <p:spPr>
          <a:xfrm>
            <a:off x="6111240" y="250190"/>
            <a:ext cx="6080760" cy="5563235"/>
          </a:xfrm>
          <a:prstGeom prst="rect">
            <a:avLst/>
          </a:prstGeom>
        </p:spPr>
      </p:pic>
      <p:sp>
        <p:nvSpPr>
          <p:cNvPr id="49" name="文本框 48"/>
          <p:cNvSpPr txBox="1"/>
          <p:nvPr/>
        </p:nvSpPr>
        <p:spPr>
          <a:xfrm>
            <a:off x="471170" y="1212850"/>
            <a:ext cx="4064000" cy="706755"/>
          </a:xfrm>
          <a:prstGeom prst="rect">
            <a:avLst/>
          </a:prstGeom>
          <a:noFill/>
        </p:spPr>
        <p:txBody>
          <a:bodyPr wrap="square" rtlCol="0">
            <a:spAutoFit/>
          </a:bodyPr>
          <a:p>
            <a:r>
              <a:rPr lang="zh-CN" altLang="en-US" sz="2000">
                <a:latin typeface="微软雅黑" charset="0"/>
                <a:ea typeface="微软雅黑" charset="0"/>
                <a:cs typeface="微软雅黑" charset="0"/>
              </a:rPr>
              <a:t>从旧多边主义到新多边主义的转型</a:t>
            </a:r>
            <a:r>
              <a:rPr lang="en-US" altLang="zh-CN" sz="2000">
                <a:latin typeface="微软雅黑" charset="0"/>
                <a:ea typeface="微软雅黑" charset="0"/>
                <a:cs typeface="微软雅黑" charset="0"/>
              </a:rPr>
              <a:t>/</a:t>
            </a:r>
            <a:r>
              <a:rPr lang="zh-CN" altLang="en-US" sz="2000">
                <a:latin typeface="微软雅黑" charset="0"/>
                <a:ea typeface="微软雅黑" charset="0"/>
                <a:cs typeface="微软雅黑" charset="0"/>
              </a:rPr>
              <a:t>变迁是否切实发生了</a:t>
            </a:r>
            <a:r>
              <a:rPr lang="en-US" altLang="zh-CN" sz="2000">
                <a:latin typeface="微软雅黑" charset="0"/>
                <a:ea typeface="微软雅黑" charset="0"/>
                <a:cs typeface="微软雅黑" charset="0"/>
              </a:rPr>
              <a:t>？</a:t>
            </a:r>
            <a:endParaRPr lang="en-US" altLang="zh-CN" sz="2000">
              <a:latin typeface="微软雅黑" charset="0"/>
              <a:ea typeface="微软雅黑" charset="0"/>
              <a:cs typeface="微软雅黑" charset="0"/>
            </a:endParaRPr>
          </a:p>
        </p:txBody>
      </p:sp>
      <p:sp>
        <p:nvSpPr>
          <p:cNvPr id="50" name="文本框 49"/>
          <p:cNvSpPr txBox="1"/>
          <p:nvPr/>
        </p:nvSpPr>
        <p:spPr>
          <a:xfrm>
            <a:off x="471170" y="2472055"/>
            <a:ext cx="4064000" cy="398780"/>
          </a:xfrm>
          <a:prstGeom prst="rect">
            <a:avLst/>
          </a:prstGeom>
          <a:noFill/>
        </p:spPr>
        <p:txBody>
          <a:bodyPr wrap="square" rtlCol="0">
            <a:spAutoFit/>
          </a:bodyPr>
          <a:p>
            <a:r>
              <a:rPr lang="zh-CN" altLang="en-US" sz="2000">
                <a:latin typeface="微软雅黑" charset="0"/>
                <a:ea typeface="微软雅黑" charset="0"/>
              </a:rPr>
              <a:t>如果发生了</a:t>
            </a:r>
            <a:r>
              <a:rPr lang="en-US" altLang="zh-CN" sz="2000">
                <a:latin typeface="微软雅黑" charset="0"/>
                <a:ea typeface="微软雅黑" charset="0"/>
              </a:rPr>
              <a:t>，</a:t>
            </a:r>
            <a:r>
              <a:rPr lang="zh-CN" altLang="en-US" sz="2000">
                <a:latin typeface="微软雅黑" charset="0"/>
                <a:ea typeface="微软雅黑" charset="0"/>
              </a:rPr>
              <a:t>是进行时还是完成时</a:t>
            </a:r>
            <a:r>
              <a:rPr lang="en-US" altLang="zh-CN" sz="2000">
                <a:latin typeface="微软雅黑" charset="0"/>
                <a:ea typeface="微软雅黑" charset="0"/>
              </a:rPr>
              <a:t>？</a:t>
            </a:r>
            <a:endParaRPr lang="en-US" altLang="zh-CN" sz="2000">
              <a:latin typeface="微软雅黑" charset="0"/>
              <a:ea typeface="微软雅黑" charset="0"/>
            </a:endParaRPr>
          </a:p>
        </p:txBody>
      </p:sp>
      <p:sp>
        <p:nvSpPr>
          <p:cNvPr id="51" name="文本框 50"/>
          <p:cNvSpPr txBox="1"/>
          <p:nvPr/>
        </p:nvSpPr>
        <p:spPr>
          <a:xfrm>
            <a:off x="471170" y="3406775"/>
            <a:ext cx="4064000" cy="706755"/>
          </a:xfrm>
          <a:prstGeom prst="rect">
            <a:avLst/>
          </a:prstGeom>
          <a:noFill/>
        </p:spPr>
        <p:txBody>
          <a:bodyPr wrap="square" rtlCol="0">
            <a:spAutoFit/>
          </a:bodyPr>
          <a:p>
            <a:r>
              <a:rPr lang="zh-CN" altLang="en-US" sz="2000">
                <a:latin typeface="微软雅黑" charset="0"/>
                <a:ea typeface="微软雅黑" charset="0"/>
              </a:rPr>
              <a:t>如果正在进行</a:t>
            </a:r>
            <a:r>
              <a:rPr lang="en-US" altLang="zh-CN" sz="2000">
                <a:latin typeface="微软雅黑" charset="0"/>
                <a:ea typeface="微软雅黑" charset="0"/>
              </a:rPr>
              <a:t>，</a:t>
            </a:r>
            <a:r>
              <a:rPr lang="zh-CN" altLang="en-US" sz="2000">
                <a:latin typeface="微软雅黑" charset="0"/>
                <a:ea typeface="微软雅黑" charset="0"/>
              </a:rPr>
              <a:t>那变迁的路径</a:t>
            </a:r>
            <a:r>
              <a:rPr lang="en-US" altLang="zh-CN" sz="2000">
                <a:latin typeface="微软雅黑" charset="0"/>
                <a:ea typeface="微软雅黑" charset="0"/>
              </a:rPr>
              <a:t>、</a:t>
            </a:r>
            <a:r>
              <a:rPr lang="zh-CN" altLang="en-US" sz="2000">
                <a:latin typeface="微软雅黑" charset="0"/>
                <a:ea typeface="微软雅黑" charset="0"/>
              </a:rPr>
              <a:t>动力</a:t>
            </a:r>
            <a:r>
              <a:rPr lang="en-US" altLang="zh-CN" sz="2000">
                <a:latin typeface="微软雅黑" charset="0"/>
                <a:ea typeface="微软雅黑" charset="0"/>
              </a:rPr>
              <a:t>、</a:t>
            </a:r>
            <a:r>
              <a:rPr lang="zh-CN" altLang="en-US" sz="2000">
                <a:latin typeface="微软雅黑" charset="0"/>
                <a:ea typeface="微软雅黑" charset="0"/>
              </a:rPr>
              <a:t>方式分别是什么</a:t>
            </a:r>
            <a:r>
              <a:rPr lang="en-US" altLang="zh-CN" sz="2000">
                <a:latin typeface="微软雅黑" charset="0"/>
                <a:ea typeface="微软雅黑" charset="0"/>
              </a:rPr>
              <a:t>？</a:t>
            </a:r>
            <a:endParaRPr lang="en-US" altLang="zh-CN" sz="2000">
              <a:latin typeface="微软雅黑" charset="0"/>
              <a:ea typeface="微软雅黑" charset="0"/>
            </a:endParaRPr>
          </a:p>
        </p:txBody>
      </p:sp>
      <p:sp>
        <p:nvSpPr>
          <p:cNvPr id="52" name="下箭头 51"/>
          <p:cNvSpPr/>
          <p:nvPr/>
        </p:nvSpPr>
        <p:spPr>
          <a:xfrm>
            <a:off x="2148205" y="1951990"/>
            <a:ext cx="516255" cy="537210"/>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下箭头 52"/>
          <p:cNvSpPr/>
          <p:nvPr/>
        </p:nvSpPr>
        <p:spPr>
          <a:xfrm>
            <a:off x="2148205" y="2864485"/>
            <a:ext cx="516255" cy="537210"/>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文本框 53"/>
          <p:cNvSpPr txBox="1"/>
          <p:nvPr/>
        </p:nvSpPr>
        <p:spPr>
          <a:xfrm>
            <a:off x="5805805" y="6060440"/>
            <a:ext cx="4064000" cy="460375"/>
          </a:xfrm>
          <a:prstGeom prst="rect">
            <a:avLst/>
          </a:prstGeom>
          <a:noFill/>
        </p:spPr>
        <p:txBody>
          <a:bodyPr wrap="square" rtlCol="0">
            <a:spAutoFit/>
          </a:bodyPr>
          <a:p>
            <a:r>
              <a:rPr lang="zh-CN" altLang="en-US" sz="2400" b="1">
                <a:solidFill>
                  <a:srgbClr val="FF0000"/>
                </a:solidFill>
              </a:rPr>
              <a:t>历史制度主义下的</a:t>
            </a:r>
            <a:r>
              <a:rPr lang="zh-CN" altLang="en-US" sz="2400" b="1">
                <a:solidFill>
                  <a:srgbClr val="FF0000"/>
                </a:solidFill>
              </a:rPr>
              <a:t>渐进变迁</a:t>
            </a:r>
            <a:endParaRPr lang="zh-CN" altLang="en-US" sz="2400" b="1">
              <a:solidFill>
                <a:srgbClr val="FF0000"/>
              </a:solidFill>
            </a:endParaRPr>
          </a:p>
        </p:txBody>
      </p:sp>
      <p:sp>
        <p:nvSpPr>
          <p:cNvPr id="55" name="下箭头 54"/>
          <p:cNvSpPr/>
          <p:nvPr/>
        </p:nvSpPr>
        <p:spPr>
          <a:xfrm rot="18300000">
            <a:off x="4959350" y="5516245"/>
            <a:ext cx="450215" cy="873125"/>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down)">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down)">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down)">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down)">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wipe(down)">
                                      <p:cBhvr>
                                        <p:cTn id="3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2" grpId="1" animBg="1"/>
      <p:bldP spid="50" grpId="0"/>
      <p:bldP spid="50" grpId="1"/>
      <p:bldP spid="53" grpId="0" bldLvl="0" animBg="1"/>
      <p:bldP spid="53" grpId="1" animBg="1"/>
      <p:bldP spid="51" grpId="0"/>
      <p:bldP spid="51" grpId="1"/>
      <p:bldP spid="46" grpId="0"/>
      <p:bldP spid="46" grpId="1"/>
      <p:bldP spid="55" grpId="0" bldLvl="0" animBg="1"/>
      <p:bldP spid="55" grpId="1" animBg="1"/>
      <p:bldP spid="54" grpId="0"/>
      <p:bldP spid="5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91465" y="371475"/>
            <a:ext cx="2534920" cy="876300"/>
            <a:chOff x="2360" y="4651"/>
            <a:chExt cx="3992" cy="1380"/>
          </a:xfrm>
        </p:grpSpPr>
        <p:sp>
          <p:nvSpPr>
            <p:cNvPr id="13" name="文本框 12"/>
            <p:cNvSpPr txBox="1"/>
            <p:nvPr>
              <p:custDataLst>
                <p:tags r:id="rId3"/>
              </p:custDataLst>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02</a:t>
              </a:r>
              <a:endParaRPr lang="en-US" altLang="zh-CN" sz="4800" dirty="0">
                <a:solidFill>
                  <a:schemeClr val="tx1"/>
                </a:solidFill>
                <a:latin typeface="微软雅黑" charset="-122"/>
                <a:ea typeface="微软雅黑" charset="-122"/>
              </a:endParaRPr>
            </a:p>
          </p:txBody>
        </p:sp>
        <p:sp>
          <p:nvSpPr>
            <p:cNvPr id="17" name="文本框 16"/>
            <p:cNvSpPr txBox="1"/>
            <p:nvPr>
              <p:custDataLst>
                <p:tags r:id="rId4"/>
              </p:custDataLst>
            </p:nvPr>
          </p:nvSpPr>
          <p:spPr>
            <a:xfrm>
              <a:off x="3890" y="4830"/>
              <a:ext cx="2205"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研究框架</a:t>
              </a:r>
              <a:endParaRPr lang="zh-CN" altLang="en-US" sz="2000" b="1" dirty="0">
                <a:latin typeface="微软雅黑" charset="-122"/>
                <a:ea typeface="微软雅黑" charset="-122"/>
              </a:endParaRPr>
            </a:p>
          </p:txBody>
        </p:sp>
        <p:sp>
          <p:nvSpPr>
            <p:cNvPr id="18" name="矩形 17"/>
            <p:cNvSpPr/>
            <p:nvPr>
              <p:custDataLst>
                <p:tags r:id="rId5"/>
              </p:custDataLst>
            </p:nvPr>
          </p:nvSpPr>
          <p:spPr>
            <a:xfrm>
              <a:off x="3892" y="5382"/>
              <a:ext cx="2460" cy="471"/>
            </a:xfrm>
            <a:prstGeom prst="rect">
              <a:avLst/>
            </a:prstGeom>
          </p:spPr>
          <p:txBody>
            <a:bodyPr wrap="square" anchor="t" anchorCtr="0">
              <a:spAutoFit/>
            </a:bodyPr>
            <a:lstStyle/>
            <a:p>
              <a:pPr algn="dist">
                <a:lnSpc>
                  <a:spcPct val="150000"/>
                </a:lnSpc>
              </a:pPr>
              <a:r>
                <a:rPr lang="en-US" altLang="zh-CN" sz="900" dirty="0">
                  <a:latin typeface="微软雅黑" charset="-122"/>
                  <a:ea typeface="微软雅黑" charset="-122"/>
                </a:rPr>
                <a:t>Research Framework</a:t>
              </a:r>
              <a:endParaRPr lang="en-US" altLang="zh-CN" sz="900" dirty="0">
                <a:latin typeface="微软雅黑" charset="-122"/>
                <a:ea typeface="微软雅黑" charset="-122"/>
              </a:endParaRPr>
            </a:p>
          </p:txBody>
        </p:sp>
        <p:sp>
          <p:nvSpPr>
            <p:cNvPr id="19" name="圆角矩形 103"/>
            <p:cNvSpPr/>
            <p:nvPr>
              <p:custDataLst>
                <p:tags r:id="rId6"/>
              </p:custDataLst>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pic>
        <p:nvPicPr>
          <p:cNvPr id="3" name="图片 2"/>
          <p:cNvPicPr>
            <a:picLocks noChangeAspect="1"/>
          </p:cNvPicPr>
          <p:nvPr/>
        </p:nvPicPr>
        <p:blipFill>
          <a:blip r:embed="rId7"/>
          <a:stretch>
            <a:fillRect/>
          </a:stretch>
        </p:blipFill>
        <p:spPr>
          <a:xfrm>
            <a:off x="471170" y="1247775"/>
            <a:ext cx="8371840" cy="387604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1"/>
          <p:cNvGraphicFramePr/>
          <p:nvPr>
            <p:custDataLst>
              <p:tags r:id="rId3"/>
            </p:custDataLst>
          </p:nvPr>
        </p:nvGraphicFramePr>
        <p:xfrm>
          <a:off x="4796155" y="1203960"/>
          <a:ext cx="7172325" cy="4775200"/>
        </p:xfrm>
        <a:graphic>
          <a:graphicData uri="http://schemas.openxmlformats.org/drawingml/2006/table">
            <a:tbl>
              <a:tblPr/>
              <a:tblGrid>
                <a:gridCol w="1788160"/>
                <a:gridCol w="2843530"/>
                <a:gridCol w="2540635"/>
              </a:tblGrid>
              <a:tr h="340995">
                <a:tc>
                  <a:txBody>
                    <a:bodyPr/>
                    <a:p>
                      <a:pPr marL="0" indent="0" algn="just">
                        <a:lnSpc>
                          <a:spcPct val="150000"/>
                        </a:lnSpc>
                        <a:spcBef>
                          <a:spcPct val="0"/>
                        </a:spcBef>
                        <a:spcAft>
                          <a:spcPct val="0"/>
                        </a:spcAft>
                      </a:pPr>
                      <a:r>
                        <a:rPr lang="zh-CN" sz="1400">
                          <a:latin typeface="Times New Roman" panose="02020503050405090304"/>
                          <a:ea typeface="宋体"/>
                        </a:rPr>
                        <a:t>阶段</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核心特征</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关键节点</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81990">
                <a:tc>
                  <a:txBody>
                    <a:bodyPr/>
                    <a:p>
                      <a:pPr marL="0" indent="0" algn="just">
                        <a:lnSpc>
                          <a:spcPct val="150000"/>
                        </a:lnSpc>
                        <a:spcBef>
                          <a:spcPct val="0"/>
                        </a:spcBef>
                        <a:spcAft>
                          <a:spcPct val="0"/>
                        </a:spcAft>
                      </a:pPr>
                      <a:r>
                        <a:rPr lang="zh-CN" sz="1400">
                          <a:latin typeface="Times New Roman" panose="02020503050405090304"/>
                          <a:ea typeface="宋体"/>
                        </a:rPr>
                        <a:t>旧多边主义时期</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欧美主导；正式规则；国家中心主义</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1945</a:t>
                      </a:r>
                      <a:r>
                        <a:rPr lang="zh-CN" sz="1400">
                          <a:latin typeface="Times New Roman" panose="02020503050405090304"/>
                          <a:ea typeface="宋体"/>
                        </a:rPr>
                        <a:t>布雷顿森林体系；</a:t>
                      </a:r>
                      <a:endParaRPr lang="zh-CN" sz="1400">
                        <a:latin typeface="Times New Roman" panose="02020503050405090304"/>
                        <a:ea typeface="宋体"/>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1947</a:t>
                      </a:r>
                      <a:r>
                        <a:rPr lang="zh-CN" sz="1400">
                          <a:latin typeface="Times New Roman" panose="02020503050405090304"/>
                          <a:ea typeface="宋体"/>
                        </a:rPr>
                        <a:t>关贸总协定</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023620">
                <a:tc>
                  <a:txBody>
                    <a:bodyPr/>
                    <a:p>
                      <a:pPr marL="0" indent="0" algn="just">
                        <a:lnSpc>
                          <a:spcPct val="150000"/>
                        </a:lnSpc>
                        <a:spcBef>
                          <a:spcPct val="0"/>
                        </a:spcBef>
                        <a:spcAft>
                          <a:spcPct val="0"/>
                        </a:spcAft>
                      </a:pPr>
                      <a:r>
                        <a:rPr lang="zh-CN" sz="1400">
                          <a:latin typeface="Times New Roman" panose="02020503050405090304"/>
                          <a:ea typeface="宋体"/>
                        </a:rPr>
                        <a:t>制度压力累积期</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治理议题多元化；制度碎片化；</a:t>
                      </a:r>
                      <a:endParaRPr lang="zh-CN" sz="1400">
                        <a:latin typeface="Times New Roman" panose="02020503050405090304"/>
                        <a:ea typeface="宋体"/>
                      </a:endParaRPr>
                    </a:p>
                    <a:p>
                      <a:pPr marL="0" indent="0" algn="just">
                        <a:lnSpc>
                          <a:spcPct val="150000"/>
                        </a:lnSpc>
                        <a:spcBef>
                          <a:spcPct val="0"/>
                        </a:spcBef>
                        <a:spcAft>
                          <a:spcPct val="0"/>
                        </a:spcAft>
                      </a:pPr>
                      <a:r>
                        <a:rPr lang="zh-CN" sz="1400">
                          <a:latin typeface="Times New Roman" panose="02020503050405090304"/>
                          <a:ea typeface="宋体"/>
                        </a:rPr>
                        <a:t>美国霸权地位动摇；新兴国家崛起</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9.11</a:t>
                      </a:r>
                      <a:r>
                        <a:rPr lang="zh-CN" sz="1400">
                          <a:latin typeface="Times New Roman" panose="02020503050405090304"/>
                          <a:ea typeface="宋体"/>
                        </a:rPr>
                        <a:t>后美国单边主义加剧；</a:t>
                      </a:r>
                      <a:endParaRPr lang="zh-CN" sz="1400">
                        <a:latin typeface="Times New Roman" panose="02020503050405090304"/>
                        <a:ea typeface="宋体"/>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2008</a:t>
                      </a:r>
                      <a:r>
                        <a:rPr lang="zh-CN" sz="1400">
                          <a:latin typeface="Times New Roman" panose="02020503050405090304"/>
                          <a:ea typeface="宋体"/>
                        </a:rPr>
                        <a:t>金融危机</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022985">
                <a:tc>
                  <a:txBody>
                    <a:bodyPr/>
                    <a:p>
                      <a:pPr marL="0" indent="0" algn="just">
                        <a:lnSpc>
                          <a:spcPct val="150000"/>
                        </a:lnSpc>
                        <a:spcBef>
                          <a:spcPct val="0"/>
                        </a:spcBef>
                        <a:spcAft>
                          <a:spcPct val="0"/>
                        </a:spcAft>
                      </a:pPr>
                      <a:r>
                        <a:rPr lang="zh-CN" sz="1400">
                          <a:latin typeface="Times New Roman" panose="02020503050405090304"/>
                          <a:ea typeface="宋体"/>
                        </a:rPr>
                        <a:t>新多边主义萌发期</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多极化趋势明显；全球南方兴起；</a:t>
                      </a:r>
                      <a:endParaRPr lang="zh-CN" sz="1400">
                        <a:latin typeface="Times New Roman" panose="02020503050405090304"/>
                        <a:ea typeface="宋体"/>
                      </a:endParaRPr>
                    </a:p>
                    <a:p>
                      <a:pPr marL="0" indent="0" algn="just">
                        <a:lnSpc>
                          <a:spcPct val="150000"/>
                        </a:lnSpc>
                        <a:spcBef>
                          <a:spcPct val="0"/>
                        </a:spcBef>
                        <a:spcAft>
                          <a:spcPct val="0"/>
                        </a:spcAft>
                      </a:pPr>
                      <a:r>
                        <a:rPr lang="zh-CN" sz="1400">
                          <a:latin typeface="Times New Roman" panose="02020503050405090304"/>
                          <a:ea typeface="宋体"/>
                        </a:rPr>
                        <a:t>非正式规则</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2009 G20</a:t>
                      </a:r>
                      <a:r>
                        <a:rPr lang="zh-CN" sz="1400">
                          <a:latin typeface="Times New Roman" panose="02020503050405090304"/>
                          <a:ea typeface="宋体"/>
                        </a:rPr>
                        <a:t>升级为峰会机制</a:t>
                      </a:r>
                      <a:endParaRPr lang="zh-CN" sz="1400">
                        <a:latin typeface="Times New Roman" panose="02020503050405090304"/>
                        <a:ea typeface="宋体"/>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2015</a:t>
                      </a:r>
                      <a:r>
                        <a:rPr lang="zh-CN" sz="1400">
                          <a:latin typeface="Times New Roman" panose="02020503050405090304"/>
                          <a:ea typeface="宋体"/>
                        </a:rPr>
                        <a:t>《巴黎气候协定》；</a:t>
                      </a:r>
                      <a:endParaRPr lang="zh-CN" sz="1400">
                        <a:latin typeface="Times New Roman" panose="02020503050405090304"/>
                        <a:ea typeface="宋体"/>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2015 SDGs</a:t>
                      </a:r>
                      <a:r>
                        <a:rPr lang="zh-CN" sz="1400">
                          <a:latin typeface="Times New Roman" panose="02020503050405090304"/>
                          <a:ea typeface="宋体"/>
                        </a:rPr>
                        <a:t>设定</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705610">
                <a:tc>
                  <a:txBody>
                    <a:bodyPr/>
                    <a:p>
                      <a:pPr marL="0" indent="0" algn="just">
                        <a:lnSpc>
                          <a:spcPct val="150000"/>
                        </a:lnSpc>
                        <a:spcBef>
                          <a:spcPct val="0"/>
                        </a:spcBef>
                        <a:spcAft>
                          <a:spcPct val="0"/>
                        </a:spcAft>
                      </a:pPr>
                      <a:r>
                        <a:rPr lang="zh-CN" sz="1400">
                          <a:latin typeface="Times New Roman" panose="02020503050405090304"/>
                          <a:ea typeface="宋体"/>
                        </a:rPr>
                        <a:t>新多边主义发展期</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400">
                          <a:latin typeface="Times New Roman" panose="02020503050405090304"/>
                          <a:ea typeface="宋体"/>
                        </a:rPr>
                        <a:t>明确提出全球治理机制重构诉求；</a:t>
                      </a:r>
                      <a:endParaRPr lang="zh-CN" sz="1400">
                        <a:latin typeface="Times New Roman" panose="02020503050405090304"/>
                        <a:ea typeface="宋体"/>
                      </a:endParaRPr>
                    </a:p>
                    <a:p>
                      <a:pPr marL="0" indent="0" algn="just">
                        <a:lnSpc>
                          <a:spcPct val="150000"/>
                        </a:lnSpc>
                        <a:spcBef>
                          <a:spcPct val="0"/>
                        </a:spcBef>
                        <a:spcAft>
                          <a:spcPct val="0"/>
                        </a:spcAft>
                      </a:pPr>
                      <a:r>
                        <a:rPr lang="zh-CN" sz="1400">
                          <a:latin typeface="Times New Roman" panose="02020503050405090304"/>
                          <a:ea typeface="宋体"/>
                        </a:rPr>
                        <a:t>多极化进一步加强；治理议题复杂性加深；</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2020 </a:t>
                      </a:r>
                      <a:r>
                        <a:rPr lang="zh-CN" sz="1400">
                          <a:latin typeface="Times New Roman" panose="02020503050405090304"/>
                          <a:ea typeface="宋体"/>
                        </a:rPr>
                        <a:t>新冠疫情；</a:t>
                      </a:r>
                      <a:r>
                        <a:rPr lang="en-US" altLang="zh-CN" sz="1400">
                          <a:latin typeface="Times New Roman" panose="02020503050405090304"/>
                          <a:ea typeface="Times New Roman" panose="02020503050405090304"/>
                        </a:rPr>
                        <a:t>COVAX</a:t>
                      </a:r>
                      <a:r>
                        <a:rPr lang="zh-CN" sz="1400">
                          <a:latin typeface="Times New Roman" panose="02020503050405090304"/>
                          <a:ea typeface="宋体"/>
                        </a:rPr>
                        <a:t>倡议</a:t>
                      </a:r>
                      <a:endParaRPr lang="zh-CN" sz="1400">
                        <a:latin typeface="Times New Roman" panose="02020503050405090304"/>
                        <a:ea typeface="宋体"/>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2021 </a:t>
                      </a:r>
                      <a:r>
                        <a:rPr lang="zh-CN" sz="1400">
                          <a:latin typeface="Times New Roman" panose="02020503050405090304"/>
                          <a:ea typeface="宋体"/>
                        </a:rPr>
                        <a:t>全球发展倡议</a:t>
                      </a:r>
                      <a:r>
                        <a:rPr lang="en-US" altLang="zh-CN" sz="1400">
                          <a:latin typeface="Times New Roman" panose="02020503050405090304"/>
                          <a:ea typeface="Times New Roman" panose="02020503050405090304"/>
                        </a:rPr>
                        <a:t>(GDI)</a:t>
                      </a:r>
                      <a:endParaRPr lang="en-US" altLang="zh-CN" sz="1400">
                        <a:latin typeface="Times New Roman" panose="02020503050405090304"/>
                        <a:ea typeface="Times New Roman" panose="02020503050405090304"/>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2022 </a:t>
                      </a:r>
                      <a:r>
                        <a:rPr lang="zh-CN" sz="1400">
                          <a:latin typeface="Times New Roman" panose="02020503050405090304"/>
                          <a:ea typeface="宋体"/>
                        </a:rPr>
                        <a:t>全球安全倡议</a:t>
                      </a:r>
                      <a:r>
                        <a:rPr lang="en-US" altLang="zh-CN" sz="1400">
                          <a:latin typeface="Times New Roman" panose="02020503050405090304"/>
                          <a:ea typeface="Times New Roman" panose="02020503050405090304"/>
                        </a:rPr>
                        <a:t>(GSI)</a:t>
                      </a:r>
                      <a:endParaRPr lang="en-US" altLang="zh-CN" sz="1400">
                        <a:latin typeface="Times New Roman" panose="02020503050405090304"/>
                        <a:ea typeface="Times New Roman" panose="02020503050405090304"/>
                      </a:endParaRPr>
                    </a:p>
                    <a:p>
                      <a:pPr marL="0" indent="0" algn="just">
                        <a:lnSpc>
                          <a:spcPct val="150000"/>
                        </a:lnSpc>
                        <a:spcBef>
                          <a:spcPct val="0"/>
                        </a:spcBef>
                        <a:spcAft>
                          <a:spcPct val="0"/>
                        </a:spcAft>
                      </a:pPr>
                      <a:r>
                        <a:rPr lang="en-US" altLang="zh-CN" sz="1400">
                          <a:latin typeface="Times New Roman" panose="02020503050405090304"/>
                          <a:ea typeface="Times New Roman" panose="02020503050405090304"/>
                        </a:rPr>
                        <a:t>2023 </a:t>
                      </a:r>
                      <a:r>
                        <a:rPr lang="zh-CN" sz="1400">
                          <a:latin typeface="Times New Roman" panose="02020503050405090304"/>
                          <a:ea typeface="宋体"/>
                        </a:rPr>
                        <a:t>首届</a:t>
                      </a:r>
                      <a:r>
                        <a:rPr lang="en-US" altLang="zh-CN" sz="1400">
                          <a:latin typeface="Times New Roman" panose="02020503050405090304"/>
                          <a:ea typeface="Times New Roman" panose="02020503050405090304"/>
                        </a:rPr>
                        <a:t>AI</a:t>
                      </a:r>
                      <a:r>
                        <a:rPr lang="zh-CN" sz="1400">
                          <a:latin typeface="Times New Roman" panose="02020503050405090304"/>
                          <a:ea typeface="宋体"/>
                        </a:rPr>
                        <a:t>安全峰会</a:t>
                      </a:r>
                      <a:endParaRPr lang="zh-CN" sz="14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grpSp>
        <p:nvGrpSpPr>
          <p:cNvPr id="22" name="组合 21"/>
          <p:cNvGrpSpPr/>
          <p:nvPr/>
        </p:nvGrpSpPr>
        <p:grpSpPr>
          <a:xfrm>
            <a:off x="291465" y="341135"/>
            <a:ext cx="4164330" cy="830183"/>
            <a:chOff x="2360" y="4578"/>
            <a:chExt cx="6328" cy="1601"/>
          </a:xfrm>
        </p:grpSpPr>
        <p:sp>
          <p:nvSpPr>
            <p:cNvPr id="33" name="文本框 32"/>
            <p:cNvSpPr txBox="1"/>
            <p:nvPr/>
          </p:nvSpPr>
          <p:spPr>
            <a:xfrm>
              <a:off x="2360" y="4578"/>
              <a:ext cx="1532" cy="1601"/>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03</a:t>
              </a:r>
              <a:endParaRPr lang="en-US" altLang="zh-CN" sz="4800" dirty="0">
                <a:solidFill>
                  <a:schemeClr val="tx1"/>
                </a:solidFill>
                <a:latin typeface="微软雅黑" charset="-122"/>
                <a:ea typeface="微软雅黑" charset="-122"/>
              </a:endParaRPr>
            </a:p>
          </p:txBody>
        </p:sp>
        <p:sp>
          <p:nvSpPr>
            <p:cNvPr id="34" name="文本框 33"/>
            <p:cNvSpPr txBox="1"/>
            <p:nvPr/>
          </p:nvSpPr>
          <p:spPr>
            <a:xfrm>
              <a:off x="3890" y="4763"/>
              <a:ext cx="4798" cy="769"/>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新旧多边主义的</a:t>
              </a:r>
              <a:r>
                <a:rPr lang="zh-CN" altLang="en-US" sz="2000" b="1" dirty="0">
                  <a:latin typeface="微软雅黑" charset="-122"/>
                  <a:ea typeface="微软雅黑" charset="-122"/>
                </a:rPr>
                <a:t>历史演进</a:t>
              </a:r>
              <a:endParaRPr lang="zh-CN" altLang="en-US" sz="2000" b="1" dirty="0">
                <a:latin typeface="微软雅黑" charset="-122"/>
                <a:ea typeface="微软雅黑" charset="-122"/>
              </a:endParaRPr>
            </a:p>
          </p:txBody>
        </p:sp>
        <p:sp>
          <p:nvSpPr>
            <p:cNvPr id="35" name="矩形 34"/>
            <p:cNvSpPr/>
            <p:nvPr/>
          </p:nvSpPr>
          <p:spPr>
            <a:xfrm>
              <a:off x="3892" y="5382"/>
              <a:ext cx="3027" cy="577"/>
            </a:xfrm>
            <a:prstGeom prst="rect">
              <a:avLst/>
            </a:prstGeom>
          </p:spPr>
          <p:txBody>
            <a:bodyPr wrap="square" anchor="t" anchorCtr="0">
              <a:spAutoFit/>
            </a:bodyPr>
            <a:lstStyle/>
            <a:p>
              <a:pPr algn="dist">
                <a:lnSpc>
                  <a:spcPct val="150000"/>
                </a:lnSpc>
              </a:pPr>
              <a:r>
                <a:rPr lang="en-US" altLang="zh-CN" sz="900" dirty="0">
                  <a:latin typeface="微软雅黑" charset="-122"/>
                  <a:ea typeface="微软雅黑" charset="-122"/>
                </a:rPr>
                <a:t>Historical Evolution</a:t>
              </a:r>
              <a:endParaRPr lang="en-US" altLang="zh-CN" sz="900" dirty="0">
                <a:latin typeface="微软雅黑" charset="-122"/>
                <a:ea typeface="微软雅黑" charset="-122"/>
              </a:endParaRPr>
            </a:p>
          </p:txBody>
        </p:sp>
        <p:sp>
          <p:nvSpPr>
            <p:cNvPr id="36"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3" name="文本框 2"/>
          <p:cNvSpPr txBox="1"/>
          <p:nvPr/>
        </p:nvSpPr>
        <p:spPr>
          <a:xfrm>
            <a:off x="4796155" y="658495"/>
            <a:ext cx="4064000" cy="398780"/>
          </a:xfrm>
          <a:prstGeom prst="rect">
            <a:avLst/>
          </a:prstGeom>
          <a:noFill/>
        </p:spPr>
        <p:txBody>
          <a:bodyPr wrap="square" rtlCol="0">
            <a:spAutoFit/>
          </a:bodyPr>
          <a:p>
            <a:r>
              <a:rPr lang="zh-CN" altLang="en-US" sz="2000" b="1">
                <a:latin typeface="微软雅黑" charset="0"/>
                <a:ea typeface="微软雅黑" charset="0"/>
                <a:cs typeface="微软雅黑" charset="0"/>
              </a:rPr>
              <a:t>时序</a:t>
            </a:r>
            <a:r>
              <a:rPr lang="en-US" altLang="zh-CN" sz="2000" b="1">
                <a:latin typeface="微软雅黑" charset="0"/>
                <a:ea typeface="微软雅黑" charset="0"/>
                <a:cs typeface="微软雅黑" charset="0"/>
              </a:rPr>
              <a:t>+</a:t>
            </a:r>
            <a:r>
              <a:rPr lang="zh-CN" altLang="en-US" sz="2000" b="1">
                <a:latin typeface="微软雅黑" charset="0"/>
                <a:ea typeface="微软雅黑" charset="0"/>
                <a:cs typeface="微软雅黑" charset="0"/>
              </a:rPr>
              <a:t>关键节点</a:t>
            </a:r>
            <a:endParaRPr lang="zh-CN" altLang="en-US" sz="2000" b="1">
              <a:latin typeface="微软雅黑" charset="0"/>
              <a:ea typeface="微软雅黑" charset="0"/>
              <a:cs typeface="微软雅黑" charset="0"/>
            </a:endParaRPr>
          </a:p>
        </p:txBody>
      </p:sp>
      <p:sp>
        <p:nvSpPr>
          <p:cNvPr id="4" name="文本框 3"/>
          <p:cNvSpPr txBox="1"/>
          <p:nvPr/>
        </p:nvSpPr>
        <p:spPr>
          <a:xfrm>
            <a:off x="291465" y="1203960"/>
            <a:ext cx="4319270" cy="922020"/>
          </a:xfrm>
          <a:prstGeom prst="rect">
            <a:avLst/>
          </a:prstGeom>
        </p:spPr>
        <p:txBody>
          <a:bodyPr wrap="square">
            <a:spAutoFit/>
          </a:bodyPr>
          <a:p>
            <a:pPr marL="0" indent="0" algn="just" defTabSz="266700">
              <a:spcBef>
                <a:spcPct val="0"/>
              </a:spcBef>
              <a:spcAft>
                <a:spcPct val="0"/>
              </a:spcAft>
            </a:pPr>
            <a:r>
              <a:rPr lang="zh-CN" altLang="en-US">
                <a:latin typeface="微软雅黑" charset="0"/>
                <a:ea typeface="微软雅黑" charset="0"/>
                <a:cs typeface="微软雅黑" charset="0"/>
              </a:rPr>
              <a:t>多边主义</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按照普遍的行为原则协调三个及以上国家之间关系的一种制度形式”</a:t>
            </a:r>
            <a:r>
              <a:rPr lang="en-US" altLang="zh-CN">
                <a:latin typeface="微软雅黑" charset="0"/>
                <a:ea typeface="微软雅黑" charset="0"/>
                <a:cs typeface="微软雅黑" charset="0"/>
              </a:rPr>
              <a:t>(Ruggie, 1992, p.568)</a:t>
            </a:r>
            <a:endParaRPr lang="en-US" altLang="zh-CN">
              <a:latin typeface="微软雅黑" charset="0"/>
              <a:ea typeface="微软雅黑" charset="0"/>
              <a:cs typeface="微软雅黑" charset="0"/>
            </a:endParaRPr>
          </a:p>
        </p:txBody>
      </p:sp>
      <p:sp>
        <p:nvSpPr>
          <p:cNvPr id="5" name="文本框 4"/>
          <p:cNvSpPr txBox="1"/>
          <p:nvPr/>
        </p:nvSpPr>
        <p:spPr>
          <a:xfrm>
            <a:off x="291465" y="2402205"/>
            <a:ext cx="4064000" cy="1198880"/>
          </a:xfrm>
          <a:prstGeom prst="rect">
            <a:avLst/>
          </a:prstGeom>
          <a:noFill/>
        </p:spPr>
        <p:txBody>
          <a:bodyPr wrap="square" rtlCol="0">
            <a:spAutoFit/>
          </a:bodyPr>
          <a:p>
            <a:r>
              <a:rPr lang="zh-CN" altLang="en-US">
                <a:latin typeface="微软雅黑" charset="0"/>
                <a:ea typeface="微软雅黑" charset="0"/>
              </a:rPr>
              <a:t>传统多边主义的关键特征，是将全球多边合作的制度稳定性高度依赖于美国作为核心领导者（也即霸权国）的公共物品供给能力与制度性承诺。</a:t>
            </a:r>
            <a:endParaRPr lang="zh-CN" altLang="en-US">
              <a:latin typeface="微软雅黑" charset="0"/>
              <a:ea typeface="微软雅黑" charset="0"/>
            </a:endParaRPr>
          </a:p>
        </p:txBody>
      </p:sp>
      <p:sp>
        <p:nvSpPr>
          <p:cNvPr id="6" name="左箭头 5"/>
          <p:cNvSpPr/>
          <p:nvPr/>
        </p:nvSpPr>
        <p:spPr>
          <a:xfrm rot="20100000">
            <a:off x="4128135" y="2144395"/>
            <a:ext cx="1121410" cy="361950"/>
          </a:xfrm>
          <a:prstGeom prst="lef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291465" y="3815080"/>
            <a:ext cx="4319905" cy="1476375"/>
          </a:xfrm>
          <a:prstGeom prst="rect">
            <a:avLst/>
          </a:prstGeom>
        </p:spPr>
        <p:txBody>
          <a:bodyPr wrap="square">
            <a:spAutoFit/>
          </a:bodyPr>
          <a:p>
            <a:pPr marL="0" indent="0" algn="just" defTabSz="266700">
              <a:spcBef>
                <a:spcPct val="0"/>
              </a:spcBef>
              <a:spcAft>
                <a:spcPct val="0"/>
              </a:spcAft>
            </a:pPr>
            <a:r>
              <a:rPr lang="zh-CN" altLang="en-US">
                <a:latin typeface="微软雅黑" charset="0"/>
                <a:ea typeface="微软雅黑" charset="0"/>
                <a:cs typeface="微软雅黑" charset="0"/>
              </a:rPr>
              <a:t>美国相对国力的衰弱，在世界范围内的领导力、信用也随之减弱，美国没有能力也逐渐没有意愿来维持多边主义合作，国际秩序面临严重的“领导力赤字”与“治理真空”。</a:t>
            </a:r>
            <a:endParaRPr lang="zh-CN" altLang="en-US">
              <a:latin typeface="微软雅黑" charset="0"/>
              <a:ea typeface="微软雅黑" charset="0"/>
              <a:cs typeface="微软雅黑" charset="0"/>
            </a:endParaRPr>
          </a:p>
        </p:txBody>
      </p:sp>
      <p:sp>
        <p:nvSpPr>
          <p:cNvPr id="9" name="左箭头 8"/>
          <p:cNvSpPr/>
          <p:nvPr/>
        </p:nvSpPr>
        <p:spPr>
          <a:xfrm rot="18360000">
            <a:off x="4128770" y="2994660"/>
            <a:ext cx="1121410" cy="361950"/>
          </a:xfrm>
          <a:prstGeom prst="lef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291465" y="5565775"/>
            <a:ext cx="4064000" cy="645160"/>
          </a:xfrm>
          <a:prstGeom prst="rect">
            <a:avLst/>
          </a:prstGeom>
          <a:noFill/>
        </p:spPr>
        <p:txBody>
          <a:bodyPr wrap="square" rtlCol="0">
            <a:spAutoFit/>
          </a:bodyPr>
          <a:p>
            <a:r>
              <a:rPr lang="zh-CN" altLang="en-US">
                <a:solidFill>
                  <a:srgbClr val="FF0000"/>
                </a:solidFill>
                <a:latin typeface="微软雅黑" charset="0"/>
                <a:ea typeface="微软雅黑" charset="0"/>
              </a:rPr>
              <a:t>新多边主义</a:t>
            </a:r>
            <a:r>
              <a:rPr lang="en-US" altLang="zh-CN">
                <a:solidFill>
                  <a:srgbClr val="FF0000"/>
                </a:solidFill>
                <a:latin typeface="微软雅黑" charset="0"/>
                <a:ea typeface="微软雅黑" charset="0"/>
              </a:rPr>
              <a:t>：</a:t>
            </a:r>
            <a:r>
              <a:rPr lang="zh-CN" altLang="en-US">
                <a:solidFill>
                  <a:srgbClr val="FF0000"/>
                </a:solidFill>
                <a:latin typeface="微软雅黑" charset="0"/>
                <a:ea typeface="微软雅黑" charset="0"/>
              </a:rPr>
              <a:t>多极化、多行为体、新兴议题以及新兴治理模式</a:t>
            </a:r>
            <a:endParaRPr lang="zh-CN" altLang="en-US">
              <a:solidFill>
                <a:srgbClr val="FF0000"/>
              </a:solidFill>
              <a:latin typeface="微软雅黑" charset="0"/>
              <a:ea typeface="微软雅黑" charset="0"/>
            </a:endParaRPr>
          </a:p>
        </p:txBody>
      </p:sp>
      <p:sp>
        <p:nvSpPr>
          <p:cNvPr id="11" name="左箭头 10"/>
          <p:cNvSpPr/>
          <p:nvPr/>
        </p:nvSpPr>
        <p:spPr>
          <a:xfrm rot="19380000">
            <a:off x="4271010" y="5002530"/>
            <a:ext cx="1121410" cy="361950"/>
          </a:xfrm>
          <a:prstGeom prst="lef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p:bldP spid="5" grpId="1"/>
      <p:bldP spid="9" grpId="0" animBg="1"/>
      <p:bldP spid="9" grpId="1" animBg="1"/>
      <p:bldP spid="8" grpId="0"/>
      <p:bldP spid="8" grpId="1"/>
      <p:bldP spid="10" grpId="0"/>
      <p:bldP spid="10" grpId="1"/>
      <p:bldP spid="11" grpId="0" animBg="1"/>
      <p:bldP spid="11"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10190162" y="201677"/>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4639310" cy="876300"/>
            <a:chOff x="2360" y="4651"/>
            <a:chExt cx="7306"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2"/>
              <a:ext cx="5776"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a:t>
              </a:r>
              <a:r>
                <a:rPr lang="zh-CN" altLang="en-US" sz="2000" b="1" dirty="0">
                  <a:latin typeface="微软雅黑" charset="-122"/>
                  <a:ea typeface="微软雅黑" charset="-122"/>
                </a:rPr>
                <a:t>历史制度主义分析</a:t>
              </a:r>
              <a:endParaRPr lang="zh-CN" altLang="en-US" sz="2000" b="1" dirty="0">
                <a:latin typeface="微软雅黑" charset="-122"/>
                <a:ea typeface="微软雅黑" charset="-122"/>
              </a:endParaRPr>
            </a:p>
          </p:txBody>
        </p:sp>
        <p:sp>
          <p:nvSpPr>
            <p:cNvPr id="40" name="矩形 39"/>
            <p:cNvSpPr/>
            <p:nvPr/>
          </p:nvSpPr>
          <p:spPr>
            <a:xfrm>
              <a:off x="3892" y="5382"/>
              <a:ext cx="5431" cy="605"/>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pic>
        <p:nvPicPr>
          <p:cNvPr id="5" name="图片 4"/>
          <p:cNvPicPr>
            <a:picLocks noChangeAspect="1"/>
          </p:cNvPicPr>
          <p:nvPr/>
        </p:nvPicPr>
        <p:blipFill>
          <a:blip r:embed="rId3"/>
          <a:stretch>
            <a:fillRect/>
          </a:stretch>
        </p:blipFill>
        <p:spPr>
          <a:xfrm>
            <a:off x="3545840" y="1388745"/>
            <a:ext cx="3633470" cy="2054225"/>
          </a:xfrm>
          <a:prstGeom prst="rect">
            <a:avLst/>
          </a:prstGeom>
        </p:spPr>
      </p:pic>
      <p:sp>
        <p:nvSpPr>
          <p:cNvPr id="4" name="矩形 3"/>
          <p:cNvSpPr/>
          <p:nvPr/>
        </p:nvSpPr>
        <p:spPr>
          <a:xfrm>
            <a:off x="5970905" y="1456055"/>
            <a:ext cx="1040130" cy="368300"/>
          </a:xfrm>
          <a:prstGeom prst="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nvPicPr>
        <p:blipFill>
          <a:blip r:embed="rId4"/>
          <a:stretch>
            <a:fillRect/>
          </a:stretch>
        </p:blipFill>
        <p:spPr>
          <a:xfrm>
            <a:off x="9008745" y="1209040"/>
            <a:ext cx="2404745" cy="2310765"/>
          </a:xfrm>
          <a:prstGeom prst="rect">
            <a:avLst/>
          </a:prstGeom>
        </p:spPr>
      </p:pic>
      <p:sp>
        <p:nvSpPr>
          <p:cNvPr id="7" name="右箭头 6"/>
          <p:cNvSpPr/>
          <p:nvPr/>
        </p:nvSpPr>
        <p:spPr>
          <a:xfrm>
            <a:off x="7400290" y="2198370"/>
            <a:ext cx="1386840" cy="434975"/>
          </a:xfrm>
          <a:prstGeom prst="righ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5"/>
          <a:stretch>
            <a:fillRect/>
          </a:stretch>
        </p:blipFill>
        <p:spPr>
          <a:xfrm>
            <a:off x="291465" y="3519805"/>
            <a:ext cx="7924800" cy="2616200"/>
          </a:xfrm>
          <a:prstGeom prst="rect">
            <a:avLst/>
          </a:prstGeom>
        </p:spPr>
      </p:pic>
      <p:sp>
        <p:nvSpPr>
          <p:cNvPr id="9" name="文本框 8"/>
          <p:cNvSpPr txBox="1"/>
          <p:nvPr/>
        </p:nvSpPr>
        <p:spPr>
          <a:xfrm>
            <a:off x="471170" y="6136005"/>
            <a:ext cx="4064000" cy="368300"/>
          </a:xfrm>
          <a:prstGeom prst="rect">
            <a:avLst/>
          </a:prstGeom>
          <a:noFill/>
        </p:spPr>
        <p:txBody>
          <a:bodyPr wrap="square" rtlCol="0">
            <a:spAutoFit/>
          </a:bodyPr>
          <a:p>
            <a:r>
              <a:rPr lang="en-US" altLang="zh-CN"/>
              <a:t>(Mahoney and Thelen, 2009, p.16)</a:t>
            </a:r>
            <a:endParaRPr lang="en-US" altLang="zh-CN"/>
          </a:p>
        </p:txBody>
      </p:sp>
      <p:sp>
        <p:nvSpPr>
          <p:cNvPr id="10" name="矩形 9"/>
          <p:cNvSpPr/>
          <p:nvPr/>
        </p:nvSpPr>
        <p:spPr>
          <a:xfrm>
            <a:off x="401320" y="4587875"/>
            <a:ext cx="2748280" cy="1466850"/>
          </a:xfrm>
          <a:prstGeom prst="rect">
            <a:avLst/>
          </a:prstGeom>
          <a:noFill/>
          <a:ln w="38100">
            <a:solidFill>
              <a:srgbClr val="FF0000"/>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7316470" y="1545590"/>
            <a:ext cx="1386840" cy="278765"/>
          </a:xfrm>
          <a:prstGeom prst="rect">
            <a:avLst/>
          </a:prstGeom>
          <a:noFill/>
        </p:spPr>
        <p:txBody>
          <a:bodyPr wrap="square" rtlCol="0">
            <a:noAutofit/>
          </a:bodyPr>
          <a:p>
            <a:r>
              <a:rPr lang="zh-CN" altLang="en-US" b="1"/>
              <a:t>渐进变迁的</a:t>
            </a:r>
            <a:r>
              <a:rPr lang="zh-CN" altLang="en-US" b="1"/>
              <a:t>具体方式</a:t>
            </a:r>
            <a:endParaRPr lang="zh-CN" altLang="en-US" b="1"/>
          </a:p>
        </p:txBody>
      </p:sp>
      <p:sp>
        <p:nvSpPr>
          <p:cNvPr id="11" name="右箭头 10"/>
          <p:cNvSpPr/>
          <p:nvPr/>
        </p:nvSpPr>
        <p:spPr>
          <a:xfrm rot="2040000">
            <a:off x="3970655" y="1544320"/>
            <a:ext cx="947420" cy="334010"/>
          </a:xfrm>
          <a:prstGeom prst="righ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a:picLocks noChangeAspect="1"/>
          </p:cNvPicPr>
          <p:nvPr/>
        </p:nvPicPr>
        <p:blipFill>
          <a:blip r:embed="rId6"/>
          <a:stretch>
            <a:fillRect/>
          </a:stretch>
        </p:blipFill>
        <p:spPr>
          <a:xfrm>
            <a:off x="206375" y="1031875"/>
            <a:ext cx="4064000" cy="1183005"/>
          </a:xfrm>
          <a:prstGeom prst="rect">
            <a:avLst/>
          </a:prstGeom>
        </p:spPr>
      </p:pic>
      <p:sp>
        <p:nvSpPr>
          <p:cNvPr id="14" name="文本框 13"/>
          <p:cNvSpPr txBox="1"/>
          <p:nvPr/>
        </p:nvSpPr>
        <p:spPr>
          <a:xfrm>
            <a:off x="8128000" y="3551555"/>
            <a:ext cx="4064000" cy="2584450"/>
          </a:xfrm>
          <a:prstGeom prst="rect">
            <a:avLst/>
          </a:prstGeom>
          <a:noFill/>
        </p:spPr>
        <p:txBody>
          <a:bodyPr wrap="square" rtlCol="0">
            <a:spAutoFit/>
          </a:bodyPr>
          <a:p>
            <a:r>
              <a:rPr lang="zh-CN" altLang="en-US">
                <a:latin typeface="微软雅黑" charset="0"/>
                <a:ea typeface="微软雅黑" charset="0"/>
                <a:cs typeface="微软雅黑" charset="0"/>
              </a:rPr>
              <a:t>替代</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新制度彻底取代旧制度</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叠加</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新制度增补</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旧制度仍存</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漂移</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外部环境变化</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但制度未变</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因此制度的绩效发生变化</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转换</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外部环境变化</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对制度的阐释</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实施方式发生变化</a:t>
            </a:r>
            <a:endParaRPr lang="zh-CN" altLang="en-US">
              <a:latin typeface="微软雅黑" charset="0"/>
              <a:ea typeface="微软雅黑" charset="0"/>
              <a:cs typeface="微软雅黑"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7" grpId="0" bldLvl="0" animBg="1"/>
      <p:bldP spid="7" grpId="1" animBg="1"/>
      <p:bldP spid="10" grpId="0" animBg="1"/>
      <p:bldP spid="10" grpId="1" animBg="1"/>
      <p:bldP spid="14" grpId="0"/>
      <p:bldP spid="1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pic>
        <p:nvPicPr>
          <p:cNvPr id="7" name="图片 6"/>
          <p:cNvPicPr>
            <a:picLocks noChangeAspect="1"/>
          </p:cNvPicPr>
          <p:nvPr/>
        </p:nvPicPr>
        <p:blipFill>
          <a:blip r:embed="rId3"/>
          <a:stretch>
            <a:fillRect/>
          </a:stretch>
        </p:blipFill>
        <p:spPr>
          <a:xfrm>
            <a:off x="453390" y="1610995"/>
            <a:ext cx="1395730" cy="3021965"/>
          </a:xfrm>
          <a:prstGeom prst="rect">
            <a:avLst/>
          </a:prstGeom>
        </p:spPr>
      </p:pic>
      <p:pic>
        <p:nvPicPr>
          <p:cNvPr id="8" name="图片 7"/>
          <p:cNvPicPr>
            <a:picLocks noChangeAspect="1"/>
          </p:cNvPicPr>
          <p:nvPr/>
        </p:nvPicPr>
        <p:blipFill>
          <a:blip r:embed="rId4"/>
          <a:stretch>
            <a:fillRect/>
          </a:stretch>
        </p:blipFill>
        <p:spPr>
          <a:xfrm>
            <a:off x="3224530" y="1752600"/>
            <a:ext cx="3679190" cy="2880360"/>
          </a:xfrm>
          <a:prstGeom prst="rect">
            <a:avLst/>
          </a:prstGeom>
        </p:spPr>
      </p:pic>
      <p:sp>
        <p:nvSpPr>
          <p:cNvPr id="9" name="右箭头 8"/>
          <p:cNvSpPr/>
          <p:nvPr/>
        </p:nvSpPr>
        <p:spPr>
          <a:xfrm>
            <a:off x="2063115" y="2915285"/>
            <a:ext cx="909320" cy="413385"/>
          </a:xfrm>
          <a:prstGeom prst="righ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10045382" y="271527"/>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3" name="文本框 2"/>
          <p:cNvSpPr txBox="1"/>
          <p:nvPr/>
        </p:nvSpPr>
        <p:spPr>
          <a:xfrm>
            <a:off x="291465" y="1057910"/>
            <a:ext cx="4815840" cy="398780"/>
          </a:xfrm>
          <a:prstGeom prst="rect">
            <a:avLst/>
          </a:prstGeom>
          <a:noFill/>
        </p:spPr>
        <p:txBody>
          <a:bodyPr wrap="square" rtlCol="0">
            <a:spAutoFit/>
          </a:bodyPr>
          <a:p>
            <a:r>
              <a:rPr lang="en-US" altLang="zh-CN" sz="2000" b="1">
                <a:latin typeface="微软雅黑" charset="0"/>
                <a:ea typeface="微软雅黑" charset="0"/>
                <a:cs typeface="微软雅黑" charset="0"/>
              </a:rPr>
              <a:t>1.</a:t>
            </a:r>
            <a:r>
              <a:rPr lang="zh-CN" altLang="en-US" sz="2000" b="1">
                <a:latin typeface="微软雅黑" charset="0"/>
                <a:ea typeface="微软雅黑" charset="0"/>
                <a:cs typeface="微软雅黑" charset="0"/>
              </a:rPr>
              <a:t>制度漂移：</a:t>
            </a:r>
            <a:r>
              <a:rPr lang="en-US" altLang="zh-CN" sz="2000" b="1">
                <a:latin typeface="微软雅黑" charset="0"/>
                <a:ea typeface="微软雅黑" charset="0"/>
                <a:cs typeface="微软雅黑" charset="0"/>
              </a:rPr>
              <a:t>COVAX</a:t>
            </a:r>
            <a:r>
              <a:rPr lang="zh-CN" altLang="en-US" sz="2000" b="1">
                <a:latin typeface="微软雅黑" charset="0"/>
                <a:ea typeface="微软雅黑" charset="0"/>
                <a:cs typeface="微软雅黑" charset="0"/>
              </a:rPr>
              <a:t>机制与疫后治理</a:t>
            </a:r>
            <a:endParaRPr lang="zh-CN" altLang="en-US" sz="2000" b="1">
              <a:latin typeface="微软雅黑" charset="0"/>
              <a:ea typeface="微软雅黑" charset="0"/>
              <a:cs typeface="微软雅黑" charset="0"/>
            </a:endParaRPr>
          </a:p>
        </p:txBody>
      </p:sp>
      <p:sp>
        <p:nvSpPr>
          <p:cNvPr id="2" name="文本框 1"/>
          <p:cNvSpPr txBox="1"/>
          <p:nvPr/>
        </p:nvSpPr>
        <p:spPr>
          <a:xfrm>
            <a:off x="291465" y="1525905"/>
            <a:ext cx="7765415" cy="654685"/>
          </a:xfrm>
          <a:prstGeom prst="rect">
            <a:avLst/>
          </a:prstGeom>
          <a:noFill/>
        </p:spPr>
        <p:txBody>
          <a:bodyPr wrap="square" rtlCol="0">
            <a:noAutofit/>
          </a:bodyPr>
          <a:p>
            <a:r>
              <a:rPr lang="zh-CN" altLang="en-US"/>
              <a:t>当</a:t>
            </a:r>
            <a:r>
              <a:rPr lang="en-US" altLang="zh-CN"/>
              <a:t>WHO</a:t>
            </a:r>
            <a:r>
              <a:rPr lang="zh-CN" altLang="en-US"/>
              <a:t>于</a:t>
            </a:r>
            <a:r>
              <a:rPr lang="en-US" altLang="zh-CN"/>
              <a:t>2020</a:t>
            </a:r>
            <a:r>
              <a:rPr lang="zh-CN" altLang="en-US"/>
              <a:t>年</a:t>
            </a:r>
            <a:r>
              <a:rPr lang="en-US" altLang="zh-CN"/>
              <a:t>3</a:t>
            </a:r>
            <a:r>
              <a:rPr lang="zh-CN" altLang="en-US"/>
              <a:t>月</a:t>
            </a:r>
            <a:r>
              <a:rPr lang="en-US" altLang="zh-CN"/>
              <a:t>11</a:t>
            </a:r>
            <a:r>
              <a:rPr lang="zh-CN" altLang="en-US"/>
              <a:t>日宣布全球大流行时，已有</a:t>
            </a:r>
            <a:r>
              <a:rPr lang="en-US" altLang="zh-CN"/>
              <a:t>114</a:t>
            </a:r>
            <a:r>
              <a:rPr lang="zh-CN" altLang="en-US"/>
              <a:t>个国家出现疫情的社区传播；</a:t>
            </a:r>
            <a:endParaRPr lang="zh-CN" altLang="en-US"/>
          </a:p>
        </p:txBody>
      </p:sp>
      <p:sp>
        <p:nvSpPr>
          <p:cNvPr id="5" name="文本框 4"/>
          <p:cNvSpPr txBox="1"/>
          <p:nvPr/>
        </p:nvSpPr>
        <p:spPr>
          <a:xfrm>
            <a:off x="291465" y="2249805"/>
            <a:ext cx="7766050" cy="829310"/>
          </a:xfrm>
          <a:prstGeom prst="rect">
            <a:avLst/>
          </a:prstGeom>
        </p:spPr>
        <p:txBody>
          <a:bodyPr>
            <a:noAutofit/>
          </a:bodyPr>
          <a:p>
            <a:pPr marL="0" indent="0" algn="just" defTabSz="266700">
              <a:spcBef>
                <a:spcPct val="0"/>
              </a:spcBef>
              <a:spcAft>
                <a:spcPct val="0"/>
              </a:spcAft>
            </a:pPr>
            <a:r>
              <a:rPr lang="zh-CN" altLang="en-US" sz="1600">
                <a:latin typeface="Times New Roman" panose="02020503050405090304"/>
                <a:ea typeface="宋体"/>
              </a:rPr>
              <a:t>➡️疫苗采购与分配机制主要依赖道义自愿与国家捐助，缺乏制度化强制义务，导致高收入国家通过“疫苗民族主义”优先采购</a:t>
            </a:r>
            <a:endParaRPr lang="zh-CN" altLang="en-US" sz="1600">
              <a:latin typeface="Times New Roman" panose="02020503050405090304"/>
              <a:ea typeface="宋体"/>
            </a:endParaRPr>
          </a:p>
          <a:p>
            <a:pPr marL="0" indent="0" algn="just" defTabSz="266700">
              <a:spcBef>
                <a:spcPct val="0"/>
              </a:spcBef>
              <a:spcAft>
                <a:spcPct val="0"/>
              </a:spcAft>
            </a:pPr>
            <a:r>
              <a:rPr lang="zh-CN" altLang="en-US" sz="1600">
                <a:latin typeface="Times New Roman" panose="02020503050405090304"/>
                <a:ea typeface="宋体"/>
              </a:rPr>
              <a:t>➡️外部环境发生变化</a:t>
            </a:r>
            <a:r>
              <a:rPr lang="en-US" altLang="zh-CN" sz="1600">
                <a:latin typeface="Times New Roman" panose="02020503050405090304"/>
                <a:ea typeface="宋体"/>
              </a:rPr>
              <a:t>，</a:t>
            </a:r>
            <a:r>
              <a:rPr lang="zh-CN" altLang="en-US" sz="1600">
                <a:latin typeface="Times New Roman" panose="02020503050405090304"/>
                <a:ea typeface="宋体"/>
              </a:rPr>
              <a:t>制度本身却未能及时响应➡️治理缺位</a:t>
            </a:r>
            <a:r>
              <a:rPr lang="en-US" altLang="zh-CN" sz="1600">
                <a:latin typeface="Times New Roman" panose="02020503050405090304"/>
                <a:ea typeface="宋体"/>
              </a:rPr>
              <a:t>，</a:t>
            </a:r>
            <a:r>
              <a:rPr lang="zh-CN" altLang="en-US" sz="1600">
                <a:latin typeface="Times New Roman" panose="02020503050405090304"/>
                <a:ea typeface="宋体"/>
              </a:rPr>
              <a:t>负外部性</a:t>
            </a:r>
            <a:endParaRPr lang="zh-CN" altLang="en-US" sz="1600">
              <a:latin typeface="Times New Roman" panose="02020503050405090304"/>
              <a:ea typeface="宋体"/>
            </a:endParaRPr>
          </a:p>
        </p:txBody>
      </p:sp>
      <p:sp>
        <p:nvSpPr>
          <p:cNvPr id="6" name="文本框 5"/>
          <p:cNvSpPr txBox="1"/>
          <p:nvPr/>
        </p:nvSpPr>
        <p:spPr>
          <a:xfrm>
            <a:off x="291465" y="3135630"/>
            <a:ext cx="7766050" cy="922020"/>
          </a:xfrm>
          <a:prstGeom prst="rect">
            <a:avLst/>
          </a:prstGeom>
          <a:noFill/>
        </p:spPr>
        <p:txBody>
          <a:bodyPr wrap="square" rtlCol="0">
            <a:spAutoFit/>
          </a:bodyPr>
          <a:p>
            <a:r>
              <a:rPr lang="zh-CN" altLang="en-US"/>
              <a:t>➡️</a:t>
            </a:r>
            <a:r>
              <a:rPr lang="en-US" altLang="zh-CN"/>
              <a:t>COVAX</a:t>
            </a:r>
            <a:r>
              <a:rPr lang="zh-CN" altLang="en-US"/>
              <a:t>机制</a:t>
            </a:r>
            <a:r>
              <a:rPr lang="en-US" altLang="zh-CN"/>
              <a:t>(2020-2023)</a:t>
            </a:r>
            <a:r>
              <a:rPr lang="zh-CN" altLang="en-US"/>
              <a:t>即是在此背景下，由</a:t>
            </a:r>
            <a:r>
              <a:rPr lang="en-US" altLang="zh-CN"/>
              <a:t>Gavi</a:t>
            </a:r>
            <a:r>
              <a:rPr lang="zh-CN" altLang="en-US"/>
              <a:t>、世卫组织和流行病防范创新联盟（</a:t>
            </a:r>
            <a:r>
              <a:rPr lang="en-US" altLang="zh-CN"/>
              <a:t>CEPI</a:t>
            </a:r>
            <a:r>
              <a:rPr lang="zh-CN" altLang="en-US"/>
              <a:t>）联合发起的疫苗全球获取平台</a:t>
            </a:r>
            <a:endParaRPr lang="zh-CN" altLang="en-US"/>
          </a:p>
          <a:p>
            <a:r>
              <a:rPr lang="zh-CN" altLang="en-US"/>
              <a:t>➡️</a:t>
            </a:r>
            <a:r>
              <a:rPr lang="en-US" altLang="zh-CN"/>
              <a:t>Vaccine Equity</a:t>
            </a:r>
            <a:r>
              <a:rPr lang="zh-CN" altLang="en-US"/>
              <a:t>专栏</a:t>
            </a:r>
            <a:endParaRPr lang="zh-CN" altLang="en-US"/>
          </a:p>
        </p:txBody>
      </p:sp>
      <p:sp>
        <p:nvSpPr>
          <p:cNvPr id="7" name="文本框 6"/>
          <p:cNvSpPr txBox="1"/>
          <p:nvPr/>
        </p:nvSpPr>
        <p:spPr>
          <a:xfrm>
            <a:off x="291465" y="5088255"/>
            <a:ext cx="5848350" cy="1497330"/>
          </a:xfrm>
          <a:prstGeom prst="rect">
            <a:avLst/>
          </a:prstGeom>
          <a:noFill/>
        </p:spPr>
        <p:txBody>
          <a:bodyPr wrap="square" rtlCol="0">
            <a:noAutofit/>
          </a:bodyPr>
          <a:p>
            <a:pPr marL="285750" indent="-285750">
              <a:buFont typeface="Arial" panose="020B0604020202090204" pitchFamily="34" charset="0"/>
              <a:buChar char="•"/>
            </a:pPr>
            <a:r>
              <a:rPr lang="en-US" altLang="zh-CN"/>
              <a:t>Jacob Hacker</a:t>
            </a:r>
            <a:r>
              <a:rPr lang="zh-CN" altLang="en-US"/>
              <a:t>在介绍</a:t>
            </a:r>
            <a:r>
              <a:rPr lang="en-US" altLang="zh-CN"/>
              <a:t>institution drift</a:t>
            </a:r>
            <a:r>
              <a:rPr lang="zh-CN" altLang="en-US"/>
              <a:t>时的举例</a:t>
            </a:r>
            <a:r>
              <a:rPr lang="en-US" altLang="zh-CN"/>
              <a:t>：</a:t>
            </a:r>
            <a:r>
              <a:rPr lang="zh-CN" altLang="en-US"/>
              <a:t>美国二战后社会人员结构变动</a:t>
            </a:r>
            <a:r>
              <a:rPr lang="en-US" altLang="zh-CN"/>
              <a:t>，</a:t>
            </a:r>
            <a:r>
              <a:rPr lang="zh-CN" altLang="en-US"/>
              <a:t>出现大量“自由职业”“临时工”</a:t>
            </a:r>
            <a:r>
              <a:rPr lang="en-US" altLang="zh-CN"/>
              <a:t>，</a:t>
            </a:r>
            <a:r>
              <a:rPr lang="zh-CN" altLang="en-US"/>
              <a:t>但社会保险制度没有及时调整</a:t>
            </a:r>
            <a:r>
              <a:rPr lang="en-US" altLang="zh-CN"/>
              <a:t>，</a:t>
            </a:r>
            <a:r>
              <a:rPr lang="zh-CN" altLang="en-US"/>
              <a:t>导致社会保障没有覆盖这一批新兴职业人群</a:t>
            </a:r>
            <a:r>
              <a:rPr lang="en-US" altLang="zh-CN"/>
              <a:t>，</a:t>
            </a:r>
            <a:r>
              <a:rPr lang="zh-CN" altLang="en-US"/>
              <a:t>制度绩效下降</a:t>
            </a:r>
            <a:r>
              <a:rPr lang="en-US" altLang="zh-CN"/>
              <a:t>(Hacker, 2005)</a:t>
            </a:r>
            <a:endParaRPr lang="en-US" altLang="zh-CN"/>
          </a:p>
        </p:txBody>
      </p:sp>
      <p:pic>
        <p:nvPicPr>
          <p:cNvPr id="9" name="图片 8"/>
          <p:cNvPicPr>
            <a:picLocks noChangeAspect="1"/>
          </p:cNvPicPr>
          <p:nvPr/>
        </p:nvPicPr>
        <p:blipFill>
          <a:blip r:embed="rId3"/>
          <a:stretch>
            <a:fillRect/>
          </a:stretch>
        </p:blipFill>
        <p:spPr>
          <a:xfrm>
            <a:off x="4737735" y="654685"/>
            <a:ext cx="7651115" cy="4304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2" name="文本框 1"/>
          <p:cNvSpPr txBox="1"/>
          <p:nvPr/>
        </p:nvSpPr>
        <p:spPr>
          <a:xfrm>
            <a:off x="471170" y="1094105"/>
            <a:ext cx="4064000" cy="398780"/>
          </a:xfrm>
          <a:prstGeom prst="rect">
            <a:avLst/>
          </a:prstGeom>
          <a:noFill/>
        </p:spPr>
        <p:txBody>
          <a:bodyPr wrap="square" rtlCol="0">
            <a:spAutoFit/>
          </a:bodyPr>
          <a:p>
            <a:r>
              <a:rPr lang="en-US" altLang="zh-CN" sz="2000" b="1">
                <a:solidFill>
                  <a:srgbClr val="FF0000"/>
                </a:solidFill>
                <a:latin typeface="微软雅黑" charset="0"/>
                <a:ea typeface="微软雅黑" charset="0"/>
                <a:cs typeface="微软雅黑" charset="0"/>
              </a:rPr>
              <a:t>2.</a:t>
            </a:r>
            <a:r>
              <a:rPr lang="zh-CN" altLang="en-US" sz="2000" b="1">
                <a:solidFill>
                  <a:srgbClr val="FF0000"/>
                </a:solidFill>
                <a:latin typeface="微软雅黑" charset="0"/>
                <a:ea typeface="微软雅黑" charset="0"/>
                <a:cs typeface="微软雅黑" charset="0"/>
              </a:rPr>
              <a:t>制度叠加：从</a:t>
            </a:r>
            <a:r>
              <a:rPr lang="en-US" altLang="zh-CN" sz="2000" b="1">
                <a:solidFill>
                  <a:srgbClr val="FF0000"/>
                </a:solidFill>
                <a:latin typeface="微软雅黑" charset="0"/>
                <a:ea typeface="微软雅黑" charset="0"/>
                <a:cs typeface="微软雅黑" charset="0"/>
              </a:rPr>
              <a:t>G7</a:t>
            </a:r>
            <a:r>
              <a:rPr lang="zh-CN" altLang="en-US" sz="2000" b="1">
                <a:solidFill>
                  <a:srgbClr val="FF0000"/>
                </a:solidFill>
                <a:latin typeface="微软雅黑" charset="0"/>
                <a:ea typeface="微软雅黑" charset="0"/>
                <a:cs typeface="微软雅黑" charset="0"/>
              </a:rPr>
              <a:t>到</a:t>
            </a:r>
            <a:r>
              <a:rPr lang="en-US" altLang="zh-CN" sz="2000" b="1">
                <a:solidFill>
                  <a:srgbClr val="FF0000"/>
                </a:solidFill>
                <a:latin typeface="微软雅黑" charset="0"/>
                <a:ea typeface="微软雅黑" charset="0"/>
                <a:cs typeface="微软雅黑" charset="0"/>
              </a:rPr>
              <a:t>G20</a:t>
            </a:r>
            <a:endParaRPr lang="en-US" altLang="zh-CN" sz="2000" b="1">
              <a:solidFill>
                <a:srgbClr val="FF0000"/>
              </a:solidFill>
              <a:latin typeface="微软雅黑" charset="0"/>
              <a:ea typeface="微软雅黑" charset="0"/>
              <a:cs typeface="微软雅黑" charset="0"/>
            </a:endParaRPr>
          </a:p>
        </p:txBody>
      </p:sp>
      <p:pic>
        <p:nvPicPr>
          <p:cNvPr id="3" name="图片 1"/>
          <p:cNvPicPr>
            <a:picLocks noChangeAspect="1"/>
          </p:cNvPicPr>
          <p:nvPr/>
        </p:nvPicPr>
        <p:blipFill>
          <a:blip r:embed="rId3"/>
          <a:stretch>
            <a:fillRect/>
          </a:stretch>
        </p:blipFill>
        <p:spPr>
          <a:xfrm>
            <a:off x="2665095" y="3274060"/>
            <a:ext cx="4064000" cy="3393440"/>
          </a:xfrm>
          <a:prstGeom prst="rect">
            <a:avLst/>
          </a:prstGeom>
          <a:noFill/>
          <a:ln>
            <a:noFill/>
          </a:ln>
        </p:spPr>
      </p:pic>
      <p:sp>
        <p:nvSpPr>
          <p:cNvPr id="4" name="文本框 3"/>
          <p:cNvSpPr txBox="1"/>
          <p:nvPr/>
        </p:nvSpPr>
        <p:spPr>
          <a:xfrm>
            <a:off x="471170" y="1437640"/>
            <a:ext cx="10717530" cy="1753235"/>
          </a:xfrm>
          <a:prstGeom prst="rect">
            <a:avLst/>
          </a:prstGeom>
          <a:noFill/>
        </p:spPr>
        <p:txBody>
          <a:bodyPr wrap="square" rtlCol="0">
            <a:spAutoFit/>
          </a:bodyPr>
          <a:p>
            <a:r>
              <a:rPr lang="en-US" altLang="zh-CN">
                <a:latin typeface="微软雅黑" charset="0"/>
                <a:ea typeface="微软雅黑" charset="0"/>
                <a:cs typeface="微软雅黑" charset="0"/>
              </a:rPr>
              <a:t>2008</a:t>
            </a:r>
            <a:r>
              <a:rPr lang="zh-CN" altLang="en-US">
                <a:latin typeface="微软雅黑" charset="0"/>
                <a:ea typeface="微软雅黑" charset="0"/>
                <a:cs typeface="微软雅黑" charset="0"/>
              </a:rPr>
              <a:t>金融危机作为治理转型中的“关键节点”</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➡️暴露出</a:t>
            </a:r>
            <a:r>
              <a:rPr lang="en-US" altLang="zh-CN">
                <a:latin typeface="微软雅黑" charset="0"/>
                <a:ea typeface="微软雅黑" charset="0"/>
                <a:cs typeface="微软雅黑" charset="0"/>
              </a:rPr>
              <a:t>G7</a:t>
            </a:r>
            <a:r>
              <a:rPr lang="zh-CN" altLang="en-US">
                <a:latin typeface="微软雅黑" charset="0"/>
                <a:ea typeface="微软雅黑" charset="0"/>
                <a:cs typeface="微软雅黑" charset="0"/>
              </a:rPr>
              <a:t>为主导的旧有经济治理机制在协调全球资本流动、应对系统性风险方面的失灵</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➡这一背景之下️</a:t>
            </a:r>
            <a:r>
              <a:rPr lang="en-US" altLang="zh-CN">
                <a:latin typeface="微软雅黑" charset="0"/>
                <a:ea typeface="微软雅黑" charset="0"/>
                <a:cs typeface="微软雅黑" charset="0"/>
              </a:rPr>
              <a:t>G20</a:t>
            </a:r>
            <a:r>
              <a:rPr lang="zh-CN" altLang="en-US">
                <a:latin typeface="微软雅黑" charset="0"/>
                <a:ea typeface="微软雅黑" charset="0"/>
                <a:cs typeface="微软雅黑" charset="0"/>
              </a:rPr>
              <a:t>自</a:t>
            </a:r>
            <a:r>
              <a:rPr lang="en-US" altLang="zh-CN">
                <a:latin typeface="微软雅黑" charset="0"/>
                <a:ea typeface="微软雅黑" charset="0"/>
                <a:cs typeface="微软雅黑" charset="0"/>
              </a:rPr>
              <a:t>2008</a:t>
            </a:r>
            <a:r>
              <a:rPr lang="zh-CN" altLang="en-US">
                <a:latin typeface="微软雅黑" charset="0"/>
                <a:ea typeface="微软雅黑" charset="0"/>
                <a:cs typeface="微软雅黑" charset="0"/>
              </a:rPr>
              <a:t>年起从部长级别会议上升为国家元首峰会，并迅速成为全球宏观经济治理的首要平台</a:t>
            </a:r>
            <a:endParaRPr lang="zh-CN" altLang="en-US">
              <a:latin typeface="微软雅黑" charset="0"/>
              <a:ea typeface="微软雅黑" charset="0"/>
              <a:cs typeface="微软雅黑"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2" name="文本框 1"/>
          <p:cNvSpPr txBox="1"/>
          <p:nvPr/>
        </p:nvSpPr>
        <p:spPr>
          <a:xfrm>
            <a:off x="471170" y="1094105"/>
            <a:ext cx="4064000" cy="398780"/>
          </a:xfrm>
          <a:prstGeom prst="rect">
            <a:avLst/>
          </a:prstGeom>
          <a:noFill/>
        </p:spPr>
        <p:txBody>
          <a:bodyPr wrap="square" rtlCol="0">
            <a:spAutoFit/>
          </a:bodyPr>
          <a:p>
            <a:r>
              <a:rPr lang="en-US" altLang="zh-CN" sz="2000" b="1">
                <a:solidFill>
                  <a:srgbClr val="FF0000"/>
                </a:solidFill>
                <a:latin typeface="微软雅黑" charset="0"/>
                <a:ea typeface="微软雅黑" charset="0"/>
                <a:cs typeface="微软雅黑" charset="0"/>
              </a:rPr>
              <a:t>2.</a:t>
            </a:r>
            <a:r>
              <a:rPr lang="zh-CN" altLang="en-US" sz="2000" b="1">
                <a:solidFill>
                  <a:srgbClr val="FF0000"/>
                </a:solidFill>
                <a:latin typeface="微软雅黑" charset="0"/>
                <a:ea typeface="微软雅黑" charset="0"/>
                <a:cs typeface="微软雅黑" charset="0"/>
              </a:rPr>
              <a:t>制度叠加：从</a:t>
            </a:r>
            <a:r>
              <a:rPr lang="en-US" altLang="zh-CN" sz="2000" b="1">
                <a:solidFill>
                  <a:srgbClr val="FF0000"/>
                </a:solidFill>
                <a:latin typeface="微软雅黑" charset="0"/>
                <a:ea typeface="微软雅黑" charset="0"/>
                <a:cs typeface="微软雅黑" charset="0"/>
              </a:rPr>
              <a:t>G7</a:t>
            </a:r>
            <a:r>
              <a:rPr lang="zh-CN" altLang="en-US" sz="2000" b="1">
                <a:solidFill>
                  <a:srgbClr val="FF0000"/>
                </a:solidFill>
                <a:latin typeface="微软雅黑" charset="0"/>
                <a:ea typeface="微软雅黑" charset="0"/>
                <a:cs typeface="微软雅黑" charset="0"/>
              </a:rPr>
              <a:t>到</a:t>
            </a:r>
            <a:r>
              <a:rPr lang="en-US" altLang="zh-CN" sz="2000" b="1">
                <a:solidFill>
                  <a:srgbClr val="FF0000"/>
                </a:solidFill>
                <a:latin typeface="微软雅黑" charset="0"/>
                <a:ea typeface="微软雅黑" charset="0"/>
                <a:cs typeface="微软雅黑" charset="0"/>
              </a:rPr>
              <a:t>G20</a:t>
            </a:r>
            <a:endParaRPr lang="en-US" altLang="zh-CN" sz="2000" b="1">
              <a:solidFill>
                <a:srgbClr val="FF0000"/>
              </a:solidFill>
              <a:latin typeface="微软雅黑" charset="0"/>
              <a:ea typeface="微软雅黑" charset="0"/>
              <a:cs typeface="微软雅黑" charset="0"/>
            </a:endParaRPr>
          </a:p>
        </p:txBody>
      </p:sp>
      <p:pic>
        <p:nvPicPr>
          <p:cNvPr id="5" name="图片 1"/>
          <p:cNvPicPr>
            <a:picLocks noChangeAspect="1"/>
          </p:cNvPicPr>
          <p:nvPr/>
        </p:nvPicPr>
        <p:blipFill>
          <a:blip r:embed="rId3"/>
          <a:stretch>
            <a:fillRect/>
          </a:stretch>
        </p:blipFill>
        <p:spPr>
          <a:xfrm>
            <a:off x="7797165" y="988695"/>
            <a:ext cx="4064000" cy="3393440"/>
          </a:xfrm>
          <a:prstGeom prst="rect">
            <a:avLst/>
          </a:prstGeom>
          <a:noFill/>
          <a:ln>
            <a:noFill/>
          </a:ln>
        </p:spPr>
      </p:pic>
      <p:sp>
        <p:nvSpPr>
          <p:cNvPr id="6" name="文本框 5"/>
          <p:cNvSpPr txBox="1"/>
          <p:nvPr/>
        </p:nvSpPr>
        <p:spPr>
          <a:xfrm>
            <a:off x="471170" y="1598295"/>
            <a:ext cx="6915785" cy="645160"/>
          </a:xfrm>
          <a:prstGeom prst="rect">
            <a:avLst/>
          </a:prstGeom>
          <a:noFill/>
        </p:spPr>
        <p:txBody>
          <a:bodyPr wrap="square" rtlCol="0">
            <a:spAutoFit/>
          </a:bodyPr>
          <a:p>
            <a:pPr marL="285750" indent="-285750">
              <a:buFont typeface="Arial" panose="020B0604020202090204" pitchFamily="34" charset="0"/>
              <a:buChar char="•"/>
            </a:pPr>
            <a:r>
              <a:rPr lang="zh-CN" altLang="en-US">
                <a:latin typeface="微软雅黑" charset="0"/>
                <a:ea typeface="微软雅黑" charset="0"/>
              </a:rPr>
              <a:t>制度叠加不是完全的“从无到有”“另起炉灶”，而是对现有规则进行修正、修订或补充</a:t>
            </a:r>
            <a:r>
              <a:rPr lang="en-US" altLang="zh-CN">
                <a:latin typeface="微软雅黑" charset="0"/>
                <a:ea typeface="微软雅黑" charset="0"/>
              </a:rPr>
              <a:t>(Mahoney and Thelen, 2009, p.16)</a:t>
            </a:r>
            <a:endParaRPr lang="en-US" altLang="zh-CN">
              <a:latin typeface="微软雅黑" charset="0"/>
              <a:ea typeface="微软雅黑" charset="0"/>
            </a:endParaRPr>
          </a:p>
        </p:txBody>
      </p:sp>
      <p:sp>
        <p:nvSpPr>
          <p:cNvPr id="7" name="文本框 6"/>
          <p:cNvSpPr txBox="1"/>
          <p:nvPr/>
        </p:nvSpPr>
        <p:spPr>
          <a:xfrm>
            <a:off x="471170" y="2853055"/>
            <a:ext cx="6706235" cy="645160"/>
          </a:xfrm>
          <a:prstGeom prst="rect">
            <a:avLst/>
          </a:prstGeom>
          <a:noFill/>
        </p:spPr>
        <p:txBody>
          <a:bodyPr wrap="square" rtlCol="0">
            <a:spAutoFit/>
          </a:bodyPr>
          <a:p>
            <a:pPr marL="285750" indent="-285750">
              <a:buFont typeface="Arial" panose="020B0604020202090204" pitchFamily="34" charset="0"/>
              <a:buChar char="•"/>
            </a:pPr>
            <a:r>
              <a:rPr lang="en-US" altLang="zh-CN">
                <a:latin typeface="微软雅黑" charset="0"/>
                <a:ea typeface="微软雅黑" charset="0"/>
                <a:cs typeface="微软雅黑" charset="0"/>
              </a:rPr>
              <a:t>G20</a:t>
            </a:r>
            <a:r>
              <a:rPr lang="zh-CN" altLang="en-US">
                <a:latin typeface="微软雅黑" charset="0"/>
                <a:ea typeface="微软雅黑" charset="0"/>
                <a:cs typeface="微软雅黑" charset="0"/>
              </a:rPr>
              <a:t>的制度架构也并非从零起步，而是在</a:t>
            </a:r>
            <a:r>
              <a:rPr lang="en-US" altLang="zh-CN">
                <a:latin typeface="微软雅黑" charset="0"/>
                <a:ea typeface="微软雅黑" charset="0"/>
                <a:cs typeface="微软雅黑" charset="0"/>
              </a:rPr>
              <a:t>G7</a:t>
            </a:r>
            <a:r>
              <a:rPr lang="zh-CN" altLang="en-US">
                <a:latin typeface="微软雅黑" charset="0"/>
                <a:ea typeface="微软雅黑" charset="0"/>
                <a:cs typeface="微软雅黑" charset="0"/>
              </a:rPr>
              <a:t>的制度逻辑与议题框架基础上进行</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功能拓展</a:t>
            </a:r>
            <a:r>
              <a:rPr lang="en-US" altLang="zh-CN">
                <a:latin typeface="微软雅黑" charset="0"/>
                <a:ea typeface="微软雅黑" charset="0"/>
                <a:cs typeface="微软雅黑" charset="0"/>
              </a:rPr>
              <a:t>”</a:t>
            </a:r>
            <a:endParaRPr lang="en-US" altLang="zh-CN">
              <a:latin typeface="微软雅黑" charset="0"/>
              <a:ea typeface="微软雅黑" charset="0"/>
              <a:cs typeface="微软雅黑" charset="0"/>
            </a:endParaRPr>
          </a:p>
        </p:txBody>
      </p:sp>
      <p:sp>
        <p:nvSpPr>
          <p:cNvPr id="8" name="下箭头 7"/>
          <p:cNvSpPr/>
          <p:nvPr/>
        </p:nvSpPr>
        <p:spPr>
          <a:xfrm>
            <a:off x="3636010" y="2279650"/>
            <a:ext cx="413385" cy="537210"/>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926465" y="3611880"/>
            <a:ext cx="6003290" cy="1019175"/>
          </a:xfrm>
          <a:prstGeom prst="rect">
            <a:avLst/>
          </a:prstGeom>
          <a:noFill/>
        </p:spPr>
        <p:txBody>
          <a:bodyPr wrap="square" rtlCol="0">
            <a:noAutofit/>
          </a:bodyPr>
          <a:p>
            <a:r>
              <a:rPr lang="en-US" altLang="zh-CN"/>
              <a:t>1.G7</a:t>
            </a:r>
            <a:r>
              <a:rPr lang="zh-CN" altLang="en-US"/>
              <a:t>仍然保有在财政货币政策协调、金融监管议程设定等领域的主导地位➡️</a:t>
            </a:r>
            <a:r>
              <a:rPr lang="en-US" altLang="zh-CN"/>
              <a:t>2024</a:t>
            </a:r>
            <a:r>
              <a:rPr lang="zh-CN" altLang="en-US"/>
              <a:t>年</a:t>
            </a:r>
            <a:r>
              <a:rPr lang="en-US" altLang="zh-CN"/>
              <a:t>G7</a:t>
            </a:r>
            <a:r>
              <a:rPr lang="zh-CN" altLang="en-US"/>
              <a:t>财长会议声明中的</a:t>
            </a:r>
            <a:r>
              <a:rPr lang="en-US" altLang="zh-CN"/>
              <a:t>25</a:t>
            </a:r>
            <a:r>
              <a:rPr lang="zh-CN" altLang="en-US"/>
              <a:t>项提议，有</a:t>
            </a:r>
            <a:r>
              <a:rPr lang="en-US" altLang="zh-CN"/>
              <a:t>17</a:t>
            </a:r>
            <a:r>
              <a:rPr lang="zh-CN" altLang="en-US"/>
              <a:t>项被纳入了该年</a:t>
            </a:r>
            <a:r>
              <a:rPr lang="en-US" altLang="zh-CN"/>
              <a:t>11</a:t>
            </a:r>
            <a:r>
              <a:rPr lang="zh-CN" altLang="en-US"/>
              <a:t>月的</a:t>
            </a:r>
            <a:r>
              <a:rPr lang="en-US" altLang="zh-CN"/>
              <a:t>G20</a:t>
            </a:r>
            <a:r>
              <a:rPr lang="zh-CN" altLang="en-US"/>
              <a:t>议程</a:t>
            </a:r>
            <a:endParaRPr lang="zh-CN" altLang="en-US"/>
          </a:p>
        </p:txBody>
      </p:sp>
      <p:sp>
        <p:nvSpPr>
          <p:cNvPr id="10" name="文本框 9"/>
          <p:cNvSpPr txBox="1"/>
          <p:nvPr/>
        </p:nvSpPr>
        <p:spPr>
          <a:xfrm>
            <a:off x="926465" y="4858385"/>
            <a:ext cx="6003290" cy="922020"/>
          </a:xfrm>
          <a:prstGeom prst="rect">
            <a:avLst/>
          </a:prstGeom>
          <a:noFill/>
        </p:spPr>
        <p:txBody>
          <a:bodyPr wrap="square" rtlCol="0">
            <a:spAutoFit/>
          </a:bodyPr>
          <a:p>
            <a:r>
              <a:rPr lang="en-US" altLang="zh-CN"/>
              <a:t>2.G20</a:t>
            </a:r>
            <a:r>
              <a:rPr lang="zh-CN" altLang="en-US"/>
              <a:t>在许多技术层面沿用了</a:t>
            </a:r>
            <a:r>
              <a:rPr lang="en-US" altLang="zh-CN"/>
              <a:t>G7</a:t>
            </a:r>
            <a:r>
              <a:rPr lang="zh-CN" altLang="en-US"/>
              <a:t>制定的操作逻辑，包括</a:t>
            </a:r>
            <a:r>
              <a:rPr lang="en-US" altLang="zh-CN"/>
              <a:t>“</a:t>
            </a:r>
            <a:r>
              <a:rPr lang="zh-CN" altLang="en-US"/>
              <a:t>共识决议机制</a:t>
            </a:r>
            <a:r>
              <a:rPr lang="en-US" altLang="zh-CN"/>
              <a:t>”</a:t>
            </a:r>
            <a:r>
              <a:rPr lang="zh-CN" altLang="en-US"/>
              <a:t>、非正式协定（</a:t>
            </a:r>
            <a:r>
              <a:rPr lang="en-US" altLang="zh-CN"/>
              <a:t>soft consensus</a:t>
            </a:r>
            <a:r>
              <a:rPr lang="zh-CN" altLang="en-US"/>
              <a:t>）、依托主席国机制设置年度议题等做法</a:t>
            </a:r>
            <a:endParaRPr lang="zh-CN" altLang="en-US"/>
          </a:p>
        </p:txBody>
      </p:sp>
      <p:sp>
        <p:nvSpPr>
          <p:cNvPr id="11" name="文本框 10"/>
          <p:cNvSpPr txBox="1"/>
          <p:nvPr/>
        </p:nvSpPr>
        <p:spPr>
          <a:xfrm>
            <a:off x="7797165" y="4667250"/>
            <a:ext cx="4064000" cy="706755"/>
          </a:xfrm>
          <a:prstGeom prst="rect">
            <a:avLst/>
          </a:prstGeom>
          <a:noFill/>
        </p:spPr>
        <p:txBody>
          <a:bodyPr wrap="square" rtlCol="0">
            <a:spAutoFit/>
          </a:bodyPr>
          <a:p>
            <a:r>
              <a:rPr lang="zh-CN" altLang="en-US" sz="2000" b="1">
                <a:solidFill>
                  <a:srgbClr val="FF0000"/>
                </a:solidFill>
                <a:latin typeface="微软雅黑" charset="0"/>
                <a:ea typeface="微软雅黑" charset="0"/>
                <a:cs typeface="微软雅黑" charset="0"/>
              </a:rPr>
              <a:t>大量节约制度建设成本</a:t>
            </a:r>
            <a:r>
              <a:rPr lang="en-US" altLang="zh-CN" sz="2000" b="1">
                <a:solidFill>
                  <a:srgbClr val="FF0000"/>
                </a:solidFill>
                <a:latin typeface="微软雅黑" charset="0"/>
                <a:ea typeface="微软雅黑" charset="0"/>
                <a:cs typeface="微软雅黑" charset="0"/>
              </a:rPr>
              <a:t>；</a:t>
            </a:r>
            <a:endParaRPr lang="en-US" altLang="zh-CN" sz="2000" b="1">
              <a:solidFill>
                <a:srgbClr val="FF0000"/>
              </a:solidFill>
              <a:latin typeface="微软雅黑" charset="0"/>
              <a:ea typeface="微软雅黑" charset="0"/>
              <a:cs typeface="微软雅黑" charset="0"/>
            </a:endParaRPr>
          </a:p>
          <a:p>
            <a:r>
              <a:rPr lang="zh-CN" altLang="en-US" sz="2000" b="1">
                <a:solidFill>
                  <a:srgbClr val="FF0000"/>
                </a:solidFill>
                <a:latin typeface="微软雅黑" charset="0"/>
                <a:ea typeface="微软雅黑" charset="0"/>
                <a:cs typeface="微软雅黑" charset="0"/>
              </a:rPr>
              <a:t>当然也体现出治理中的“路径依赖”</a:t>
            </a:r>
            <a:endParaRPr lang="zh-CN" altLang="en-US" sz="2000" b="1">
              <a:solidFill>
                <a:srgbClr val="FF0000"/>
              </a:solidFill>
              <a:latin typeface="微软雅黑" charset="0"/>
              <a:ea typeface="微软雅黑" charset="0"/>
              <a:cs typeface="微软雅黑" charset="0"/>
            </a:endParaRPr>
          </a:p>
        </p:txBody>
      </p:sp>
      <p:sp>
        <p:nvSpPr>
          <p:cNvPr id="12" name="下箭头 11"/>
          <p:cNvSpPr/>
          <p:nvPr/>
        </p:nvSpPr>
        <p:spPr>
          <a:xfrm rot="16200000">
            <a:off x="7214235" y="4605020"/>
            <a:ext cx="413385" cy="537210"/>
          </a:xfrm>
          <a:prstGeom prst="down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7" grpId="0"/>
      <p:bldP spid="7" grpId="1"/>
      <p:bldP spid="9" grpId="0"/>
      <p:bldP spid="9" grpId="1"/>
      <p:bldP spid="10" grpId="0"/>
      <p:bldP spid="10" grpId="1"/>
      <p:bldP spid="11" grpId="0"/>
      <p:bldP spid="11" grpId="1"/>
      <p:bldP spid="12" grpId="0" animBg="1"/>
      <p:bldP spid="1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2" name="文本框 1"/>
          <p:cNvSpPr txBox="1"/>
          <p:nvPr/>
        </p:nvSpPr>
        <p:spPr>
          <a:xfrm>
            <a:off x="471805" y="962025"/>
            <a:ext cx="6120765" cy="553085"/>
          </a:xfrm>
          <a:prstGeom prst="rect">
            <a:avLst/>
          </a:prstGeom>
        </p:spPr>
        <p:txBody>
          <a:bodyPr wrap="square">
            <a:spAutoFit/>
          </a:bodyPr>
          <a:p>
            <a:pPr marL="0" indent="0" algn="just" defTabSz="266700">
              <a:lnSpc>
                <a:spcPct val="150000"/>
              </a:lnSpc>
              <a:spcBef>
                <a:spcPct val="0"/>
              </a:spcBef>
              <a:spcAft>
                <a:spcPct val="0"/>
              </a:spcAft>
            </a:pPr>
            <a:r>
              <a:rPr lang="en-US" altLang="zh-CN" sz="2000" b="1">
                <a:latin typeface="微软雅黑" charset="0"/>
                <a:ea typeface="微软雅黑" charset="0"/>
                <a:cs typeface="微软雅黑" charset="0"/>
              </a:rPr>
              <a:t>3. </a:t>
            </a:r>
            <a:r>
              <a:rPr lang="zh-CN" altLang="en-US" sz="2000" b="1">
                <a:latin typeface="微软雅黑" charset="0"/>
                <a:ea typeface="微软雅黑" charset="0"/>
                <a:cs typeface="微软雅黑" charset="0"/>
              </a:rPr>
              <a:t>制度转换：</a:t>
            </a:r>
            <a:r>
              <a:rPr lang="en-US" altLang="zh-CN" sz="2000" b="1">
                <a:latin typeface="微软雅黑" charset="0"/>
                <a:ea typeface="微软雅黑" charset="0"/>
                <a:cs typeface="微软雅黑" charset="0"/>
              </a:rPr>
              <a:t>GDI</a:t>
            </a:r>
            <a:r>
              <a:rPr lang="zh-CN" altLang="en-US" sz="2000" b="1">
                <a:latin typeface="微软雅黑" charset="0"/>
                <a:ea typeface="微软雅黑" charset="0"/>
                <a:cs typeface="微软雅黑" charset="0"/>
              </a:rPr>
              <a:t>对联合国</a:t>
            </a:r>
            <a:r>
              <a:rPr lang="zh-CN" altLang="en-US" sz="2000" b="1">
                <a:latin typeface="微软雅黑" charset="0"/>
                <a:ea typeface="微软雅黑" charset="0"/>
                <a:cs typeface="微软雅黑" charset="0"/>
              </a:rPr>
              <a:t>发展议程体系的再阐释</a:t>
            </a:r>
            <a:endParaRPr lang="zh-CN" altLang="en-US" sz="2000" b="1">
              <a:latin typeface="微软雅黑" charset="0"/>
              <a:ea typeface="微软雅黑" charset="0"/>
              <a:cs typeface="微软雅黑" charset="0"/>
            </a:endParaRPr>
          </a:p>
        </p:txBody>
      </p:sp>
      <p:pic>
        <p:nvPicPr>
          <p:cNvPr id="4" name="图片 3"/>
          <p:cNvPicPr>
            <a:picLocks noChangeAspect="1"/>
          </p:cNvPicPr>
          <p:nvPr/>
        </p:nvPicPr>
        <p:blipFill>
          <a:blip r:embed="rId3"/>
          <a:stretch>
            <a:fillRect/>
          </a:stretch>
        </p:blipFill>
        <p:spPr>
          <a:xfrm>
            <a:off x="0" y="1800860"/>
            <a:ext cx="12192000" cy="1673860"/>
          </a:xfrm>
          <a:prstGeom prst="rect">
            <a:avLst/>
          </a:prstGeom>
        </p:spPr>
      </p:pic>
      <p:pic>
        <p:nvPicPr>
          <p:cNvPr id="5" name="图片 4"/>
          <p:cNvPicPr>
            <a:picLocks noChangeAspect="1"/>
          </p:cNvPicPr>
          <p:nvPr/>
        </p:nvPicPr>
        <p:blipFill>
          <a:blip r:embed="rId4"/>
          <a:stretch>
            <a:fillRect/>
          </a:stretch>
        </p:blipFill>
        <p:spPr>
          <a:xfrm>
            <a:off x="0" y="3423285"/>
            <a:ext cx="12192000" cy="1489075"/>
          </a:xfrm>
          <a:prstGeom prst="rect">
            <a:avLst/>
          </a:prstGeom>
        </p:spPr>
      </p:pic>
      <p:pic>
        <p:nvPicPr>
          <p:cNvPr id="6" name="图片 5"/>
          <p:cNvPicPr>
            <a:picLocks noChangeAspect="1"/>
          </p:cNvPicPr>
          <p:nvPr/>
        </p:nvPicPr>
        <p:blipFill>
          <a:blip r:embed="rId5"/>
          <a:stretch>
            <a:fillRect/>
          </a:stretch>
        </p:blipFill>
        <p:spPr>
          <a:xfrm>
            <a:off x="0" y="4855210"/>
            <a:ext cx="10302875" cy="1513205"/>
          </a:xfrm>
          <a:prstGeom prst="rect">
            <a:avLst/>
          </a:prstGeom>
        </p:spPr>
      </p:pic>
      <p:pic>
        <p:nvPicPr>
          <p:cNvPr id="7" name="图片 2"/>
          <p:cNvPicPr>
            <a:picLocks noChangeAspect="1"/>
          </p:cNvPicPr>
          <p:nvPr/>
        </p:nvPicPr>
        <p:blipFill>
          <a:blip r:embed="rId6"/>
          <a:stretch>
            <a:fillRect/>
          </a:stretch>
        </p:blipFill>
        <p:spPr>
          <a:xfrm>
            <a:off x="1332230" y="1505585"/>
            <a:ext cx="9527540" cy="51346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9731692" y="271527"/>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2" name="文本框 1"/>
          <p:cNvSpPr txBox="1"/>
          <p:nvPr/>
        </p:nvSpPr>
        <p:spPr>
          <a:xfrm>
            <a:off x="471170" y="875665"/>
            <a:ext cx="6122035" cy="553085"/>
          </a:xfrm>
          <a:prstGeom prst="rect">
            <a:avLst/>
          </a:prstGeom>
        </p:spPr>
        <p:txBody>
          <a:bodyPr wrap="square">
            <a:spAutoFit/>
          </a:bodyPr>
          <a:p>
            <a:pPr marL="0" indent="0" algn="just" defTabSz="266700">
              <a:lnSpc>
                <a:spcPct val="150000"/>
              </a:lnSpc>
              <a:spcBef>
                <a:spcPct val="0"/>
              </a:spcBef>
              <a:spcAft>
                <a:spcPct val="0"/>
              </a:spcAft>
            </a:pPr>
            <a:r>
              <a:rPr lang="en-US" altLang="zh-CN" sz="2000" b="1">
                <a:latin typeface="微软雅黑" charset="0"/>
                <a:ea typeface="微软雅黑" charset="0"/>
                <a:cs typeface="微软雅黑" charset="0"/>
              </a:rPr>
              <a:t>3. </a:t>
            </a:r>
            <a:r>
              <a:rPr lang="zh-CN" altLang="en-US" sz="2000" b="1">
                <a:latin typeface="微软雅黑" charset="0"/>
                <a:ea typeface="微软雅黑" charset="0"/>
                <a:cs typeface="微软雅黑" charset="0"/>
              </a:rPr>
              <a:t>制度转换：</a:t>
            </a:r>
            <a:r>
              <a:rPr lang="en-US" altLang="zh-CN" sz="2000" b="1">
                <a:latin typeface="微软雅黑" charset="0"/>
                <a:ea typeface="微软雅黑" charset="0"/>
                <a:cs typeface="微软雅黑" charset="0"/>
              </a:rPr>
              <a:t>GDI</a:t>
            </a:r>
            <a:r>
              <a:rPr lang="zh-CN" altLang="en-US" sz="2000" b="1">
                <a:latin typeface="微软雅黑" charset="0"/>
                <a:ea typeface="微软雅黑" charset="0"/>
                <a:cs typeface="微软雅黑" charset="0"/>
              </a:rPr>
              <a:t>对联合国</a:t>
            </a:r>
            <a:r>
              <a:rPr lang="zh-CN" altLang="en-US" sz="2000" b="1">
                <a:latin typeface="微软雅黑" charset="0"/>
                <a:ea typeface="微软雅黑" charset="0"/>
                <a:cs typeface="微软雅黑" charset="0"/>
              </a:rPr>
              <a:t>发展议程体系的再阐释</a:t>
            </a:r>
            <a:endParaRPr lang="zh-CN" altLang="en-US" sz="2000" b="1">
              <a:latin typeface="微软雅黑" charset="0"/>
              <a:ea typeface="微软雅黑" charset="0"/>
              <a:cs typeface="微软雅黑" charset="0"/>
            </a:endParaRPr>
          </a:p>
        </p:txBody>
      </p:sp>
      <p:pic>
        <p:nvPicPr>
          <p:cNvPr id="3" name="图片 2"/>
          <p:cNvPicPr>
            <a:picLocks noChangeAspect="1"/>
          </p:cNvPicPr>
          <p:nvPr/>
        </p:nvPicPr>
        <p:blipFill>
          <a:blip r:embed="rId3"/>
          <a:stretch>
            <a:fillRect/>
          </a:stretch>
        </p:blipFill>
        <p:spPr>
          <a:xfrm>
            <a:off x="7331075" y="1193800"/>
            <a:ext cx="4369435" cy="5284470"/>
          </a:xfrm>
          <a:prstGeom prst="rect">
            <a:avLst/>
          </a:prstGeom>
        </p:spPr>
      </p:pic>
      <p:sp>
        <p:nvSpPr>
          <p:cNvPr id="5" name="文本框 4"/>
          <p:cNvSpPr txBox="1"/>
          <p:nvPr/>
        </p:nvSpPr>
        <p:spPr>
          <a:xfrm>
            <a:off x="471170" y="1628775"/>
            <a:ext cx="6257925" cy="1198880"/>
          </a:xfrm>
          <a:prstGeom prst="rect">
            <a:avLst/>
          </a:prstGeom>
        </p:spPr>
        <p:txBody>
          <a:bodyPr wrap="square">
            <a:spAutoFit/>
          </a:bodyPr>
          <a:p>
            <a:pPr marL="0" indent="0" algn="just" defTabSz="266700">
              <a:spcBef>
                <a:spcPct val="0"/>
              </a:spcBef>
              <a:spcAft>
                <a:spcPct val="0"/>
              </a:spcAft>
            </a:pPr>
            <a:r>
              <a:rPr lang="zh-CN" altLang="en-US">
                <a:latin typeface="微软雅黑" charset="0"/>
                <a:ea typeface="微软雅黑" charset="0"/>
              </a:rPr>
              <a:t>全球南北国家在发展议题与发展观念上的分歧加剧</a:t>
            </a:r>
            <a:endParaRPr lang="zh-CN" altLang="en-US">
              <a:latin typeface="微软雅黑" charset="0"/>
              <a:ea typeface="微软雅黑" charset="0"/>
            </a:endParaRPr>
          </a:p>
          <a:p>
            <a:pPr marL="0" indent="0" algn="just" defTabSz="266700">
              <a:spcBef>
                <a:spcPct val="0"/>
              </a:spcBef>
              <a:spcAft>
                <a:spcPct val="0"/>
              </a:spcAft>
            </a:pPr>
            <a:r>
              <a:rPr lang="zh-CN" altLang="en-US">
                <a:latin typeface="微软雅黑" charset="0"/>
                <a:ea typeface="微软雅黑" charset="0"/>
              </a:rPr>
              <a:t>➡️环境</a:t>
            </a:r>
            <a:r>
              <a:rPr lang="en-US" altLang="zh-CN">
                <a:latin typeface="微软雅黑" charset="0"/>
                <a:ea typeface="微软雅黑" charset="0"/>
              </a:rPr>
              <a:t>、</a:t>
            </a:r>
            <a:r>
              <a:rPr lang="zh-CN" altLang="en-US">
                <a:latin typeface="微软雅黑" charset="0"/>
                <a:ea typeface="微软雅黑" charset="0"/>
              </a:rPr>
              <a:t>生态</a:t>
            </a:r>
            <a:r>
              <a:rPr lang="en-US" altLang="zh-CN">
                <a:latin typeface="微软雅黑" charset="0"/>
                <a:ea typeface="微软雅黑" charset="0"/>
              </a:rPr>
              <a:t>、</a:t>
            </a:r>
            <a:r>
              <a:rPr lang="zh-CN" altLang="en-US">
                <a:latin typeface="微软雅黑" charset="0"/>
                <a:ea typeface="微软雅黑" charset="0"/>
              </a:rPr>
              <a:t>碳排放</a:t>
            </a:r>
            <a:r>
              <a:rPr lang="en-US" altLang="zh-CN">
                <a:latin typeface="微软雅黑" charset="0"/>
                <a:ea typeface="微软雅黑" charset="0"/>
              </a:rPr>
              <a:t>？</a:t>
            </a:r>
            <a:r>
              <a:rPr lang="zh-CN" altLang="en-US">
                <a:latin typeface="微软雅黑" charset="0"/>
                <a:ea typeface="微软雅黑" charset="0"/>
              </a:rPr>
              <a:t>基建</a:t>
            </a:r>
            <a:r>
              <a:rPr lang="en-US" altLang="zh-CN">
                <a:latin typeface="微软雅黑" charset="0"/>
                <a:ea typeface="微软雅黑" charset="0"/>
              </a:rPr>
              <a:t>、</a:t>
            </a:r>
            <a:r>
              <a:rPr lang="zh-CN" altLang="en-US">
                <a:latin typeface="微软雅黑" charset="0"/>
                <a:ea typeface="微软雅黑" charset="0"/>
              </a:rPr>
              <a:t>工业化</a:t>
            </a:r>
            <a:r>
              <a:rPr lang="en-US" altLang="zh-CN">
                <a:latin typeface="微软雅黑" charset="0"/>
                <a:ea typeface="微软雅黑" charset="0"/>
              </a:rPr>
              <a:t>、</a:t>
            </a:r>
            <a:r>
              <a:rPr lang="zh-CN" altLang="en-US">
                <a:latin typeface="微软雅黑" charset="0"/>
                <a:ea typeface="微软雅黑" charset="0"/>
              </a:rPr>
              <a:t>减贫</a:t>
            </a:r>
            <a:r>
              <a:rPr lang="en-US" altLang="zh-CN">
                <a:latin typeface="微软雅黑" charset="0"/>
                <a:ea typeface="微软雅黑" charset="0"/>
              </a:rPr>
              <a:t>？</a:t>
            </a:r>
            <a:endParaRPr lang="zh-CN" altLang="en-US">
              <a:latin typeface="微软雅黑" charset="0"/>
              <a:ea typeface="微软雅黑" charset="0"/>
            </a:endParaRPr>
          </a:p>
          <a:p>
            <a:pPr marL="0" indent="0" algn="just" defTabSz="266700">
              <a:spcBef>
                <a:spcPct val="0"/>
              </a:spcBef>
              <a:spcAft>
                <a:spcPct val="0"/>
              </a:spcAft>
            </a:pPr>
            <a:r>
              <a:rPr lang="zh-CN" altLang="en-US">
                <a:latin typeface="微软雅黑" charset="0"/>
                <a:ea typeface="微软雅黑" charset="0"/>
              </a:rPr>
              <a:t>➡️发达国家</a:t>
            </a:r>
            <a:r>
              <a:rPr lang="en-US" altLang="zh-CN">
                <a:latin typeface="微软雅黑" charset="0"/>
                <a:ea typeface="微软雅黑" charset="0"/>
              </a:rPr>
              <a:t>：</a:t>
            </a:r>
            <a:r>
              <a:rPr lang="zh-CN" altLang="en-US">
                <a:latin typeface="微软雅黑" charset="0"/>
                <a:ea typeface="微软雅黑" charset="0"/>
              </a:rPr>
              <a:t>绿色优先</a:t>
            </a:r>
            <a:r>
              <a:rPr lang="en-US" altLang="zh-CN">
                <a:latin typeface="微软雅黑" charset="0"/>
                <a:ea typeface="微软雅黑" charset="0"/>
              </a:rPr>
              <a:t>；</a:t>
            </a:r>
            <a:r>
              <a:rPr lang="zh-CN" altLang="en-US">
                <a:latin typeface="微软雅黑" charset="0"/>
                <a:ea typeface="微软雅黑" charset="0"/>
              </a:rPr>
              <a:t>发展中国家</a:t>
            </a:r>
            <a:r>
              <a:rPr lang="en-US" altLang="zh-CN">
                <a:latin typeface="微软雅黑" charset="0"/>
                <a:ea typeface="微软雅黑" charset="0"/>
              </a:rPr>
              <a:t>：</a:t>
            </a:r>
            <a:r>
              <a:rPr lang="zh-CN" altLang="en-US">
                <a:latin typeface="微软雅黑" charset="0"/>
                <a:ea typeface="微软雅黑" charset="0"/>
              </a:rPr>
              <a:t>发展</a:t>
            </a:r>
            <a:r>
              <a:rPr lang="zh-CN" altLang="en-US">
                <a:latin typeface="微软雅黑" charset="0"/>
                <a:ea typeface="微软雅黑" charset="0"/>
              </a:rPr>
              <a:t>优先</a:t>
            </a:r>
            <a:endParaRPr lang="zh-CN" altLang="en-US">
              <a:latin typeface="微软雅黑" charset="0"/>
              <a:ea typeface="微软雅黑" charset="0"/>
            </a:endParaRPr>
          </a:p>
          <a:p>
            <a:pPr marL="0" indent="0" algn="just" defTabSz="266700">
              <a:spcBef>
                <a:spcPct val="0"/>
              </a:spcBef>
              <a:spcAft>
                <a:spcPct val="0"/>
              </a:spcAft>
            </a:pPr>
            <a:r>
              <a:rPr lang="zh-CN" altLang="en-US">
                <a:latin typeface="微软雅黑" charset="0"/>
                <a:ea typeface="微软雅黑" charset="0"/>
              </a:rPr>
              <a:t>➡️生态负担与责任的严重不对等➡️</a:t>
            </a:r>
            <a:r>
              <a:rPr lang="zh-CN" altLang="en-US">
                <a:latin typeface="微软雅黑" charset="0"/>
                <a:ea typeface="微软雅黑" charset="0"/>
              </a:rPr>
              <a:t>共同但有区别的责任</a:t>
            </a:r>
            <a:endParaRPr lang="zh-CN" altLang="en-US">
              <a:latin typeface="微软雅黑" charset="0"/>
              <a:ea typeface="微软雅黑" charset="0"/>
            </a:endParaRPr>
          </a:p>
        </p:txBody>
      </p:sp>
      <p:sp>
        <p:nvSpPr>
          <p:cNvPr id="6" name="文本框 5"/>
          <p:cNvSpPr txBox="1"/>
          <p:nvPr/>
        </p:nvSpPr>
        <p:spPr>
          <a:xfrm>
            <a:off x="471170" y="3010535"/>
            <a:ext cx="5849620" cy="3415030"/>
          </a:xfrm>
          <a:prstGeom prst="rect">
            <a:avLst/>
          </a:prstGeom>
          <a:noFill/>
        </p:spPr>
        <p:txBody>
          <a:bodyPr wrap="square" rtlCol="0">
            <a:spAutoFit/>
          </a:bodyPr>
          <a:p>
            <a:r>
              <a:rPr lang="en-US" altLang="zh-CN">
                <a:latin typeface="微软雅黑" charset="0"/>
                <a:ea typeface="微软雅黑" charset="0"/>
                <a:cs typeface="微软雅黑" charset="0"/>
              </a:rPr>
              <a:t>GDI</a:t>
            </a:r>
            <a:r>
              <a:rPr lang="zh-CN" altLang="en-US">
                <a:latin typeface="微软雅黑" charset="0"/>
                <a:ea typeface="微软雅黑" charset="0"/>
                <a:cs typeface="微软雅黑" charset="0"/>
              </a:rPr>
              <a:t>倡导的制度变迁不在于</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创设新秩序</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，而在于</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重新诠释旧秩序中的规则逻辑</a:t>
            </a:r>
            <a:r>
              <a:rPr lang="en-US" altLang="zh-CN">
                <a:latin typeface="微软雅黑" charset="0"/>
                <a:ea typeface="微软雅黑" charset="0"/>
                <a:cs typeface="微软雅黑" charset="0"/>
              </a:rPr>
              <a:t>”：</a:t>
            </a:r>
            <a:endParaRPr lang="en-US" altLang="zh-CN">
              <a:latin typeface="微软雅黑" charset="0"/>
              <a:ea typeface="微软雅黑" charset="0"/>
              <a:cs typeface="微软雅黑" charset="0"/>
            </a:endParaRPr>
          </a:p>
          <a:p>
            <a:endParaRPr lang="en-US" altLang="zh-CN">
              <a:latin typeface="微软雅黑" charset="0"/>
              <a:ea typeface="微软雅黑" charset="0"/>
              <a:cs typeface="微软雅黑" charset="0"/>
            </a:endParaRPr>
          </a:p>
          <a:p>
            <a:r>
              <a:rPr lang="zh-CN" altLang="en-US">
                <a:latin typeface="微软雅黑" charset="0"/>
                <a:ea typeface="微软雅黑" charset="0"/>
                <a:cs typeface="微软雅黑" charset="0"/>
              </a:rPr>
              <a:t>➡️延续了旧多边主义中的诸多基本原则</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包括《联合国宪章》、发展权、主权平等与国际合作</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➡️通过将</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发展</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优先权具体化、项目化，激励全球南方国家在全球治理中发挥更多能动性</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zh-CN" altLang="en-US">
                <a:latin typeface="微软雅黑" charset="0"/>
                <a:ea typeface="微软雅黑" charset="0"/>
                <a:cs typeface="微软雅黑" charset="0"/>
              </a:rPr>
              <a:t>➡️</a:t>
            </a:r>
            <a:r>
              <a:rPr lang="zh-CN" altLang="en-US">
                <a:latin typeface="微软雅黑" charset="0"/>
                <a:ea typeface="微软雅黑" charset="0"/>
                <a:cs typeface="微软雅黑" charset="0"/>
                <a:sym typeface="+mn-ea"/>
              </a:rPr>
              <a:t>在</a:t>
            </a:r>
            <a:r>
              <a:rPr lang="en-US" altLang="zh-CN">
                <a:latin typeface="微软雅黑" charset="0"/>
                <a:ea typeface="微软雅黑" charset="0"/>
                <a:cs typeface="微软雅黑" charset="0"/>
                <a:sym typeface="+mn-ea"/>
              </a:rPr>
              <a:t>GDI</a:t>
            </a:r>
            <a:r>
              <a:rPr lang="zh-CN" altLang="en-US">
                <a:latin typeface="微软雅黑" charset="0"/>
                <a:ea typeface="微软雅黑" charset="0"/>
                <a:cs typeface="微软雅黑" charset="0"/>
                <a:sym typeface="+mn-ea"/>
              </a:rPr>
              <a:t>文件中</a:t>
            </a:r>
            <a:r>
              <a:rPr lang="en-US" altLang="zh-CN">
                <a:latin typeface="微软雅黑" charset="0"/>
                <a:ea typeface="微软雅黑" charset="0"/>
                <a:cs typeface="微软雅黑" charset="0"/>
                <a:sym typeface="+mn-ea"/>
              </a:rPr>
              <a:t>，</a:t>
            </a:r>
            <a:r>
              <a:rPr lang="zh-CN" altLang="en-US">
                <a:latin typeface="微软雅黑" charset="0"/>
                <a:ea typeface="微软雅黑" charset="0"/>
                <a:cs typeface="微软雅黑" charset="0"/>
                <a:sym typeface="+mn-ea"/>
              </a:rPr>
              <a:t>发展被摆在了极其优先的地位</a:t>
            </a:r>
            <a:r>
              <a:rPr lang="en-US" altLang="zh-CN">
                <a:latin typeface="微软雅黑" charset="0"/>
                <a:ea typeface="微软雅黑" charset="0"/>
                <a:cs typeface="微软雅黑" charset="0"/>
                <a:sym typeface="+mn-ea"/>
              </a:rPr>
              <a:t>，</a:t>
            </a:r>
            <a:r>
              <a:rPr lang="zh-CN" altLang="en-US">
                <a:latin typeface="微软雅黑" charset="0"/>
                <a:ea typeface="微软雅黑" charset="0"/>
                <a:cs typeface="微软雅黑" charset="0"/>
                <a:sym typeface="+mn-ea"/>
              </a:rPr>
              <a:t>词频多达</a:t>
            </a:r>
            <a:r>
              <a:rPr lang="en-US" altLang="zh-CN">
                <a:latin typeface="微软雅黑" charset="0"/>
                <a:ea typeface="微软雅黑" charset="0"/>
                <a:cs typeface="微软雅黑" charset="0"/>
                <a:sym typeface="+mn-ea"/>
              </a:rPr>
              <a:t>68</a:t>
            </a:r>
            <a:r>
              <a:rPr lang="zh-CN" altLang="en-US">
                <a:latin typeface="微软雅黑" charset="0"/>
                <a:ea typeface="微软雅黑" charset="0"/>
                <a:cs typeface="微软雅黑" charset="0"/>
                <a:sym typeface="+mn-ea"/>
              </a:rPr>
              <a:t>次</a:t>
            </a:r>
            <a:r>
              <a:rPr lang="en-US" altLang="zh-CN">
                <a:latin typeface="微软雅黑" charset="0"/>
                <a:ea typeface="微软雅黑" charset="0"/>
                <a:cs typeface="微软雅黑" charset="0"/>
                <a:sym typeface="+mn-ea"/>
              </a:rPr>
              <a:t>；</a:t>
            </a:r>
            <a:endParaRPr lang="en-US" altLang="zh-CN">
              <a:latin typeface="微软雅黑" charset="0"/>
              <a:ea typeface="微软雅黑" charset="0"/>
              <a:cs typeface="微软雅黑" charset="0"/>
            </a:endParaRPr>
          </a:p>
          <a:p>
            <a:endParaRPr lang="zh-CN" altLang="en-US">
              <a:latin typeface="微软雅黑" charset="0"/>
              <a:ea typeface="微软雅黑" charset="0"/>
              <a:cs typeface="微软雅黑"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1"/>
          <p:cNvGraphicFramePr/>
          <p:nvPr>
            <p:custDataLst>
              <p:tags r:id="rId3"/>
            </p:custDataLst>
          </p:nvPr>
        </p:nvGraphicFramePr>
        <p:xfrm>
          <a:off x="471170" y="1186815"/>
          <a:ext cx="7252335" cy="2578735"/>
        </p:xfrm>
        <a:graphic>
          <a:graphicData uri="http://schemas.openxmlformats.org/drawingml/2006/table">
            <a:tbl>
              <a:tblPr/>
              <a:tblGrid>
                <a:gridCol w="2417445"/>
                <a:gridCol w="2417445"/>
                <a:gridCol w="2417445"/>
              </a:tblGrid>
              <a:tr h="368300">
                <a:tc>
                  <a:txBody>
                    <a:bodyPr/>
                    <a:p>
                      <a:pPr marL="0" indent="0" algn="just">
                        <a:lnSpc>
                          <a:spcPct val="150000"/>
                        </a:lnSpc>
                        <a:spcBef>
                          <a:spcPct val="0"/>
                        </a:spcBef>
                        <a:spcAft>
                          <a:spcPct val="0"/>
                        </a:spcAft>
                      </a:pPr>
                      <a:r>
                        <a:rPr lang="zh-CN" sz="1800">
                          <a:latin typeface="Times New Roman" panose="02020503050405090304"/>
                          <a:ea typeface="宋体"/>
                        </a:rPr>
                        <a:t>渐进制度变迁类型</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800">
                          <a:latin typeface="Times New Roman" panose="02020503050405090304"/>
                          <a:ea typeface="宋体"/>
                        </a:rPr>
                        <a:t>特征</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800">
                          <a:latin typeface="Times New Roman" panose="02020503050405090304"/>
                          <a:ea typeface="宋体"/>
                        </a:rPr>
                        <a:t>案例</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6600">
                <a:tc>
                  <a:txBody>
                    <a:bodyPr/>
                    <a:p>
                      <a:pPr marL="0" indent="0" algn="just">
                        <a:lnSpc>
                          <a:spcPct val="150000"/>
                        </a:lnSpc>
                        <a:spcBef>
                          <a:spcPct val="0"/>
                        </a:spcBef>
                        <a:spcAft>
                          <a:spcPct val="0"/>
                        </a:spcAft>
                      </a:pPr>
                      <a:r>
                        <a:rPr lang="zh-CN" sz="1800">
                          <a:latin typeface="Times New Roman" panose="02020503050405090304"/>
                          <a:ea typeface="宋体"/>
                        </a:rPr>
                        <a:t>制度漂移</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800">
                          <a:latin typeface="Times New Roman" panose="02020503050405090304"/>
                          <a:ea typeface="宋体"/>
                        </a:rPr>
                        <a:t>外部环境变化</a:t>
                      </a:r>
                      <a:r>
                        <a:rPr lang="en-US" altLang="zh-CN" sz="1800">
                          <a:latin typeface="Times New Roman" panose="02020503050405090304"/>
                          <a:ea typeface="宋体"/>
                        </a:rPr>
                        <a:t>，</a:t>
                      </a:r>
                      <a:r>
                        <a:rPr lang="zh-CN" sz="1800">
                          <a:latin typeface="Times New Roman" panose="02020503050405090304"/>
                          <a:ea typeface="宋体"/>
                        </a:rPr>
                        <a:t>旧制度</a:t>
                      </a:r>
                      <a:r>
                        <a:rPr lang="zh-CN" sz="1800">
                          <a:latin typeface="Times New Roman" panose="02020503050405090304"/>
                          <a:ea typeface="宋体"/>
                        </a:rPr>
                        <a:t>治理失灵</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800">
                          <a:latin typeface="Times New Roman" panose="02020503050405090304"/>
                          <a:ea typeface="Times New Roman" panose="02020503050405090304"/>
                        </a:rPr>
                        <a:t>WHO</a:t>
                      </a:r>
                      <a:r>
                        <a:rPr lang="zh-CN" sz="1800">
                          <a:latin typeface="Times New Roman" panose="02020503050405090304"/>
                          <a:ea typeface="宋体"/>
                        </a:rPr>
                        <a:t>在疫情中失能，催生</a:t>
                      </a:r>
                      <a:r>
                        <a:rPr lang="en-US" altLang="zh-CN" sz="1800">
                          <a:latin typeface="Times New Roman" panose="02020503050405090304"/>
                          <a:ea typeface="Times New Roman" panose="02020503050405090304"/>
                        </a:rPr>
                        <a:t>COVAX</a:t>
                      </a:r>
                      <a:endParaRPr lang="en-US" altLang="zh-CN" sz="1800">
                        <a:latin typeface="Times New Roman" panose="02020503050405090304"/>
                        <a:ea typeface="Times New Roman" panose="0202050305040509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7235">
                <a:tc>
                  <a:txBody>
                    <a:bodyPr/>
                    <a:p>
                      <a:pPr marL="0" indent="0" algn="just">
                        <a:lnSpc>
                          <a:spcPct val="150000"/>
                        </a:lnSpc>
                        <a:spcBef>
                          <a:spcPct val="0"/>
                        </a:spcBef>
                        <a:spcAft>
                          <a:spcPct val="0"/>
                        </a:spcAft>
                      </a:pPr>
                      <a:r>
                        <a:rPr lang="zh-CN" sz="1800">
                          <a:latin typeface="Times New Roman" panose="02020503050405090304"/>
                          <a:ea typeface="宋体"/>
                        </a:rPr>
                        <a:t>制度叠加</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800">
                          <a:latin typeface="Times New Roman" panose="02020503050405090304"/>
                          <a:ea typeface="宋体"/>
                        </a:rPr>
                        <a:t>旧制度保留，新增制度补充</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800">
                          <a:latin typeface="Times New Roman" panose="02020503050405090304"/>
                          <a:ea typeface="Times New Roman" panose="02020503050405090304"/>
                        </a:rPr>
                        <a:t>G20</a:t>
                      </a:r>
                      <a:r>
                        <a:rPr lang="zh-CN" sz="1800">
                          <a:latin typeface="Times New Roman" panose="02020503050405090304"/>
                          <a:ea typeface="宋体"/>
                        </a:rPr>
                        <a:t>取代</a:t>
                      </a:r>
                      <a:r>
                        <a:rPr lang="en-US" altLang="zh-CN" sz="1800">
                          <a:latin typeface="Times New Roman" panose="02020503050405090304"/>
                          <a:ea typeface="Times New Roman" panose="02020503050405090304"/>
                        </a:rPr>
                        <a:t>G7</a:t>
                      </a:r>
                      <a:r>
                        <a:rPr lang="zh-CN" sz="1800">
                          <a:latin typeface="Times New Roman" panose="02020503050405090304"/>
                          <a:ea typeface="宋体"/>
                        </a:rPr>
                        <a:t>，成为经济治理首要平台</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6600">
                <a:tc>
                  <a:txBody>
                    <a:bodyPr/>
                    <a:p>
                      <a:pPr marL="0" indent="0" algn="just">
                        <a:lnSpc>
                          <a:spcPct val="150000"/>
                        </a:lnSpc>
                        <a:spcBef>
                          <a:spcPct val="0"/>
                        </a:spcBef>
                        <a:spcAft>
                          <a:spcPct val="0"/>
                        </a:spcAft>
                      </a:pPr>
                      <a:r>
                        <a:rPr lang="zh-CN" sz="1800">
                          <a:latin typeface="Times New Roman" panose="02020503050405090304"/>
                          <a:ea typeface="宋体"/>
                        </a:rPr>
                        <a:t>制度转换</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zh-CN" sz="1800">
                          <a:latin typeface="Times New Roman" panose="02020503050405090304"/>
                          <a:ea typeface="宋体"/>
                        </a:rPr>
                        <a:t>外部环境变化，制度被重新阐释和实施</a:t>
                      </a:r>
                      <a:r>
                        <a:rPr lang="zh-CN" sz="1800">
                          <a:latin typeface="Times New Roman" panose="02020503050405090304"/>
                          <a:ea typeface="宋体"/>
                        </a:rPr>
                        <a:t>调整</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50000"/>
                        </a:lnSpc>
                        <a:spcBef>
                          <a:spcPct val="0"/>
                        </a:spcBef>
                        <a:spcAft>
                          <a:spcPct val="0"/>
                        </a:spcAft>
                      </a:pPr>
                      <a:r>
                        <a:rPr lang="en-US" altLang="zh-CN" sz="1800">
                          <a:latin typeface="Times New Roman" panose="02020503050405090304"/>
                          <a:ea typeface="Times New Roman" panose="02020503050405090304"/>
                        </a:rPr>
                        <a:t>GDI</a:t>
                      </a:r>
                      <a:r>
                        <a:rPr lang="zh-CN" sz="1800">
                          <a:latin typeface="Times New Roman" panose="02020503050405090304"/>
                          <a:ea typeface="宋体"/>
                        </a:rPr>
                        <a:t>重构“发展优先”的制度正当性</a:t>
                      </a:r>
                      <a:endParaRPr lang="zh-CN" sz="1800">
                        <a:latin typeface="Times New Roman" panose="02020503050405090304"/>
                        <a:ea typeface="宋体"/>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grpSp>
        <p:nvGrpSpPr>
          <p:cNvPr id="37" name="组合 36"/>
          <p:cNvGrpSpPr/>
          <p:nvPr/>
        </p:nvGrpSpPr>
        <p:grpSpPr>
          <a:xfrm>
            <a:off x="291465" y="155575"/>
            <a:ext cx="6437630" cy="876300"/>
            <a:chOff x="2360" y="4651"/>
            <a:chExt cx="10138" cy="1380"/>
          </a:xfrm>
        </p:grpSpPr>
        <p:sp>
          <p:nvSpPr>
            <p:cNvPr id="38" name="文本框 37"/>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04</a:t>
              </a:r>
              <a:endParaRPr lang="en-US" altLang="zh-CN" sz="4800" dirty="0">
                <a:solidFill>
                  <a:schemeClr val="tx1"/>
                </a:solidFill>
                <a:latin typeface="微软雅黑" charset="-122"/>
                <a:ea typeface="微软雅黑" charset="-122"/>
              </a:endParaRPr>
            </a:p>
          </p:txBody>
        </p:sp>
        <p:sp>
          <p:nvSpPr>
            <p:cNvPr id="39" name="文本框 38"/>
            <p:cNvSpPr txBox="1"/>
            <p:nvPr/>
          </p:nvSpPr>
          <p:spPr>
            <a:xfrm>
              <a:off x="3890" y="4833"/>
              <a:ext cx="8608" cy="63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制度变迁的历史制度主义分析</a:t>
              </a:r>
              <a:r>
                <a:rPr lang="en-US" altLang="zh-CN" sz="2000" b="1" dirty="0">
                  <a:latin typeface="微软雅黑" charset="-122"/>
                  <a:ea typeface="微软雅黑" charset="-122"/>
                </a:rPr>
                <a:t>：</a:t>
              </a:r>
              <a:r>
                <a:rPr lang="zh-CN" altLang="en-US" sz="2000" b="1" dirty="0">
                  <a:latin typeface="微软雅黑" charset="-122"/>
                  <a:ea typeface="微软雅黑" charset="-122"/>
                </a:rPr>
                <a:t>案例分析</a:t>
              </a:r>
              <a:endParaRPr lang="zh-CN" altLang="en-US" sz="2000" b="1" dirty="0">
                <a:latin typeface="微软雅黑" charset="-122"/>
                <a:ea typeface="微软雅黑" charset="-122"/>
              </a:endParaRPr>
            </a:p>
          </p:txBody>
        </p:sp>
        <p:sp>
          <p:nvSpPr>
            <p:cNvPr id="40" name="矩形 39"/>
            <p:cNvSpPr/>
            <p:nvPr/>
          </p:nvSpPr>
          <p:spPr>
            <a:xfrm>
              <a:off x="3892" y="5382"/>
              <a:ext cx="8391" cy="581"/>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Historical Institutionalism Analysis of Institutional Change：Case Study</a:t>
              </a:r>
              <a:endParaRPr lang="en-US" altLang="zh-CN" sz="900" dirty="0">
                <a:latin typeface="微软雅黑" charset="-122"/>
                <a:ea typeface="微软雅黑" charset="-122"/>
              </a:endParaRPr>
            </a:p>
          </p:txBody>
        </p:sp>
        <p:sp>
          <p:nvSpPr>
            <p:cNvPr id="41"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10053002" y="39408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91465" y="279400"/>
            <a:ext cx="2538730" cy="876300"/>
            <a:chOff x="2360" y="4651"/>
            <a:chExt cx="3998" cy="1380"/>
          </a:xfrm>
        </p:grpSpPr>
        <p:sp>
          <p:nvSpPr>
            <p:cNvPr id="9" name="文本框 8"/>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05</a:t>
              </a:r>
              <a:endParaRPr lang="en-US" altLang="zh-CN" sz="4800" dirty="0">
                <a:solidFill>
                  <a:schemeClr val="tx1"/>
                </a:solidFill>
                <a:latin typeface="微软雅黑" charset="-122"/>
                <a:ea typeface="微软雅黑" charset="-122"/>
              </a:endParaRPr>
            </a:p>
          </p:txBody>
        </p:sp>
        <p:sp>
          <p:nvSpPr>
            <p:cNvPr id="10" name="文本框 9"/>
            <p:cNvSpPr txBox="1"/>
            <p:nvPr/>
          </p:nvSpPr>
          <p:spPr>
            <a:xfrm>
              <a:off x="3890" y="4832"/>
              <a:ext cx="2417"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三重挑战</a:t>
              </a:r>
              <a:endParaRPr lang="zh-CN" altLang="en-US" sz="2000" b="1" dirty="0">
                <a:latin typeface="微软雅黑" charset="-122"/>
                <a:ea typeface="微软雅黑" charset="-122"/>
              </a:endParaRPr>
            </a:p>
          </p:txBody>
        </p:sp>
        <p:sp>
          <p:nvSpPr>
            <p:cNvPr id="23" name="矩形 22"/>
            <p:cNvSpPr/>
            <p:nvPr/>
          </p:nvSpPr>
          <p:spPr>
            <a:xfrm>
              <a:off x="3892" y="5382"/>
              <a:ext cx="2466" cy="472"/>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Triple Challenges</a:t>
              </a:r>
              <a:endParaRPr lang="en-US" altLang="zh-CN" sz="900" dirty="0">
                <a:latin typeface="微软雅黑" charset="-122"/>
                <a:ea typeface="微软雅黑" charset="-122"/>
              </a:endParaRPr>
            </a:p>
          </p:txBody>
        </p:sp>
        <p:sp>
          <p:nvSpPr>
            <p:cNvPr id="24"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pic>
        <p:nvPicPr>
          <p:cNvPr id="2" name="图片 1"/>
          <p:cNvPicPr>
            <a:picLocks noChangeAspect="1"/>
          </p:cNvPicPr>
          <p:nvPr/>
        </p:nvPicPr>
        <p:blipFill>
          <a:blip r:embed="rId3"/>
          <a:stretch>
            <a:fillRect/>
          </a:stretch>
        </p:blipFill>
        <p:spPr>
          <a:xfrm>
            <a:off x="471170" y="1043305"/>
            <a:ext cx="6804025" cy="2656840"/>
          </a:xfrm>
          <a:prstGeom prst="rect">
            <a:avLst/>
          </a:prstGeom>
        </p:spPr>
      </p:pic>
      <p:sp>
        <p:nvSpPr>
          <p:cNvPr id="3" name="文本框 2"/>
          <p:cNvSpPr txBox="1"/>
          <p:nvPr/>
        </p:nvSpPr>
        <p:spPr>
          <a:xfrm>
            <a:off x="471170" y="3950335"/>
            <a:ext cx="9986645" cy="645160"/>
          </a:xfrm>
          <a:prstGeom prst="rect">
            <a:avLst/>
          </a:prstGeom>
          <a:noFill/>
        </p:spPr>
        <p:txBody>
          <a:bodyPr wrap="square" rtlCol="0">
            <a:spAutoFit/>
          </a:bodyPr>
          <a:p>
            <a:r>
              <a:rPr lang="en-US" altLang="zh-CN">
                <a:latin typeface="微软雅黑" charset="0"/>
                <a:ea typeface="微软雅黑" charset="0"/>
                <a:cs typeface="微软雅黑" charset="0"/>
              </a:rPr>
              <a:t>1.</a:t>
            </a:r>
            <a:r>
              <a:rPr lang="zh-CN" altLang="en-US">
                <a:latin typeface="微软雅黑" charset="0"/>
                <a:ea typeface="微软雅黑" charset="0"/>
                <a:cs typeface="微软雅黑" charset="0"/>
              </a:rPr>
              <a:t>治理机制的</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去中心化</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往往以牺牲决策效率为代价，随之而来的是国际集体行动难题</a:t>
            </a:r>
            <a:r>
              <a:rPr lang="en-US" altLang="zh-CN">
                <a:latin typeface="微软雅黑" charset="0"/>
                <a:ea typeface="微软雅黑" charset="0"/>
                <a:cs typeface="微软雅黑" charset="0"/>
              </a:rPr>
              <a:t>。</a:t>
            </a:r>
            <a:endParaRPr lang="en-US" altLang="zh-CN">
              <a:latin typeface="微软雅黑" charset="0"/>
              <a:ea typeface="微软雅黑" charset="0"/>
              <a:cs typeface="微软雅黑" charset="0"/>
            </a:endParaRPr>
          </a:p>
          <a:p>
            <a:r>
              <a:rPr lang="zh-CN" altLang="en-US">
                <a:latin typeface="微软雅黑" charset="0"/>
                <a:ea typeface="微软雅黑" charset="0"/>
                <a:cs typeface="微软雅黑" charset="0"/>
              </a:rPr>
              <a:t>➡️</a:t>
            </a:r>
            <a:r>
              <a:rPr lang="en-US" altLang="zh-CN">
                <a:latin typeface="微软雅黑" charset="0"/>
                <a:ea typeface="微软雅黑" charset="0"/>
                <a:cs typeface="微软雅黑" charset="0"/>
              </a:rPr>
              <a:t>G20</a:t>
            </a:r>
            <a:r>
              <a:rPr lang="zh-CN" altLang="en-US">
                <a:latin typeface="微软雅黑" charset="0"/>
                <a:ea typeface="微软雅黑" charset="0"/>
                <a:cs typeface="微软雅黑" charset="0"/>
              </a:rPr>
              <a:t>虽在代表性上取得突破，但实际决策执行中取得共识的难度也大大增加了</a:t>
            </a:r>
            <a:endParaRPr lang="zh-CN" altLang="en-US">
              <a:latin typeface="微软雅黑" charset="0"/>
              <a:ea typeface="微软雅黑" charset="0"/>
              <a:cs typeface="微软雅黑" charset="0"/>
            </a:endParaRPr>
          </a:p>
        </p:txBody>
      </p:sp>
      <p:sp>
        <p:nvSpPr>
          <p:cNvPr id="4" name="文本框 3"/>
          <p:cNvSpPr txBox="1"/>
          <p:nvPr/>
        </p:nvSpPr>
        <p:spPr>
          <a:xfrm>
            <a:off x="471170" y="4720590"/>
            <a:ext cx="9581515" cy="645160"/>
          </a:xfrm>
          <a:prstGeom prst="rect">
            <a:avLst/>
          </a:prstGeom>
          <a:noFill/>
        </p:spPr>
        <p:txBody>
          <a:bodyPr wrap="square" rtlCol="0">
            <a:spAutoFit/>
          </a:bodyPr>
          <a:p>
            <a:r>
              <a:rPr lang="en-US" altLang="zh-CN">
                <a:latin typeface="微软雅黑" charset="0"/>
                <a:ea typeface="微软雅黑" charset="0"/>
                <a:cs typeface="微软雅黑" charset="0"/>
              </a:rPr>
              <a:t>2.</a:t>
            </a:r>
            <a:r>
              <a:rPr lang="zh-CN" altLang="en-US">
                <a:latin typeface="微软雅黑" charset="0"/>
                <a:ea typeface="微软雅黑" charset="0"/>
                <a:cs typeface="微软雅黑" charset="0"/>
              </a:rPr>
              <a:t>制度变迁通常以</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渐进调整</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而非</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断裂替代</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的方式展开</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但是当前全球治理中的</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黑天鹅</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事件具有高度不确定性与突发性➡️比如特朗普近期的“关税大棒”</a:t>
            </a:r>
            <a:endParaRPr lang="zh-CN" altLang="en-US">
              <a:latin typeface="微软雅黑" charset="0"/>
              <a:ea typeface="微软雅黑" charset="0"/>
              <a:cs typeface="微软雅黑" charset="0"/>
            </a:endParaRPr>
          </a:p>
        </p:txBody>
      </p:sp>
      <p:sp>
        <p:nvSpPr>
          <p:cNvPr id="6" name="文本框 5"/>
          <p:cNvSpPr txBox="1"/>
          <p:nvPr/>
        </p:nvSpPr>
        <p:spPr>
          <a:xfrm>
            <a:off x="471170" y="5490845"/>
            <a:ext cx="9332595" cy="922020"/>
          </a:xfrm>
          <a:prstGeom prst="rect">
            <a:avLst/>
          </a:prstGeom>
          <a:noFill/>
        </p:spPr>
        <p:txBody>
          <a:bodyPr wrap="square" rtlCol="0">
            <a:spAutoFit/>
          </a:bodyPr>
          <a:p>
            <a:r>
              <a:rPr lang="en-US" altLang="zh-CN">
                <a:latin typeface="微软雅黑" charset="0"/>
                <a:ea typeface="微软雅黑" charset="0"/>
                <a:cs typeface="微软雅黑" charset="0"/>
              </a:rPr>
              <a:t>3. </a:t>
            </a:r>
            <a:r>
              <a:rPr lang="zh-CN" altLang="en-US">
                <a:latin typeface="微软雅黑" charset="0"/>
                <a:ea typeface="微软雅黑" charset="0"/>
                <a:cs typeface="微软雅黑" charset="0"/>
              </a:rPr>
              <a:t>新多边主义旨在打破以发达国家为主导的治理框架，提升发展中国家地位</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但系统性的中心</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边缘</a:t>
            </a:r>
            <a:r>
              <a:rPr lang="zh-CN" altLang="en-US">
                <a:latin typeface="微软雅黑" charset="0"/>
                <a:ea typeface="微软雅黑" charset="0"/>
                <a:cs typeface="微软雅黑" charset="0"/>
              </a:rPr>
              <a:t>依附关系仍存➡️</a:t>
            </a:r>
            <a:r>
              <a:rPr lang="en-US" altLang="zh-CN">
                <a:latin typeface="微软雅黑" charset="0"/>
                <a:ea typeface="微软雅黑" charset="0"/>
                <a:cs typeface="微软雅黑" charset="0"/>
              </a:rPr>
              <a:t>COVAX</a:t>
            </a:r>
            <a:r>
              <a:rPr lang="zh-CN" altLang="en-US">
                <a:latin typeface="微软雅黑" charset="0"/>
                <a:ea typeface="微软雅黑" charset="0"/>
                <a:cs typeface="微软雅黑" charset="0"/>
              </a:rPr>
              <a:t>机制中的低收入国家往往处于</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受援国</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角色，议题设定主要由国际金融机构与大型基金会主导</a:t>
            </a:r>
            <a:endParaRPr lang="zh-CN" altLang="en-US">
              <a:latin typeface="微软雅黑" charset="0"/>
              <a:ea typeface="微软雅黑" charset="0"/>
              <a:cs typeface="微软雅黑"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C:/Users/Administrator/AppData/Local/Temp/picturecompress_20220520140653/output_23.pngoutput_23"/>
          <p:cNvPicPr>
            <a:picLocks noChangeAspect="1"/>
          </p:cNvPicPr>
          <p:nvPr/>
        </p:nvPicPr>
        <p:blipFill>
          <a:blip r:embed="rId1"/>
          <a:stretch>
            <a:fillRect/>
          </a:stretch>
        </p:blipFill>
        <p:spPr>
          <a:xfrm>
            <a:off x="291782" y="6241162"/>
            <a:ext cx="1764416" cy="403833"/>
          </a:xfrm>
          <a:prstGeom prst="rect">
            <a:avLst/>
          </a:prstGeom>
        </p:spPr>
      </p:pic>
      <p:pic>
        <p:nvPicPr>
          <p:cNvPr id="29" name="图片 2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9035422" y="5047831"/>
            <a:ext cx="3156578" cy="1810169"/>
          </a:xfrm>
          <a:prstGeom prst="rect">
            <a:avLst/>
          </a:prstGeom>
        </p:spPr>
      </p:pic>
      <p:cxnSp>
        <p:nvCxnSpPr>
          <p:cNvPr id="31" name="直接连接符 30"/>
          <p:cNvCxnSpPr/>
          <p:nvPr/>
        </p:nvCxnSpPr>
        <p:spPr>
          <a:xfrm>
            <a:off x="291782" y="6750418"/>
            <a:ext cx="879411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291465" y="261620"/>
            <a:ext cx="2084705" cy="876300"/>
            <a:chOff x="2360" y="4651"/>
            <a:chExt cx="3283" cy="1380"/>
          </a:xfrm>
        </p:grpSpPr>
        <p:sp>
          <p:nvSpPr>
            <p:cNvPr id="26" name="文本框 25"/>
            <p:cNvSpPr txBox="1"/>
            <p:nvPr/>
          </p:nvSpPr>
          <p:spPr>
            <a:xfrm>
              <a:off x="2360" y="4724"/>
              <a:ext cx="1532" cy="1307"/>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4800" dirty="0">
                  <a:solidFill>
                    <a:schemeClr val="tx1"/>
                  </a:solidFill>
                  <a:latin typeface="微软雅黑" charset="-122"/>
                  <a:ea typeface="微软雅黑" charset="-122"/>
                </a:rPr>
                <a:t>06</a:t>
              </a:r>
              <a:endParaRPr lang="en-US" altLang="zh-CN" sz="4800" dirty="0">
                <a:solidFill>
                  <a:schemeClr val="tx1"/>
                </a:solidFill>
                <a:latin typeface="微软雅黑" charset="-122"/>
                <a:ea typeface="微软雅黑" charset="-122"/>
              </a:endParaRPr>
            </a:p>
          </p:txBody>
        </p:sp>
        <p:sp>
          <p:nvSpPr>
            <p:cNvPr id="27" name="文本框 26"/>
            <p:cNvSpPr txBox="1"/>
            <p:nvPr/>
          </p:nvSpPr>
          <p:spPr>
            <a:xfrm>
              <a:off x="3890" y="4829"/>
              <a:ext cx="1648" cy="62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zh-CN" altLang="en-US" sz="2000" b="1" dirty="0">
                  <a:latin typeface="微软雅黑" charset="-122"/>
                  <a:ea typeface="微软雅黑" charset="-122"/>
                </a:rPr>
                <a:t>结语</a:t>
              </a:r>
              <a:endParaRPr lang="zh-CN" altLang="en-US" sz="2000" b="1" dirty="0">
                <a:latin typeface="微软雅黑" charset="-122"/>
                <a:ea typeface="微软雅黑" charset="-122"/>
              </a:endParaRPr>
            </a:p>
          </p:txBody>
        </p:sp>
        <p:sp>
          <p:nvSpPr>
            <p:cNvPr id="28" name="矩形 27"/>
            <p:cNvSpPr/>
            <p:nvPr/>
          </p:nvSpPr>
          <p:spPr>
            <a:xfrm>
              <a:off x="3892" y="5382"/>
              <a:ext cx="1751" cy="397"/>
            </a:xfrm>
            <a:prstGeom prst="rect">
              <a:avLst/>
            </a:prstGeom>
          </p:spPr>
          <p:txBody>
            <a:bodyPr wrap="square" anchor="t" anchorCtr="0">
              <a:noAutofit/>
            </a:bodyPr>
            <a:lstStyle/>
            <a:p>
              <a:pPr algn="dist">
                <a:lnSpc>
                  <a:spcPct val="150000"/>
                </a:lnSpc>
              </a:pPr>
              <a:r>
                <a:rPr lang="en-US" altLang="zh-CN" sz="900" dirty="0">
                  <a:latin typeface="微软雅黑" charset="-122"/>
                  <a:ea typeface="微软雅黑" charset="-122"/>
                </a:rPr>
                <a:t>Conclusion</a:t>
              </a:r>
              <a:endParaRPr lang="en-US" altLang="zh-CN" sz="900" dirty="0">
                <a:latin typeface="微软雅黑" charset="-122"/>
                <a:ea typeface="微软雅黑" charset="-122"/>
              </a:endParaRPr>
            </a:p>
          </p:txBody>
        </p:sp>
        <p:sp>
          <p:nvSpPr>
            <p:cNvPr id="32" name="圆角矩形 103"/>
            <p:cNvSpPr/>
            <p:nvPr/>
          </p:nvSpPr>
          <p:spPr>
            <a:xfrm>
              <a:off x="2643" y="4651"/>
              <a:ext cx="965" cy="113"/>
            </a:xfrm>
            <a:prstGeom prst="roundRect">
              <a:avLst>
                <a:gd name="adj" fmla="val 50000"/>
              </a:avLst>
            </a:prstGeom>
            <a:solidFill>
              <a:srgbClr val="0070C0"/>
            </a:solidFill>
            <a:ln w="12700" cap="rnd">
              <a:noFill/>
              <a:prstDash val="solid"/>
              <a:round/>
            </a:ln>
            <a:effectLst>
              <a:outerShdw blurRad="254000" dist="127000" algn="ctr" rotWithShape="0">
                <a:srgbClr val="0070C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zh-CN" altLang="en-US" sz="400" b="1">
                <a:solidFill>
                  <a:schemeClr val="bg1"/>
                </a:solidFill>
                <a:latin typeface="微软雅黑" charset="-122"/>
                <a:ea typeface="微软雅黑" charset="-122"/>
              </a:endParaRPr>
            </a:p>
          </p:txBody>
        </p:sp>
      </p:grpSp>
      <p:sp>
        <p:nvSpPr>
          <p:cNvPr id="3" name="文本框 2"/>
          <p:cNvSpPr txBox="1"/>
          <p:nvPr/>
        </p:nvSpPr>
        <p:spPr>
          <a:xfrm>
            <a:off x="471170" y="2350770"/>
            <a:ext cx="11461750" cy="3138170"/>
          </a:xfrm>
          <a:prstGeom prst="rect">
            <a:avLst/>
          </a:prstGeom>
          <a:noFill/>
        </p:spPr>
        <p:txBody>
          <a:bodyPr wrap="square" rtlCol="0">
            <a:spAutoFit/>
          </a:bodyPr>
          <a:p>
            <a:r>
              <a:rPr lang="zh-CN" altLang="en-US">
                <a:latin typeface="微软雅黑" charset="0"/>
                <a:ea typeface="微软雅黑" charset="0"/>
                <a:cs typeface="微软雅黑" charset="0"/>
              </a:rPr>
              <a:t>主要结论➡️对</a:t>
            </a:r>
            <a:r>
              <a:rPr lang="en-US" altLang="zh-CN">
                <a:latin typeface="微软雅黑" charset="0"/>
                <a:ea typeface="微软雅黑" charset="0"/>
                <a:cs typeface="微软雅黑" charset="0"/>
              </a:rPr>
              <a:t>puzzle</a:t>
            </a:r>
            <a:r>
              <a:rPr lang="zh-CN" altLang="en-US">
                <a:latin typeface="微软雅黑" charset="0"/>
                <a:ea typeface="微软雅黑" charset="0"/>
                <a:cs typeface="微软雅黑" charset="0"/>
              </a:rPr>
              <a:t>的回应</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主要变量关系的</a:t>
            </a:r>
            <a:r>
              <a:rPr lang="zh-CN" altLang="en-US">
                <a:latin typeface="微软雅黑" charset="0"/>
                <a:ea typeface="微软雅黑" charset="0"/>
                <a:cs typeface="微软雅黑" charset="0"/>
              </a:rPr>
              <a:t>说明</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en-US" altLang="zh-CN">
                <a:latin typeface="微软雅黑" charset="0"/>
                <a:ea typeface="微软雅黑" charset="0"/>
                <a:cs typeface="微软雅黑" charset="0"/>
              </a:rPr>
              <a:t>1.</a:t>
            </a:r>
            <a:r>
              <a:rPr lang="zh-CN" altLang="en-US">
                <a:latin typeface="微软雅黑" charset="0"/>
                <a:ea typeface="微软雅黑" charset="0"/>
                <a:cs typeface="微软雅黑" charset="0"/>
              </a:rPr>
              <a:t>新旧多边主义的变迁正在进行</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突出表现为“渐进式变迁”</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“新瓶装旧酒”与“旧架生新枝”交织</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这也意味着“路径依赖”使得新多边主义的转型仍然是不彻底的</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变迁是未完成的</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难以完全弥合旧多边主义的</a:t>
            </a:r>
            <a:r>
              <a:rPr lang="zh-CN" altLang="en-US">
                <a:latin typeface="微软雅黑" charset="0"/>
                <a:ea typeface="微软雅黑" charset="0"/>
                <a:cs typeface="微软雅黑" charset="0"/>
              </a:rPr>
              <a:t>漏洞</a:t>
            </a:r>
            <a:endParaRPr lang="zh-CN" altLang="en-US">
              <a:latin typeface="微软雅黑" charset="0"/>
              <a:ea typeface="微软雅黑" charset="0"/>
              <a:cs typeface="微软雅黑" charset="0"/>
            </a:endParaRPr>
          </a:p>
          <a:p>
            <a:endParaRPr lang="zh-CN" altLang="en-US">
              <a:latin typeface="微软雅黑" charset="0"/>
              <a:ea typeface="微软雅黑" charset="0"/>
              <a:cs typeface="微软雅黑" charset="0"/>
            </a:endParaRPr>
          </a:p>
          <a:p>
            <a:r>
              <a:rPr lang="en-US" altLang="zh-CN">
                <a:latin typeface="微软雅黑" charset="0"/>
                <a:ea typeface="微软雅黑" charset="0"/>
                <a:cs typeface="微软雅黑" charset="0"/>
              </a:rPr>
              <a:t>2.</a:t>
            </a:r>
            <a:r>
              <a:rPr lang="zh-CN" altLang="en-US">
                <a:latin typeface="微软雅黑" charset="0"/>
                <a:ea typeface="微软雅黑" charset="0"/>
                <a:cs typeface="微软雅黑" charset="0"/>
              </a:rPr>
              <a:t>日渐碎片化的治理议程与愈发多样化的治理议题使得变迁具体表现为“叠加”</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“转换”和“漂移”三种形式</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制度的“替代”在中短期</a:t>
            </a:r>
            <a:r>
              <a:rPr lang="zh-CN" altLang="en-US">
                <a:latin typeface="微软雅黑" charset="0"/>
                <a:ea typeface="微软雅黑" charset="0"/>
                <a:cs typeface="微软雅黑" charset="0"/>
              </a:rPr>
              <a:t>内很难出现</a:t>
            </a:r>
            <a:endParaRPr lang="zh-CN" altLang="en-US">
              <a:latin typeface="微软雅黑" charset="0"/>
              <a:ea typeface="微软雅黑" charset="0"/>
              <a:cs typeface="微软雅黑" charset="0"/>
            </a:endParaRPr>
          </a:p>
          <a:p>
            <a:endParaRPr lang="en-US" altLang="zh-CN">
              <a:latin typeface="微软雅黑" charset="0"/>
              <a:ea typeface="微软雅黑" charset="0"/>
              <a:cs typeface="微软雅黑" charset="0"/>
            </a:endParaRPr>
          </a:p>
          <a:p>
            <a:r>
              <a:rPr lang="en-US" altLang="zh-CN">
                <a:latin typeface="微软雅黑" charset="0"/>
                <a:ea typeface="微软雅黑" charset="0"/>
                <a:cs typeface="微软雅黑" charset="0"/>
              </a:rPr>
              <a:t>3.</a:t>
            </a:r>
            <a:r>
              <a:rPr lang="zh-CN" altLang="en-US">
                <a:latin typeface="微软雅黑" charset="0"/>
                <a:ea typeface="微软雅黑" charset="0"/>
                <a:cs typeface="微软雅黑" charset="0"/>
              </a:rPr>
              <a:t>旧多边主义的路径依赖与南北权力结构矛盾的制约仍然深刻影响新多边主义实践</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突出表现为三重张力</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sym typeface="+mn-ea"/>
              </a:rPr>
              <a:t>合法性与效率的张力、渐进改革应对系统性危机的能力不足、以及</a:t>
            </a:r>
            <a:r>
              <a:rPr lang="en-US" altLang="zh-CN">
                <a:latin typeface="微软雅黑" charset="0"/>
                <a:ea typeface="微软雅黑" charset="0"/>
                <a:cs typeface="微软雅黑" charset="0"/>
                <a:sym typeface="+mn-ea"/>
              </a:rPr>
              <a:t>“</a:t>
            </a:r>
            <a:r>
              <a:rPr lang="zh-CN" altLang="en-US">
                <a:latin typeface="微软雅黑" charset="0"/>
                <a:ea typeface="微软雅黑" charset="0"/>
                <a:cs typeface="微软雅黑" charset="0"/>
                <a:sym typeface="+mn-ea"/>
              </a:rPr>
              <a:t>包容性</a:t>
            </a:r>
            <a:r>
              <a:rPr lang="en-US" altLang="zh-CN">
                <a:latin typeface="微软雅黑" charset="0"/>
                <a:ea typeface="微软雅黑" charset="0"/>
                <a:cs typeface="微软雅黑" charset="0"/>
                <a:sym typeface="+mn-ea"/>
              </a:rPr>
              <a:t>”</a:t>
            </a:r>
            <a:r>
              <a:rPr lang="zh-CN" altLang="en-US">
                <a:latin typeface="微软雅黑" charset="0"/>
                <a:ea typeface="微软雅黑" charset="0"/>
                <a:cs typeface="微软雅黑" charset="0"/>
                <a:sym typeface="+mn-ea"/>
              </a:rPr>
              <a:t>治理下的结构性不平等</a:t>
            </a:r>
            <a:r>
              <a:rPr lang="en-US" altLang="zh-CN">
                <a:latin typeface="微软雅黑" charset="0"/>
                <a:ea typeface="微软雅黑" charset="0"/>
                <a:cs typeface="微软雅黑" charset="0"/>
                <a:sym typeface="+mn-ea"/>
              </a:rPr>
              <a:t>）</a:t>
            </a:r>
            <a:r>
              <a:rPr lang="zh-CN" altLang="en-US">
                <a:latin typeface="微软雅黑" charset="0"/>
                <a:ea typeface="微软雅黑" charset="0"/>
                <a:cs typeface="微软雅黑" charset="0"/>
              </a:rPr>
              <a:t>。</a:t>
            </a:r>
            <a:endParaRPr lang="zh-CN" altLang="en-US">
              <a:latin typeface="微软雅黑" charset="0"/>
              <a:ea typeface="微软雅黑" charset="0"/>
              <a:cs typeface="微软雅黑" charset="0"/>
            </a:endParaRPr>
          </a:p>
        </p:txBody>
      </p:sp>
      <p:sp>
        <p:nvSpPr>
          <p:cNvPr id="46" name="文本框 45"/>
          <p:cNvSpPr txBox="1"/>
          <p:nvPr/>
        </p:nvSpPr>
        <p:spPr>
          <a:xfrm>
            <a:off x="471170" y="1156970"/>
            <a:ext cx="5861685" cy="1014730"/>
          </a:xfrm>
          <a:prstGeom prst="rect">
            <a:avLst/>
          </a:prstGeom>
          <a:noFill/>
        </p:spPr>
        <p:txBody>
          <a:bodyPr wrap="square" rtlCol="0">
            <a:spAutoFit/>
          </a:bodyPr>
          <a:p>
            <a:r>
              <a:rPr lang="zh-CN" altLang="en-US" sz="2000">
                <a:solidFill>
                  <a:srgbClr val="FF0000"/>
                </a:solidFill>
                <a:latin typeface="微软雅黑" charset="0"/>
                <a:ea typeface="微软雅黑" charset="0"/>
                <a:cs typeface="微软雅黑" charset="0"/>
              </a:rPr>
              <a:t>核心问题</a:t>
            </a:r>
            <a:r>
              <a:rPr lang="en-US" altLang="zh-CN" sz="2000">
                <a:solidFill>
                  <a:srgbClr val="FF0000"/>
                </a:solidFill>
                <a:latin typeface="微软雅黑" charset="0"/>
                <a:ea typeface="微软雅黑" charset="0"/>
                <a:cs typeface="微软雅黑" charset="0"/>
              </a:rPr>
              <a:t> (puzzle)：</a:t>
            </a:r>
            <a:r>
              <a:rPr lang="zh-CN" altLang="en-US" sz="2000">
                <a:solidFill>
                  <a:srgbClr val="FF0000"/>
                </a:solidFill>
                <a:latin typeface="微软雅黑" charset="0"/>
                <a:ea typeface="微软雅黑" charset="0"/>
                <a:cs typeface="微软雅黑" charset="0"/>
              </a:rPr>
              <a:t>当前新旧多边主义转型后理应“更加合法且高效地运作”</a:t>
            </a:r>
            <a:r>
              <a:rPr lang="en-US" altLang="zh-CN" sz="2000">
                <a:solidFill>
                  <a:srgbClr val="FF0000"/>
                </a:solidFill>
                <a:latin typeface="微软雅黑" charset="0"/>
                <a:ea typeface="微软雅黑" charset="0"/>
                <a:cs typeface="微软雅黑" charset="0"/>
              </a:rPr>
              <a:t>，</a:t>
            </a:r>
            <a:r>
              <a:rPr lang="zh-CN" altLang="en-US" sz="2000">
                <a:solidFill>
                  <a:srgbClr val="FF0000"/>
                </a:solidFill>
                <a:latin typeface="微软雅黑" charset="0"/>
                <a:ea typeface="微软雅黑" charset="0"/>
                <a:cs typeface="微软雅黑" charset="0"/>
              </a:rPr>
              <a:t>为何还是治理困境频发</a:t>
            </a:r>
            <a:r>
              <a:rPr lang="en-US" altLang="zh-CN" sz="2000">
                <a:solidFill>
                  <a:srgbClr val="FF0000"/>
                </a:solidFill>
                <a:latin typeface="微软雅黑" charset="0"/>
                <a:ea typeface="微软雅黑" charset="0"/>
                <a:cs typeface="微软雅黑" charset="0"/>
              </a:rPr>
              <a:t>？</a:t>
            </a:r>
            <a:r>
              <a:rPr lang="zh-CN" altLang="en-US" sz="2000">
                <a:solidFill>
                  <a:srgbClr val="FF0000"/>
                </a:solidFill>
                <a:latin typeface="微软雅黑" charset="0"/>
                <a:ea typeface="微软雅黑" charset="0"/>
                <a:cs typeface="微软雅黑" charset="0"/>
              </a:rPr>
              <a:t>新多边主义治理绩效为何不彰</a:t>
            </a:r>
            <a:r>
              <a:rPr lang="en-US" altLang="zh-CN" sz="2000">
                <a:solidFill>
                  <a:srgbClr val="FF0000"/>
                </a:solidFill>
                <a:latin typeface="微软雅黑" charset="0"/>
                <a:ea typeface="微软雅黑" charset="0"/>
                <a:cs typeface="微软雅黑" charset="0"/>
              </a:rPr>
              <a:t>？</a:t>
            </a:r>
            <a:endParaRPr lang="en-US" altLang="zh-CN" sz="2000">
              <a:solidFill>
                <a:srgbClr val="FF0000"/>
              </a:solidFill>
              <a:latin typeface="微软雅黑" charset="0"/>
              <a:ea typeface="微软雅黑" charset="0"/>
              <a:cs typeface="微软雅黑"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形状 20"/>
          <p:cNvSpPr/>
          <p:nvPr/>
        </p:nvSpPr>
        <p:spPr>
          <a:xfrm>
            <a:off x="0" y="0"/>
            <a:ext cx="3667592" cy="3429000"/>
          </a:xfrm>
          <a:custGeom>
            <a:avLst/>
            <a:gdLst>
              <a:gd name="connsiteX0" fmla="*/ 0 w 3667592"/>
              <a:gd name="connsiteY0" fmla="*/ 0 h 3429000"/>
              <a:gd name="connsiteX1" fmla="*/ 3559647 w 3667592"/>
              <a:gd name="connsiteY1" fmla="*/ 0 h 3429000"/>
              <a:gd name="connsiteX2" fmla="*/ 3613129 w 3667592"/>
              <a:gd name="connsiteY2" fmla="*/ 207996 h 3429000"/>
              <a:gd name="connsiteX3" fmla="*/ 3667592 w 3667592"/>
              <a:gd name="connsiteY3" fmla="*/ 748259 h 3429000"/>
              <a:gd name="connsiteX4" fmla="*/ 986851 w 3667592"/>
              <a:gd name="connsiteY4" fmla="*/ 3429000 h 3429000"/>
              <a:gd name="connsiteX5" fmla="*/ 189681 w 3667592"/>
              <a:gd name="connsiteY5" fmla="*/ 3308479 h 3429000"/>
              <a:gd name="connsiteX6" fmla="*/ 0 w 3667592"/>
              <a:gd name="connsiteY6" fmla="*/ 3239055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92" h="3429000">
                <a:moveTo>
                  <a:pt x="0" y="0"/>
                </a:moveTo>
                <a:lnTo>
                  <a:pt x="3559647" y="0"/>
                </a:lnTo>
                <a:lnTo>
                  <a:pt x="3613129" y="207996"/>
                </a:lnTo>
                <a:cubicBezTo>
                  <a:pt x="3648839" y="382506"/>
                  <a:pt x="3667592" y="563193"/>
                  <a:pt x="3667592" y="748259"/>
                </a:cubicBezTo>
                <a:cubicBezTo>
                  <a:pt x="3667592" y="2228791"/>
                  <a:pt x="2467383" y="3429000"/>
                  <a:pt x="986851" y="3429000"/>
                </a:cubicBezTo>
                <a:cubicBezTo>
                  <a:pt x="709251" y="3429000"/>
                  <a:pt x="441507" y="3386805"/>
                  <a:pt x="189681" y="3308479"/>
                </a:cubicBezTo>
                <a:lnTo>
                  <a:pt x="0" y="3239055"/>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椭圆 7"/>
          <p:cNvSpPr/>
          <p:nvPr/>
        </p:nvSpPr>
        <p:spPr>
          <a:xfrm>
            <a:off x="9153728" y="3565188"/>
            <a:ext cx="2117324" cy="21173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469833" y="5439322"/>
            <a:ext cx="243190" cy="243190"/>
          </a:xfrm>
          <a:prstGeom prst="ellipse">
            <a:avLst/>
          </a:prstGeom>
          <a:gradFill>
            <a:gsLst>
              <a:gs pos="0">
                <a:srgbClr val="002060"/>
              </a:gs>
              <a:gs pos="100000">
                <a:srgbClr val="0070C0"/>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ïṩľiḋe"/>
          <p:cNvSpPr txBox="1"/>
          <p:nvPr/>
        </p:nvSpPr>
        <p:spPr>
          <a:xfrm>
            <a:off x="1619250" y="2368550"/>
            <a:ext cx="8953500" cy="119634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GB" sz="6000" b="1" dirty="0">
                <a:solidFill>
                  <a:srgbClr val="080808"/>
                </a:solidFill>
                <a:latin typeface="微软雅黑" charset="-122"/>
                <a:ea typeface="微软雅黑" charset="-122"/>
                <a:sym typeface="思源黑体 CN Regular" panose="020B0500000000000000" pitchFamily="34" charset="-122"/>
              </a:rPr>
              <a:t>感</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GB" sz="6000" b="1" dirty="0">
                <a:solidFill>
                  <a:srgbClr val="080808"/>
                </a:solidFill>
                <a:latin typeface="微软雅黑" charset="-122"/>
                <a:ea typeface="微软雅黑" charset="-122"/>
                <a:sym typeface="思源黑体 CN Regular" panose="020B0500000000000000" pitchFamily="34" charset="-122"/>
              </a:rPr>
              <a:t>谢</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GB" sz="6000" b="1" dirty="0">
                <a:solidFill>
                  <a:srgbClr val="080808"/>
                </a:solidFill>
                <a:latin typeface="微软雅黑" charset="-122"/>
                <a:ea typeface="微软雅黑" charset="-122"/>
                <a:sym typeface="思源黑体 CN Regular" panose="020B0500000000000000" pitchFamily="34" charset="-122"/>
              </a:rPr>
              <a:t>聆</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GB" sz="6000" b="1" dirty="0">
                <a:solidFill>
                  <a:srgbClr val="080808"/>
                </a:solidFill>
                <a:latin typeface="微软雅黑" charset="-122"/>
                <a:ea typeface="微软雅黑" charset="-122"/>
                <a:sym typeface="思源黑体 CN Regular" panose="020B0500000000000000" pitchFamily="34" charset="-122"/>
              </a:rPr>
              <a:t>听</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US" sz="6000" b="1" dirty="0">
                <a:solidFill>
                  <a:srgbClr val="080808"/>
                </a:solidFill>
                <a:latin typeface="微软雅黑" charset="-122"/>
                <a:ea typeface="微软雅黑" charset="-122"/>
                <a:sym typeface="思源黑体 CN Regular" panose="020B0500000000000000" pitchFamily="34" charset="-122"/>
              </a:rPr>
              <a:t>，敬</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US" sz="6000" b="1" dirty="0">
                <a:solidFill>
                  <a:srgbClr val="080808"/>
                </a:solidFill>
                <a:latin typeface="微软雅黑" charset="-122"/>
                <a:ea typeface="微软雅黑" charset="-122"/>
                <a:sym typeface="思源黑体 CN Regular" panose="020B0500000000000000" pitchFamily="34" charset="-122"/>
              </a:rPr>
              <a:t>请</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US" sz="6000" b="1" dirty="0">
                <a:solidFill>
                  <a:srgbClr val="080808"/>
                </a:solidFill>
                <a:latin typeface="微软雅黑" charset="-122"/>
                <a:ea typeface="微软雅黑" charset="-122"/>
                <a:sym typeface="思源黑体 CN Regular" panose="020B0500000000000000" pitchFamily="34" charset="-122"/>
              </a:rPr>
              <a:t>指</a:t>
            </a:r>
            <a:r>
              <a:rPr lang="en-US" altLang="zh-CN" sz="6000" b="1" dirty="0">
                <a:solidFill>
                  <a:srgbClr val="080808"/>
                </a:solidFill>
                <a:latin typeface="微软雅黑" charset="-122"/>
                <a:ea typeface="微软雅黑" charset="-122"/>
                <a:sym typeface="思源黑体 CN Regular" panose="020B0500000000000000" pitchFamily="34" charset="-122"/>
              </a:rPr>
              <a:t> </a:t>
            </a:r>
            <a:r>
              <a:rPr lang="zh-CN" altLang="en-US" sz="6000" b="1" dirty="0">
                <a:solidFill>
                  <a:srgbClr val="080808"/>
                </a:solidFill>
                <a:latin typeface="微软雅黑" charset="-122"/>
                <a:ea typeface="微软雅黑" charset="-122"/>
                <a:sym typeface="思源黑体 CN Regular" panose="020B0500000000000000" pitchFamily="34" charset="-122"/>
              </a:rPr>
              <a:t>正</a:t>
            </a:r>
            <a:r>
              <a:rPr lang="zh-CN" altLang="en-GB" sz="6000" b="1" dirty="0">
                <a:solidFill>
                  <a:srgbClr val="080808"/>
                </a:solidFill>
                <a:latin typeface="微软雅黑" charset="-122"/>
                <a:ea typeface="微软雅黑" charset="-122"/>
                <a:sym typeface="思源黑体 CN Regular" panose="020B0500000000000000" pitchFamily="34" charset="-122"/>
              </a:rPr>
              <a:t>！</a:t>
            </a:r>
            <a:endParaRPr lang="zh-CN" altLang="en-GB" sz="6000" b="1" dirty="0">
              <a:solidFill>
                <a:srgbClr val="080808"/>
              </a:solidFill>
              <a:latin typeface="微软雅黑" charset="-122"/>
              <a:ea typeface="微软雅黑" charset="-122"/>
              <a:sym typeface="思源黑体 CN Regular" panose="020B0500000000000000" pitchFamily="34" charset="-122"/>
            </a:endParaRPr>
          </a:p>
        </p:txBody>
      </p:sp>
      <p:pic>
        <p:nvPicPr>
          <p:cNvPr id="11" name="图片 10" descr="C:/Users/Administrator/AppData/Local/Temp/picturecompress_20220520140653/output_23.pngoutput_23"/>
          <p:cNvPicPr>
            <a:picLocks noChangeAspect="1"/>
          </p:cNvPicPr>
          <p:nvPr/>
        </p:nvPicPr>
        <p:blipFill>
          <a:blip r:embed="rId1" cstate="print"/>
          <a:stretch>
            <a:fillRect/>
          </a:stretch>
        </p:blipFill>
        <p:spPr>
          <a:xfrm>
            <a:off x="450215" y="444500"/>
            <a:ext cx="2767965" cy="633730"/>
          </a:xfrm>
          <a:prstGeom prst="rect">
            <a:avLst/>
          </a:prstGeom>
        </p:spPr>
      </p:pic>
      <p:pic>
        <p:nvPicPr>
          <p:cNvPr id="9" name="图片 8" descr="C:/Users/Administrator/AppData/Local/Temp/picturecompress_20220520140653/output_6.pngoutput_6"/>
          <p:cNvPicPr>
            <a:picLocks noChangeAspect="1"/>
          </p:cNvPicPr>
          <p:nvPr/>
        </p:nvPicPr>
        <p:blipFill>
          <a:blip r:embed="rId2">
            <a:duotone>
              <a:schemeClr val="accent6">
                <a:shade val="45000"/>
                <a:satMod val="135000"/>
              </a:schemeClr>
              <a:prstClr val="white"/>
            </a:duotone>
          </a:blip>
          <a:srcRect/>
          <a:stretch>
            <a:fillRect/>
          </a:stretch>
        </p:blipFill>
        <p:spPr>
          <a:xfrm>
            <a:off x="8103870" y="4512945"/>
            <a:ext cx="4088130" cy="23450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TABLE_ENDDRAG_ORIGIN_RECT" val="524*361"/>
  <p:tag name="TABLE_ENDDRAG_RECT" val="266*118*524*361"/>
</p:tagLst>
</file>

<file path=ppt/tags/tag11.xml><?xml version="1.0" encoding="utf-8"?>
<p:tagLst xmlns:p="http://schemas.openxmlformats.org/presentationml/2006/main">
  <p:tag name="TABLE_ENDDRAG_ORIGIN_RECT" val="570*203"/>
  <p:tag name="TABLE_ENDDRAG_RECT" val="266*194*570*203"/>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3911</Words>
  <Application>WPS 表格</Application>
  <PresentationFormat>宽屏</PresentationFormat>
  <Paragraphs>318</Paragraphs>
  <Slides>17</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17</vt:i4>
      </vt:variant>
    </vt:vector>
  </HeadingPairs>
  <TitlesOfParts>
    <vt:vector size="36" baseType="lpstr">
      <vt:lpstr>Arial</vt:lpstr>
      <vt:lpstr>宋体</vt:lpstr>
      <vt:lpstr>Wingdings</vt:lpstr>
      <vt:lpstr>微软雅黑</vt:lpstr>
      <vt:lpstr>汉仪旗黑</vt:lpstr>
      <vt:lpstr>宋体</vt:lpstr>
      <vt:lpstr>微软雅黑</vt:lpstr>
      <vt:lpstr>Times New Roman</vt:lpstr>
      <vt:lpstr>宋体</vt:lpstr>
      <vt:lpstr>汉仪书宋二KW</vt:lpstr>
      <vt:lpstr>思源黑体 CN Regular</vt:lpstr>
      <vt:lpstr>Calibri</vt:lpstr>
      <vt:lpstr>Helvetica Neue</vt:lpstr>
      <vt:lpstr>Arial Unicode MS</vt:lpstr>
      <vt:lpstr>汉仪中黑KW</vt:lpstr>
      <vt:lpstr>Times New Roman</vt:lpstr>
      <vt:lpstr>思源黑体 CN Regular</vt:lpstr>
      <vt:lpstr>Apple Color Emoji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hebingqi</dc:creator>
  <cp:lastModifiedBy>hebingqi</cp:lastModifiedBy>
  <cp:revision>102</cp:revision>
  <dcterms:created xsi:type="dcterms:W3CDTF">2025-05-11T00:48:03Z</dcterms:created>
  <dcterms:modified xsi:type="dcterms:W3CDTF">2025-05-11T00:48:03Z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2052-6.14.0.8924</vt:lpwstr>
  </property>
  <property fmtid="{D5CDD505-2E9C-101B-9397-08002B2CF9AE}" pid="3" name="ICV">
    <vt:lpwstr>B70E3ECBE0654214715E1C68E6852CA4_41</vt:lpwstr>
  </property>
</Properties>
</file>