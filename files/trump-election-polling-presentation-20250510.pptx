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3"/>
    <p:sldId id="258" r:id="rId4"/>
    <p:sldId id="264" r:id="rId5"/>
    <p:sldId id="277" r:id="rId6"/>
    <p:sldId id="260" r:id="rId7"/>
    <p:sldId id="278" r:id="rId8"/>
    <p:sldId id="267" r:id="rId9"/>
    <p:sldId id="262" r:id="rId10"/>
    <p:sldId id="279" r:id="rId11"/>
    <p:sldId id="261" r:id="rId12"/>
    <p:sldId id="266" r:id="rId13"/>
    <p:sldId id="265" r:id="rId14"/>
    <p:sldId id="281" r:id="rId15"/>
    <p:sldId id="270" r:id="rId16"/>
    <p:sldId id="268" r:id="rId17"/>
    <p:sldId id="269" r:id="rId18"/>
    <p:sldId id="282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slide" Target="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4.png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tags" Target="../tags/tag2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tags" Target="../tags/tag2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tags" Target="../tags/tag24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tags" Target="../tags/tag25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tags" Target="../tags/tag26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2.png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tags" Target="../tags/tag2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C:/Users/Administrator/AppData/Local/Temp/picturecompress_20220520140653/output_6.pngoutput_6"/>
          <p:cNvPicPr>
            <a:picLocks noChangeAspect="1"/>
          </p:cNvPicPr>
          <p:nvPr/>
        </p:nvPicPr>
        <p:blipFill>
          <a:blip r:embed="rId1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4335603" y="2352675"/>
            <a:ext cx="7856397" cy="4505325"/>
          </a:xfrm>
          <a:prstGeom prst="rect">
            <a:avLst/>
          </a:prstGeom>
        </p:spPr>
      </p:pic>
      <p:sp>
        <p:nvSpPr>
          <p:cNvPr id="21" name="任意多边形: 形状 20"/>
          <p:cNvSpPr/>
          <p:nvPr/>
        </p:nvSpPr>
        <p:spPr>
          <a:xfrm>
            <a:off x="0" y="0"/>
            <a:ext cx="3667592" cy="3429000"/>
          </a:xfrm>
          <a:custGeom>
            <a:avLst/>
            <a:gdLst>
              <a:gd name="connsiteX0" fmla="*/ 0 w 3667592"/>
              <a:gd name="connsiteY0" fmla="*/ 0 h 3429000"/>
              <a:gd name="connsiteX1" fmla="*/ 3559647 w 3667592"/>
              <a:gd name="connsiteY1" fmla="*/ 0 h 3429000"/>
              <a:gd name="connsiteX2" fmla="*/ 3613129 w 3667592"/>
              <a:gd name="connsiteY2" fmla="*/ 207996 h 3429000"/>
              <a:gd name="connsiteX3" fmla="*/ 3667592 w 3667592"/>
              <a:gd name="connsiteY3" fmla="*/ 748259 h 3429000"/>
              <a:gd name="connsiteX4" fmla="*/ 986851 w 3667592"/>
              <a:gd name="connsiteY4" fmla="*/ 3429000 h 3429000"/>
              <a:gd name="connsiteX5" fmla="*/ 189681 w 3667592"/>
              <a:gd name="connsiteY5" fmla="*/ 3308479 h 3429000"/>
              <a:gd name="connsiteX6" fmla="*/ 0 w 3667592"/>
              <a:gd name="connsiteY6" fmla="*/ 3239055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7592" h="3429000">
                <a:moveTo>
                  <a:pt x="0" y="0"/>
                </a:moveTo>
                <a:lnTo>
                  <a:pt x="3559647" y="0"/>
                </a:lnTo>
                <a:lnTo>
                  <a:pt x="3613129" y="207996"/>
                </a:lnTo>
                <a:cubicBezTo>
                  <a:pt x="3648839" y="382506"/>
                  <a:pt x="3667592" y="563193"/>
                  <a:pt x="3667592" y="748259"/>
                </a:cubicBezTo>
                <a:cubicBezTo>
                  <a:pt x="3667592" y="2228791"/>
                  <a:pt x="2467383" y="3429000"/>
                  <a:pt x="986851" y="3429000"/>
                </a:cubicBezTo>
                <a:cubicBezTo>
                  <a:pt x="709251" y="3429000"/>
                  <a:pt x="441507" y="3386805"/>
                  <a:pt x="189681" y="3308479"/>
                </a:cubicBezTo>
                <a:lnTo>
                  <a:pt x="0" y="323905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218927" y="5988109"/>
            <a:ext cx="2117324" cy="21173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íṧliḋè"/>
          <p:cNvSpPr/>
          <p:nvPr/>
        </p:nvSpPr>
        <p:spPr>
          <a:xfrm>
            <a:off x="1511498" y="3267417"/>
            <a:ext cx="4363544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spAutoFit/>
          </a:bodyPr>
          <a:lstStyle/>
          <a:p>
            <a:pPr algn="dist"/>
            <a:r>
              <a:rPr lang="en-US" altLang="zh-CN" sz="1200" dirty="0">
                <a:solidFill>
                  <a:schemeClr val="tx1"/>
                </a:solidFill>
                <a:latin typeface="微软雅黑" charset="-122"/>
                <a:ea typeface="微软雅黑" charset="-122"/>
              </a:rPr>
              <a:t>BEIJING  FOREIGN  STUDIES  UNIVERSITY </a:t>
            </a:r>
            <a:endParaRPr lang="en-US" altLang="zh-CN" sz="1200" dirty="0">
              <a:solidFill>
                <a:schemeClr val="tx1"/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27" name="幻灯片缩放定位 26">
            <a:hlinkClick r:id="rId2" action="ppaction://hlinksldjump"/>
          </p:cNvPr>
          <p:cNvPicPr>
            <a:picLocks noGrp="1" noRot="1" noChangeAspect="1" noMove="1" noResize="1" noEditPoints="1" noAdjustHandles="1" noChangeArrowheads="1" noChangeShapeType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681" y="5339526"/>
            <a:ext cx="673290" cy="378726"/>
          </a:xfrm>
          <a:prstGeom prst="rect">
            <a:avLst/>
          </a:prstGeom>
          <a:ln w="3175">
            <a:solidFill>
              <a:prstClr val="lightGray"/>
            </a:solidFill>
          </a:ln>
          <a:effectLst>
            <a:softEdge rad="1270000"/>
          </a:effectLst>
        </p:spPr>
      </p:pic>
      <p:pic>
        <p:nvPicPr>
          <p:cNvPr id="13" name="图片 12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093" y="958686"/>
            <a:ext cx="1925840" cy="441018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61110" y="3882390"/>
            <a:ext cx="1169035" cy="52197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宋体" charset="0"/>
                <a:ea typeface="宋体" charset="0"/>
              </a:rPr>
              <a:t>汇报人</a:t>
            </a:r>
            <a:endParaRPr lang="zh-CN" altLang="en-US" sz="2400" dirty="0" smtClean="0">
              <a:solidFill>
                <a:schemeClr val="bg1"/>
              </a:solidFill>
              <a:latin typeface="宋体" charset="0"/>
              <a:ea typeface="宋体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058035" y="3922395"/>
            <a:ext cx="2515235" cy="52133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北外国关</a:t>
            </a:r>
            <a:r>
              <a:rPr lang="en-US" altLang="zh-CN" sz="2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何柄岐</a:t>
            </a:r>
            <a:r>
              <a:rPr lang="en-US" altLang="zh-CN" sz="2800" b="1" dirty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endParaRPr lang="zh-CN" altLang="en-US" sz="2800" b="1" dirty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02561" y="3921792"/>
            <a:ext cx="28073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2025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年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5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月</a:t>
            </a:r>
            <a:r>
              <a:rPr lang="en-US" altLang="zh-C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10</a:t>
            </a:r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日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1691640" y="1711325"/>
            <a:ext cx="88087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000" b="1">
                <a:latin typeface="+mj-ea"/>
                <a:ea typeface="+mj-ea"/>
                <a:cs typeface="+mj-ea"/>
              </a:rPr>
              <a:t>特朗普时代的总统选举民调：</a:t>
            </a:r>
            <a:endParaRPr lang="zh-CN" altLang="en-US" sz="4000" b="1">
              <a:latin typeface="+mj-ea"/>
              <a:ea typeface="+mj-ea"/>
              <a:cs typeface="+mj-ea"/>
            </a:endParaRPr>
          </a:p>
          <a:p>
            <a:pPr algn="ctr"/>
            <a:r>
              <a:rPr lang="zh-CN" altLang="en-US" sz="4000" b="1">
                <a:latin typeface="+mj-ea"/>
                <a:ea typeface="+mj-ea"/>
                <a:cs typeface="+mj-ea"/>
              </a:rPr>
              <a:t>误差与改进</a:t>
            </a:r>
            <a:endParaRPr lang="zh-CN" altLang="en-US" sz="4000" b="1"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: 形状 19"/>
          <p:cNvSpPr/>
          <p:nvPr/>
        </p:nvSpPr>
        <p:spPr>
          <a:xfrm rot="5400000" flipH="1">
            <a:off x="-405546" y="514263"/>
            <a:ext cx="1856718" cy="1045625"/>
          </a:xfrm>
          <a:custGeom>
            <a:avLst/>
            <a:gdLst>
              <a:gd name="connsiteX0" fmla="*/ 1809750 w 3619500"/>
              <a:gd name="connsiteY0" fmla="*/ 0 h 2038350"/>
              <a:gd name="connsiteX1" fmla="*/ 3619500 w 3619500"/>
              <a:gd name="connsiteY1" fmla="*/ 1809750 h 2038350"/>
              <a:gd name="connsiteX2" fmla="*/ 3610157 w 3619500"/>
              <a:gd name="connsiteY2" fmla="*/ 1994787 h 2038350"/>
              <a:gd name="connsiteX3" fmla="*/ 3603508 w 3619500"/>
              <a:gd name="connsiteY3" fmla="*/ 2038350 h 2038350"/>
              <a:gd name="connsiteX4" fmla="*/ 15992 w 3619500"/>
              <a:gd name="connsiteY4" fmla="*/ 2038350 h 2038350"/>
              <a:gd name="connsiteX5" fmla="*/ 9344 w 3619500"/>
              <a:gd name="connsiteY5" fmla="*/ 1994787 h 2038350"/>
              <a:gd name="connsiteX6" fmla="*/ 0 w 3619500"/>
              <a:gd name="connsiteY6" fmla="*/ 1809750 h 2038350"/>
              <a:gd name="connsiteX7" fmla="*/ 1809750 w 3619500"/>
              <a:gd name="connsiteY7" fmla="*/ 0 h 203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9500" h="2038350">
                <a:moveTo>
                  <a:pt x="1809750" y="0"/>
                </a:moveTo>
                <a:cubicBezTo>
                  <a:pt x="2809247" y="0"/>
                  <a:pt x="3619500" y="810253"/>
                  <a:pt x="3619500" y="1809750"/>
                </a:cubicBezTo>
                <a:cubicBezTo>
                  <a:pt x="3619500" y="1872219"/>
                  <a:pt x="3616335" y="1933948"/>
                  <a:pt x="3610157" y="1994787"/>
                </a:cubicBezTo>
                <a:lnTo>
                  <a:pt x="3603508" y="2038350"/>
                </a:lnTo>
                <a:lnTo>
                  <a:pt x="15992" y="2038350"/>
                </a:lnTo>
                <a:lnTo>
                  <a:pt x="9344" y="1994787"/>
                </a:lnTo>
                <a:cubicBezTo>
                  <a:pt x="3165" y="1933948"/>
                  <a:pt x="0" y="1872219"/>
                  <a:pt x="0" y="1809750"/>
                </a:cubicBezTo>
                <a:cubicBezTo>
                  <a:pt x="0" y="810253"/>
                  <a:pt x="810253" y="0"/>
                  <a:pt x="1809750" y="0"/>
                </a:cubicBez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  <a:effectLst>
            <a:glow rad="469900">
              <a:srgbClr val="0070C0">
                <a:alpha val="6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20"/>
          <p:cNvSpPr/>
          <p:nvPr/>
        </p:nvSpPr>
        <p:spPr>
          <a:xfrm flipV="1">
            <a:off x="0" y="3429000"/>
            <a:ext cx="3667592" cy="3429000"/>
          </a:xfrm>
          <a:custGeom>
            <a:avLst/>
            <a:gdLst>
              <a:gd name="connsiteX0" fmla="*/ 0 w 3667592"/>
              <a:gd name="connsiteY0" fmla="*/ 0 h 3429000"/>
              <a:gd name="connsiteX1" fmla="*/ 3559647 w 3667592"/>
              <a:gd name="connsiteY1" fmla="*/ 0 h 3429000"/>
              <a:gd name="connsiteX2" fmla="*/ 3613129 w 3667592"/>
              <a:gd name="connsiteY2" fmla="*/ 207996 h 3429000"/>
              <a:gd name="connsiteX3" fmla="*/ 3667592 w 3667592"/>
              <a:gd name="connsiteY3" fmla="*/ 748259 h 3429000"/>
              <a:gd name="connsiteX4" fmla="*/ 986851 w 3667592"/>
              <a:gd name="connsiteY4" fmla="*/ 3429000 h 3429000"/>
              <a:gd name="connsiteX5" fmla="*/ 189681 w 3667592"/>
              <a:gd name="connsiteY5" fmla="*/ 3308479 h 3429000"/>
              <a:gd name="connsiteX6" fmla="*/ 0 w 3667592"/>
              <a:gd name="connsiteY6" fmla="*/ 3239055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7592" h="3429000">
                <a:moveTo>
                  <a:pt x="0" y="0"/>
                </a:moveTo>
                <a:lnTo>
                  <a:pt x="3559647" y="0"/>
                </a:lnTo>
                <a:lnTo>
                  <a:pt x="3613129" y="207996"/>
                </a:lnTo>
                <a:cubicBezTo>
                  <a:pt x="3648839" y="382506"/>
                  <a:pt x="3667592" y="563193"/>
                  <a:pt x="3667592" y="748259"/>
                </a:cubicBezTo>
                <a:cubicBezTo>
                  <a:pt x="3667592" y="2228791"/>
                  <a:pt x="2467383" y="3429000"/>
                  <a:pt x="986851" y="3429000"/>
                </a:cubicBezTo>
                <a:cubicBezTo>
                  <a:pt x="709251" y="3429000"/>
                  <a:pt x="441507" y="3386805"/>
                  <a:pt x="189681" y="3308479"/>
                </a:cubicBezTo>
                <a:lnTo>
                  <a:pt x="0" y="323905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59605" y="108357"/>
            <a:ext cx="2117324" cy="21173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483842" y="978049"/>
            <a:ext cx="4361815" cy="706755"/>
            <a:chOff x="722477" y="765959"/>
            <a:chExt cx="4361815" cy="706755"/>
          </a:xfrm>
        </p:grpSpPr>
        <p:sp>
          <p:nvSpPr>
            <p:cNvPr id="11" name="文本框 10"/>
            <p:cNvSpPr txBox="1"/>
            <p:nvPr/>
          </p:nvSpPr>
          <p:spPr>
            <a:xfrm>
              <a:off x="722477" y="765959"/>
              <a:ext cx="1467485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charset="-122"/>
                  <a:ea typeface="微软雅黑" charset="-122"/>
                </a:rPr>
                <a:t>目</a:t>
              </a: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charset="-122"/>
                  <a:ea typeface="微软雅黑" charset="-122"/>
                </a:rPr>
                <a:t> </a:t>
              </a: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charset="-122"/>
                  <a:ea typeface="微软雅黑" charset="-122"/>
                </a:rPr>
                <a:t>录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189962" y="959634"/>
              <a:ext cx="2894330" cy="460375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>
                <a:buSzPct val="25000"/>
              </a:pPr>
              <a:r>
                <a:rPr lang="en-US" altLang="zh-CN" sz="2400" b="1" dirty="0">
                  <a:latin typeface="微软雅黑" charset="-122"/>
                  <a:ea typeface="微软雅黑" charset="-122"/>
                </a:rPr>
                <a:t>CONTENTS</a:t>
              </a:r>
              <a:endParaRPr lang="en-US" altLang="zh-CN" sz="2400" b="1" dirty="0"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548890" y="2007870"/>
            <a:ext cx="2474595" cy="876300"/>
            <a:chOff x="2360" y="4651"/>
            <a:chExt cx="3897" cy="1380"/>
          </a:xfrm>
        </p:grpSpPr>
        <p:sp>
          <p:nvSpPr>
            <p:cNvPr id="14" name="文本框 13"/>
            <p:cNvSpPr txBox="1"/>
            <p:nvPr/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01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890" y="4721"/>
              <a:ext cx="2367" cy="661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研究背景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892" y="5382"/>
              <a:ext cx="2364" cy="398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Background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0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548890" y="2967355"/>
            <a:ext cx="3000236" cy="1568450"/>
            <a:chOff x="2360" y="4143"/>
            <a:chExt cx="4559" cy="2470"/>
          </a:xfrm>
        </p:grpSpPr>
        <p:sp>
          <p:nvSpPr>
            <p:cNvPr id="33" name="文本框 32"/>
            <p:cNvSpPr txBox="1"/>
            <p:nvPr/>
          </p:nvSpPr>
          <p:spPr>
            <a:xfrm>
              <a:off x="2360" y="4143"/>
              <a:ext cx="1532" cy="2470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03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890" y="4832"/>
              <a:ext cx="2283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三次</a:t>
              </a:r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民调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3892" y="5382"/>
              <a:ext cx="3027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Three Polls(2016-2024)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6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950710" y="3254375"/>
            <a:ext cx="2538730" cy="876300"/>
            <a:chOff x="2360" y="4651"/>
            <a:chExt cx="3998" cy="1380"/>
          </a:xfrm>
        </p:grpSpPr>
        <p:sp>
          <p:nvSpPr>
            <p:cNvPr id="38" name="文本框 37"/>
            <p:cNvSpPr txBox="1"/>
            <p:nvPr/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04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3890" y="4829"/>
              <a:ext cx="2368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三重张力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3892" y="5382"/>
              <a:ext cx="2466" cy="472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Triple Tension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1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pic>
        <p:nvPicPr>
          <p:cNvPr id="42" name="图片 41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782" y="6241162"/>
            <a:ext cx="1764416" cy="403833"/>
          </a:xfrm>
          <a:prstGeom prst="rect">
            <a:avLst/>
          </a:prstGeom>
        </p:spPr>
      </p:pic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291782" y="6750418"/>
            <a:ext cx="87941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6938645" y="2013585"/>
            <a:ext cx="2534920" cy="876300"/>
            <a:chOff x="2360" y="4651"/>
            <a:chExt cx="3992" cy="1380"/>
          </a:xfrm>
        </p:grpSpPr>
        <p:sp>
          <p:nvSpPr>
            <p:cNvPr id="13" name="文本框 12"/>
            <p:cNvSpPr txBox="1"/>
            <p:nvPr>
              <p:custDataLst>
                <p:tags r:id="rId3"/>
              </p:custDataLst>
            </p:nvPr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02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4"/>
              </p:custDataLst>
            </p:nvPr>
          </p:nvSpPr>
          <p:spPr>
            <a:xfrm>
              <a:off x="3890" y="4828"/>
              <a:ext cx="2205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文献回顾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5"/>
              </p:custDataLst>
            </p:nvPr>
          </p:nvSpPr>
          <p:spPr>
            <a:xfrm>
              <a:off x="3892" y="5382"/>
              <a:ext cx="2460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Literature Review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9" name="圆角矩形 103"/>
            <p:cNvSpPr/>
            <p:nvPr>
              <p:custDataLst>
                <p:tags r:id="rId6"/>
              </p:custDataLst>
            </p:nvPr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577465" y="4618990"/>
            <a:ext cx="2538730" cy="876300"/>
            <a:chOff x="2360" y="4651"/>
            <a:chExt cx="3998" cy="1380"/>
          </a:xfrm>
        </p:grpSpPr>
        <p:sp>
          <p:nvSpPr>
            <p:cNvPr id="9" name="文本框 8"/>
            <p:cNvSpPr txBox="1"/>
            <p:nvPr/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05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890" y="4831"/>
              <a:ext cx="2417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改进优化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3892" y="5382"/>
              <a:ext cx="2466" cy="472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Improvements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4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950710" y="4621530"/>
            <a:ext cx="2084705" cy="876300"/>
            <a:chOff x="2360" y="4651"/>
            <a:chExt cx="3283" cy="1380"/>
          </a:xfrm>
        </p:grpSpPr>
        <p:sp>
          <p:nvSpPr>
            <p:cNvPr id="26" name="文本框 25"/>
            <p:cNvSpPr txBox="1"/>
            <p:nvPr/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06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890" y="4829"/>
              <a:ext cx="1648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结语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3892" y="5382"/>
              <a:ext cx="1751" cy="397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Conclusion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2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062605" y="298450"/>
            <a:ext cx="4792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我们还需要民调吗</a:t>
            </a:r>
            <a:r>
              <a:rPr lang="en-US" altLang="zh-CN" sz="2400">
                <a:solidFill>
                  <a:srgbClr val="FF0000"/>
                </a:solidFill>
              </a:rPr>
              <a:t>？</a:t>
            </a:r>
            <a:endParaRPr lang="en-US" altLang="zh-CN" sz="2400">
              <a:solidFill>
                <a:srgbClr val="FF0000"/>
              </a:solidFill>
            </a:endParaRPr>
          </a:p>
        </p:txBody>
      </p:sp>
      <p:pic>
        <p:nvPicPr>
          <p:cNvPr id="17" name="图片 16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2" y="6241162"/>
            <a:ext cx="1764416" cy="403833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91465" y="254000"/>
            <a:ext cx="2474595" cy="876300"/>
            <a:chOff x="2360" y="4651"/>
            <a:chExt cx="3897" cy="1380"/>
          </a:xfrm>
        </p:grpSpPr>
        <p:sp>
          <p:nvSpPr>
            <p:cNvPr id="14" name="文本框 13"/>
            <p:cNvSpPr txBox="1"/>
            <p:nvPr/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01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890" y="4721"/>
              <a:ext cx="2367" cy="661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研究背景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892" y="5382"/>
              <a:ext cx="2364" cy="398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Background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0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65" y="1130300"/>
            <a:ext cx="6367780" cy="45218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4360" y="1230630"/>
            <a:ext cx="6231890" cy="394208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481070" y="5716905"/>
            <a:ext cx="10826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均势</a:t>
            </a:r>
            <a:r>
              <a:rPr lang="en-US" altLang="zh-CN" sz="24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？</a:t>
            </a:r>
            <a:endParaRPr lang="en-US" altLang="zh-CN" sz="24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94475" y="5728970"/>
            <a:ext cx="1502410" cy="320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横扫</a:t>
            </a:r>
            <a:r>
              <a:rPr lang="en-US" altLang="zh-CN" sz="2400" b="1">
                <a:solidFill>
                  <a:schemeClr val="tx1"/>
                </a:solidFill>
                <a:latin typeface="微软雅黑" charset="0"/>
                <a:ea typeface="微软雅黑" charset="0"/>
              </a:rPr>
              <a:t>！</a:t>
            </a:r>
            <a:endParaRPr lang="en-US" altLang="zh-CN" sz="2400" b="1">
              <a:solidFill>
                <a:schemeClr val="tx1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4671695" y="5744845"/>
            <a:ext cx="1701800" cy="3079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pic>
        <p:nvPicPr>
          <p:cNvPr id="17" name="图片 16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2" y="6257037"/>
            <a:ext cx="1764416" cy="403833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291465" y="403225"/>
            <a:ext cx="2474595" cy="876300"/>
            <a:chOff x="2360" y="4651"/>
            <a:chExt cx="3897" cy="1380"/>
          </a:xfrm>
        </p:grpSpPr>
        <p:sp>
          <p:nvSpPr>
            <p:cNvPr id="14" name="文本框 13"/>
            <p:cNvSpPr txBox="1"/>
            <p:nvPr/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01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890" y="4721"/>
              <a:ext cx="2367" cy="661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研究背景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892" y="5382"/>
              <a:ext cx="2364" cy="398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Background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0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015" y="474980"/>
            <a:ext cx="6006465" cy="26987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945" y="3300730"/>
            <a:ext cx="8837295" cy="19646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945" y="1569720"/>
            <a:ext cx="10135235" cy="17468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71170" y="459740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latin typeface="微软雅黑" charset="0"/>
                <a:ea typeface="微软雅黑" charset="0"/>
              </a:rPr>
              <a:t>很多悲观论调➡️民调已死</a:t>
            </a:r>
            <a:r>
              <a:rPr lang="en-US" altLang="zh-CN" sz="2000" b="1">
                <a:latin typeface="微软雅黑" charset="0"/>
                <a:ea typeface="微软雅黑" charset="0"/>
              </a:rPr>
              <a:t>？</a:t>
            </a:r>
            <a:endParaRPr lang="en-US" altLang="zh-CN" sz="2000" b="1"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pic>
        <p:nvPicPr>
          <p:cNvPr id="17" name="图片 16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2" y="6257037"/>
            <a:ext cx="1764416" cy="4038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71170" y="1500505"/>
            <a:ext cx="3155950" cy="404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民调到底失不失准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？</a:t>
            </a:r>
            <a:endParaRPr lang="en-US" altLang="zh-CN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1170" y="293052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2.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什么影响民调的准确性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？</a:t>
            </a:r>
            <a:endParaRPr lang="en-US" altLang="zh-CN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1170" y="4416425"/>
            <a:ext cx="37223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3.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接二连三的打击之后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，</a:t>
            </a:r>
            <a:endParaRPr lang="en-US" altLang="zh-CN" sz="2000" b="1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   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民调如何改进优化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？</a:t>
            </a:r>
            <a:endParaRPr lang="en-US" altLang="zh-CN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91465" y="403225"/>
            <a:ext cx="2474595" cy="876300"/>
            <a:chOff x="2360" y="4651"/>
            <a:chExt cx="3897" cy="1380"/>
          </a:xfrm>
        </p:grpSpPr>
        <p:sp>
          <p:nvSpPr>
            <p:cNvPr id="14" name="文本框 13"/>
            <p:cNvSpPr txBox="1"/>
            <p:nvPr/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01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890" y="4721"/>
              <a:ext cx="2367" cy="661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研究背景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892" y="5382"/>
              <a:ext cx="2364" cy="398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Background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0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12" name="右箭头 11"/>
          <p:cNvSpPr/>
          <p:nvPr/>
        </p:nvSpPr>
        <p:spPr>
          <a:xfrm rot="5400000">
            <a:off x="2044065" y="2112010"/>
            <a:ext cx="830580" cy="61214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 rot="5400000">
            <a:off x="2044700" y="3500120"/>
            <a:ext cx="830580" cy="61214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318770"/>
            <a:ext cx="6856095" cy="57029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71170" y="563181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GAP：2016-2024</a:t>
            </a:r>
            <a:r>
              <a:rPr lang="zh-CN" altLang="en-US" sz="2000" b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跨周期的民调整合分析</a:t>
            </a:r>
            <a:endParaRPr lang="zh-CN" altLang="en-US" sz="2000" b="1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pic>
        <p:nvPicPr>
          <p:cNvPr id="17" name="图片 16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2" y="6241162"/>
            <a:ext cx="1764416" cy="403833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291465" y="295910"/>
            <a:ext cx="2534920" cy="876300"/>
            <a:chOff x="2360" y="4651"/>
            <a:chExt cx="3992" cy="1380"/>
          </a:xfrm>
        </p:grpSpPr>
        <p:sp>
          <p:nvSpPr>
            <p:cNvPr id="13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02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5"/>
              </p:custDataLst>
            </p:nvPr>
          </p:nvSpPr>
          <p:spPr>
            <a:xfrm>
              <a:off x="3890" y="4828"/>
              <a:ext cx="2205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文献回顾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6"/>
              </p:custDataLst>
            </p:nvPr>
          </p:nvSpPr>
          <p:spPr>
            <a:xfrm>
              <a:off x="3892" y="5382"/>
              <a:ext cx="2460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Literature Review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9" name="圆角矩形 103"/>
            <p:cNvSpPr/>
            <p:nvPr>
              <p:custDataLst>
                <p:tags r:id="rId7"/>
              </p:custDataLst>
            </p:nvPr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71170" y="512572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GAP</a:t>
            </a:r>
            <a:r>
              <a:rPr lang="zh-CN" altLang="en-US"/>
              <a:t>➡</a:t>
            </a:r>
            <a:r>
              <a:rPr lang="zh-CN" altLang="en-US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️三次大选民调失准模式是否呈现持续性趋势？</a:t>
            </a:r>
            <a:endParaRPr lang="zh-CN" altLang="en-US" sz="20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 sz="20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特朗普时代民调失准是否具有共性？</a:t>
            </a:r>
            <a:endParaRPr lang="zh-CN" altLang="en-US" sz="20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170" y="1486535"/>
            <a:ext cx="2355215" cy="25203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5295" y="1607185"/>
            <a:ext cx="6949440" cy="2098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pic>
        <p:nvPicPr>
          <p:cNvPr id="17" name="图片 16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2" y="6241162"/>
            <a:ext cx="1764416" cy="403833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291465" y="295910"/>
            <a:ext cx="2534920" cy="876300"/>
            <a:chOff x="2360" y="4651"/>
            <a:chExt cx="3992" cy="1380"/>
          </a:xfrm>
        </p:grpSpPr>
        <p:sp>
          <p:nvSpPr>
            <p:cNvPr id="13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02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5"/>
              </p:custDataLst>
            </p:nvPr>
          </p:nvSpPr>
          <p:spPr>
            <a:xfrm>
              <a:off x="3890" y="4828"/>
              <a:ext cx="2205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文献回顾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6"/>
              </p:custDataLst>
            </p:nvPr>
          </p:nvSpPr>
          <p:spPr>
            <a:xfrm>
              <a:off x="3892" y="5382"/>
              <a:ext cx="2460" cy="471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Literature Review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9" name="圆角矩形 103"/>
            <p:cNvSpPr/>
            <p:nvPr>
              <p:custDataLst>
                <p:tags r:id="rId7"/>
              </p:custDataLst>
            </p:nvPr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170" y="1059180"/>
            <a:ext cx="9989820" cy="50653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805" y="1887855"/>
            <a:ext cx="9862185" cy="37503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8780" y="1295400"/>
            <a:ext cx="10312400" cy="3263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80" y="949325"/>
            <a:ext cx="4979035" cy="28441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810" y="614680"/>
            <a:ext cx="5342255" cy="44329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80" y="997585"/>
            <a:ext cx="4953635" cy="3693795"/>
          </a:xfrm>
          <a:prstGeom prst="rect">
            <a:avLst/>
          </a:prstGeom>
        </p:spPr>
      </p:pic>
      <p:pic>
        <p:nvPicPr>
          <p:cNvPr id="17" name="图片 16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9037" y="262002"/>
            <a:ext cx="1764416" cy="403833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291465" y="233849"/>
            <a:ext cx="2999740" cy="830085"/>
            <a:chOff x="2360" y="4511"/>
            <a:chExt cx="4559" cy="1735"/>
          </a:xfrm>
        </p:grpSpPr>
        <p:sp>
          <p:nvSpPr>
            <p:cNvPr id="33" name="文本框 32"/>
            <p:cNvSpPr txBox="1"/>
            <p:nvPr/>
          </p:nvSpPr>
          <p:spPr>
            <a:xfrm>
              <a:off x="2360" y="4511"/>
              <a:ext cx="1532" cy="1735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03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890" y="4729"/>
              <a:ext cx="2283" cy="834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三次</a:t>
              </a:r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民调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3892" y="5382"/>
              <a:ext cx="3027" cy="625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Three Polls(2016-2024)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6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0078720" y="997585"/>
            <a:ext cx="1085850" cy="375920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559935" y="1288415"/>
            <a:ext cx="1007110" cy="213995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5180" y="4817745"/>
            <a:ext cx="88607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没有许多媒体所说的那样“不堪”</a:t>
            </a:r>
            <a:r>
              <a:rPr lang="en-US" altLang="zh-CN" sz="20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sz="2000" b="1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还是可以看的</a:t>
            </a:r>
            <a:endParaRPr lang="zh-CN" altLang="en-US" sz="2000" b="1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9780" y="5415915"/>
            <a:ext cx="74853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单一民调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：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例如纽约时报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锡耶纳学院、弗吉尼亚大学政治研究中心、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YouGov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等做的民调专栏；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集合民调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：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将单一民调汇总平均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加权，如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Real Clear Politics(RCP)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FiveThirtyEight(538)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和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270toWin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等</a:t>
            </a:r>
            <a:endParaRPr lang="en-US" altLang="zh-CN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pic>
        <p:nvPicPr>
          <p:cNvPr id="17" name="图片 16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2" y="6241162"/>
            <a:ext cx="1764416" cy="403833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291465" y="233849"/>
            <a:ext cx="2999740" cy="830085"/>
            <a:chOff x="2360" y="4511"/>
            <a:chExt cx="4559" cy="1735"/>
          </a:xfrm>
        </p:grpSpPr>
        <p:sp>
          <p:nvSpPr>
            <p:cNvPr id="33" name="文本框 32"/>
            <p:cNvSpPr txBox="1"/>
            <p:nvPr/>
          </p:nvSpPr>
          <p:spPr>
            <a:xfrm>
              <a:off x="2360" y="4511"/>
              <a:ext cx="1532" cy="1735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03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890" y="4729"/>
              <a:ext cx="2283" cy="834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三次</a:t>
              </a:r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民调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3892" y="5382"/>
              <a:ext cx="3027" cy="625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Three Polls(2016-2024)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6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pic>
        <p:nvPicPr>
          <p:cNvPr id="15" name="图片 15" descr="截屏2024-12-02 20.55.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65" y="737235"/>
            <a:ext cx="4530725" cy="61296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图片 4" descr="截屏2024-12-02 20.22.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1580" y="854075"/>
            <a:ext cx="5811520" cy="25749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矩形 6"/>
          <p:cNvSpPr/>
          <p:nvPr/>
        </p:nvSpPr>
        <p:spPr>
          <a:xfrm>
            <a:off x="8886825" y="949325"/>
            <a:ext cx="1007110" cy="213995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295265" y="3746500"/>
            <a:ext cx="49225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  <a:latin typeface="微软雅黑" charset="0"/>
                <a:ea typeface="微软雅黑" charset="0"/>
              </a:rPr>
              <a:t>误差得到很好控制</a:t>
            </a:r>
            <a:r>
              <a:rPr lang="en-US" altLang="zh-CN" sz="2000">
                <a:solidFill>
                  <a:srgbClr val="FF0000"/>
                </a:solidFill>
                <a:latin typeface="微软雅黑" charset="0"/>
                <a:ea typeface="微软雅黑" charset="0"/>
              </a:rPr>
              <a:t>，</a:t>
            </a:r>
            <a:r>
              <a:rPr lang="zh-CN" altLang="en-US" sz="2000">
                <a:solidFill>
                  <a:srgbClr val="FF0000"/>
                </a:solidFill>
                <a:latin typeface="微软雅黑" charset="0"/>
                <a:ea typeface="微软雅黑" charset="0"/>
              </a:rPr>
              <a:t>但偏差仍然很大</a:t>
            </a:r>
            <a:endParaRPr lang="zh-CN" altLang="en-US" sz="2000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00955" y="5042535"/>
            <a:ext cx="53111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charset="0"/>
                <a:ea typeface="微软雅黑" charset="0"/>
                <a:cs typeface="微软雅黑" charset="0"/>
                <a:sym typeface="+mn-ea"/>
              </a:rPr>
              <a:t>➡️</a:t>
            </a:r>
            <a:r>
              <a:rPr lang="zh-CN" altLang="en-US" b="1">
                <a:latin typeface="微软雅黑" charset="0"/>
                <a:ea typeface="微软雅黑" charset="0"/>
                <a:cs typeface="微软雅黑" charset="0"/>
                <a:sym typeface="+mn-ea"/>
              </a:rPr>
              <a:t>民主党候选人支持率的“虚高”</a:t>
            </a:r>
            <a:endParaRPr lang="zh-CN" altLang="en-US" b="1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r>
              <a:rPr lang="zh-CN" altLang="en-US" b="1">
                <a:latin typeface="微软雅黑" charset="0"/>
                <a:ea typeface="微软雅黑" charset="0"/>
                <a:cs typeface="微软雅黑" charset="0"/>
                <a:sym typeface="+mn-ea"/>
              </a:rPr>
              <a:t>➡️比如</a:t>
            </a:r>
            <a:r>
              <a:rPr lang="en-US" altLang="zh-CN" b="1"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 b="1">
                <a:latin typeface="微软雅黑" charset="0"/>
                <a:ea typeface="微软雅黑" charset="0"/>
                <a:cs typeface="微软雅黑" charset="0"/>
                <a:sym typeface="+mn-ea"/>
              </a:rPr>
              <a:t>民调高</a:t>
            </a:r>
            <a:r>
              <a:rPr lang="en-US" altLang="zh-CN" b="1">
                <a:latin typeface="微软雅黑" charset="0"/>
                <a:ea typeface="微软雅黑" charset="0"/>
                <a:cs typeface="微软雅黑" charset="0"/>
                <a:sym typeface="+mn-ea"/>
              </a:rPr>
              <a:t>2</a:t>
            </a:r>
            <a:r>
              <a:rPr lang="zh-CN" altLang="en-US" b="1">
                <a:latin typeface="微软雅黑" charset="0"/>
                <a:ea typeface="微软雅黑" charset="0"/>
                <a:cs typeface="微软雅黑" charset="0"/>
                <a:sym typeface="+mn-ea"/>
              </a:rPr>
              <a:t>个百分点</a:t>
            </a:r>
            <a:r>
              <a:rPr lang="en-US" altLang="zh-CN" b="1"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 b="1">
                <a:latin typeface="微软雅黑" charset="0"/>
                <a:ea typeface="微软雅黑" charset="0"/>
                <a:cs typeface="微软雅黑" charset="0"/>
                <a:sym typeface="+mn-ea"/>
              </a:rPr>
              <a:t>那实际支持率就几乎持平</a:t>
            </a:r>
            <a:r>
              <a:rPr lang="en-US" altLang="zh-CN" b="1">
                <a:latin typeface="微软雅黑" charset="0"/>
                <a:ea typeface="微软雅黑" charset="0"/>
                <a:cs typeface="微软雅黑" charset="0"/>
                <a:sym typeface="+mn-ea"/>
              </a:rPr>
              <a:t>；</a:t>
            </a:r>
            <a:r>
              <a:rPr lang="zh-CN" altLang="en-US" b="1">
                <a:latin typeface="微软雅黑" charset="0"/>
                <a:ea typeface="微软雅黑" charset="0"/>
                <a:cs typeface="微软雅黑" charset="0"/>
                <a:sym typeface="+mn-ea"/>
              </a:rPr>
              <a:t>如果民调都持平</a:t>
            </a:r>
            <a:r>
              <a:rPr lang="en-US" altLang="zh-CN" b="1"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 b="1">
                <a:latin typeface="微软雅黑" charset="0"/>
                <a:ea typeface="微软雅黑" charset="0"/>
                <a:cs typeface="微软雅黑" charset="0"/>
                <a:sym typeface="+mn-ea"/>
              </a:rPr>
              <a:t>那实际共和党的支持率可能会更高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6856730" y="4212590"/>
            <a:ext cx="454025" cy="7620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pic>
        <p:nvPicPr>
          <p:cNvPr id="17" name="图片 16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2" y="6241162"/>
            <a:ext cx="1764416" cy="403833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291465" y="233849"/>
            <a:ext cx="2999740" cy="830085"/>
            <a:chOff x="2360" y="4511"/>
            <a:chExt cx="4559" cy="1735"/>
          </a:xfrm>
        </p:grpSpPr>
        <p:sp>
          <p:nvSpPr>
            <p:cNvPr id="33" name="文本框 32"/>
            <p:cNvSpPr txBox="1"/>
            <p:nvPr/>
          </p:nvSpPr>
          <p:spPr>
            <a:xfrm>
              <a:off x="2360" y="4511"/>
              <a:ext cx="1532" cy="1735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03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890" y="4729"/>
              <a:ext cx="2283" cy="834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三次</a:t>
              </a:r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民调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3892" y="5382"/>
              <a:ext cx="3027" cy="625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Three Polls(2016-2024)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6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77520" y="1056640"/>
            <a:ext cx="7673340" cy="3596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/>
              <a:t>一些易混统计学概念的说明</a:t>
            </a:r>
            <a:r>
              <a:rPr lang="en-US" altLang="zh-CN" sz="2400" b="1"/>
              <a:t>：</a:t>
            </a:r>
            <a:endParaRPr lang="en-US" altLang="zh-CN" sz="2400" b="1"/>
          </a:p>
          <a:p>
            <a:r>
              <a:rPr lang="en-US" altLang="zh-CN"/>
              <a:t>1.</a:t>
            </a:r>
            <a:r>
              <a:rPr lang="zh-CN" altLang="en-US">
                <a:solidFill>
                  <a:srgbClr val="FF0000"/>
                </a:solidFill>
              </a:rPr>
              <a:t>统计偏差</a:t>
            </a:r>
            <a:r>
              <a:rPr lang="en-US" altLang="zh-CN">
                <a:solidFill>
                  <a:srgbClr val="FF0000"/>
                </a:solidFill>
              </a:rPr>
              <a:t>(bias)</a:t>
            </a:r>
            <a:r>
              <a:rPr lang="zh-CN" altLang="en-US">
                <a:solidFill>
                  <a:srgbClr val="FF0000"/>
                </a:solidFill>
              </a:rPr>
              <a:t>与统计误差</a:t>
            </a:r>
            <a:r>
              <a:rPr lang="en-US" altLang="zh-CN">
                <a:solidFill>
                  <a:srgbClr val="FF0000"/>
                </a:solidFill>
              </a:rPr>
              <a:t>(error)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/>
              <a:t>➡️偏差是一种系统性的误差。用一个横轴谱系来说明</a:t>
            </a:r>
            <a:endParaRPr lang="zh-CN" altLang="en-US"/>
          </a:p>
          <a:p>
            <a:r>
              <a:rPr lang="zh-CN" altLang="en-US"/>
              <a:t>➡在大选民调中</a:t>
            </a:r>
            <a:r>
              <a:rPr lang="en-US" altLang="zh-CN"/>
              <a:t>，</a:t>
            </a:r>
            <a:r>
              <a:rPr lang="zh-CN" altLang="en-US"/>
              <a:t>我们不只关心民调错了多少</a:t>
            </a:r>
            <a:r>
              <a:rPr lang="en-US" altLang="zh-CN"/>
              <a:t>，</a:t>
            </a:r>
            <a:r>
              <a:rPr lang="zh-CN" altLang="en-US"/>
              <a:t>还关心民调错的方向是否有迹可循，是否具有系统特征</a:t>
            </a:r>
            <a:endParaRPr lang="en-US" altLang="zh-CN"/>
          </a:p>
          <a:p>
            <a:r>
              <a:rPr lang="zh-CN" altLang="en-US"/>
              <a:t>➡️系统性高估民主党候选人</a:t>
            </a:r>
            <a:r>
              <a:rPr lang="en-US" altLang="zh-CN"/>
              <a:t>、</a:t>
            </a:r>
            <a:r>
              <a:rPr lang="zh-CN" altLang="en-US"/>
              <a:t>低估共和党候选人的</a:t>
            </a:r>
            <a:r>
              <a:rPr lang="zh-CN" altLang="en-US"/>
              <a:t>偏差️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20" y="3201035"/>
            <a:ext cx="6162675" cy="2247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pic>
        <p:nvPicPr>
          <p:cNvPr id="17" name="图片 16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2" y="6241162"/>
            <a:ext cx="1764416" cy="40383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77520" y="974090"/>
            <a:ext cx="10074275" cy="43046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ym typeface="+mn-ea"/>
              </a:rPr>
              <a:t>2.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抽样偏差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(sampling bias)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与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无响应偏差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(nonresponse bias)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➡️都会导致代表性不足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产生统计偏差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➡️抽样偏差发生在抽样阶段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属于样本设计问题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可以通过多维度加权</a:t>
            </a:r>
            <a:r>
              <a:rPr lang="en-US" altLang="zh-CN">
                <a:sym typeface="+mn-ea"/>
              </a:rPr>
              <a:t>（</a:t>
            </a:r>
            <a:r>
              <a:rPr lang="zh-CN" altLang="en-US">
                <a:sym typeface="+mn-ea"/>
              </a:rPr>
              <a:t>比如教育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党派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宗教等维度</a:t>
            </a:r>
            <a:r>
              <a:rPr lang="en-US" altLang="zh-CN">
                <a:sym typeface="+mn-ea"/>
              </a:rPr>
              <a:t>）</a:t>
            </a:r>
            <a:r>
              <a:rPr lang="zh-CN" altLang="en-US">
                <a:sym typeface="+mn-ea"/>
              </a:rPr>
              <a:t>来进行纠偏</a:t>
            </a:r>
            <a:r>
              <a:rPr lang="en-US" altLang="zh-CN">
                <a:sym typeface="+mn-ea"/>
              </a:rPr>
              <a:t>；</a:t>
            </a:r>
            <a:r>
              <a:rPr lang="zh-CN" altLang="en-US">
                <a:sym typeface="+mn-ea"/>
              </a:rPr>
              <a:t>无响应偏差发生在数据收集阶段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属于选民行为问题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即某一批选民群体系统性地</a:t>
            </a:r>
            <a:r>
              <a:rPr lang="zh-CN" altLang="en-US">
                <a:sym typeface="+mn-ea"/>
              </a:rPr>
              <a:t>不进行回应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3.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无响应偏差与害羞的特朗普选民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➡️害羞特朗普选民假说认为特朗普的选民在接受采访时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出于社会压力</a:t>
            </a:r>
            <a:r>
              <a:rPr lang="en-US" altLang="zh-CN">
                <a:sym typeface="+mn-ea"/>
              </a:rPr>
              <a:t>（</a:t>
            </a:r>
            <a:r>
              <a:rPr lang="zh-CN" altLang="en-US">
                <a:sym typeface="+mn-ea"/>
              </a:rPr>
              <a:t>社会期望的偏差</a:t>
            </a:r>
            <a:r>
              <a:rPr lang="en-US" altLang="zh-CN">
                <a:sym typeface="+mn-ea"/>
              </a:rPr>
              <a:t>），</a:t>
            </a:r>
            <a:r>
              <a:rPr lang="zh-CN" altLang="en-US">
                <a:sym typeface="+mn-ea"/>
              </a:rPr>
              <a:t>不愿表露自己对于特朗普的支持</a:t>
            </a:r>
            <a:r>
              <a:rPr lang="en-US" altLang="zh-CN">
                <a:sym typeface="+mn-ea"/>
              </a:rPr>
              <a:t>(</a:t>
            </a:r>
            <a:r>
              <a:rPr lang="en-US" altLang="zh-CN">
                <a:sym typeface="+mn-ea"/>
              </a:rPr>
              <a:t>Enns et al., 2017; </a:t>
            </a:r>
            <a:r>
              <a:rPr lang="zh-CN" altLang="en-US">
                <a:sym typeface="+mn-ea"/>
              </a:rPr>
              <a:t>王中原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吴纪远</a:t>
            </a:r>
            <a:r>
              <a:rPr lang="en-US" altLang="zh-CN">
                <a:sym typeface="+mn-ea"/>
              </a:rPr>
              <a:t>，2020)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➡️</a:t>
            </a:r>
            <a:r>
              <a:rPr lang="en-US" altLang="zh-CN">
                <a:sym typeface="+mn-ea"/>
              </a:rPr>
              <a:t>Nederhof</a:t>
            </a:r>
            <a:r>
              <a:rPr lang="zh-CN" altLang="en-US">
                <a:sym typeface="+mn-ea"/>
              </a:rPr>
              <a:t>的综述研究揭示出了社会期望对于民意调查准确性的影响</a:t>
            </a:r>
            <a:r>
              <a:rPr lang="en-US" altLang="zh-CN">
                <a:sym typeface="+mn-ea"/>
              </a:rPr>
              <a:t>(Nederhof, 1985)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➡️与无响应偏差的情况不同</a:t>
            </a:r>
            <a:r>
              <a:rPr lang="en-US" altLang="zh-CN">
                <a:sym typeface="+mn-ea"/>
              </a:rPr>
              <a:t>：</a:t>
            </a:r>
            <a:r>
              <a:rPr lang="zh-CN" altLang="en-US">
                <a:sym typeface="+mn-ea"/>
              </a:rPr>
              <a:t>一个是</a:t>
            </a:r>
            <a:r>
              <a:rPr lang="zh-CN" altLang="en-US">
                <a:sym typeface="+mn-ea"/>
              </a:rPr>
              <a:t>压根不回应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一个是</a:t>
            </a:r>
            <a:r>
              <a:rPr lang="zh-CN" altLang="en-US">
                <a:sym typeface="+mn-ea"/>
              </a:rPr>
              <a:t>不诚实回应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➡️但害羞特朗普选民假说争议很大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许多研究结果不支持这个假设</a:t>
            </a:r>
            <a:r>
              <a:rPr lang="en-US" altLang="zh-CN">
                <a:sym typeface="+mn-ea"/>
              </a:rPr>
              <a:t>（</a:t>
            </a:r>
            <a:r>
              <a:rPr lang="en-US" altLang="zh-CN">
                <a:sym typeface="+mn-ea"/>
              </a:rPr>
              <a:t>AAPOR,  2017 &amp; 2021; Prosser and Mellon, 2018）</a:t>
            </a:r>
            <a:endParaRPr lang="en-US" altLang="zh-CN">
              <a:sym typeface="+mn-ea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91465" y="233849"/>
            <a:ext cx="2999740" cy="830085"/>
            <a:chOff x="2360" y="4511"/>
            <a:chExt cx="4559" cy="1735"/>
          </a:xfrm>
        </p:grpSpPr>
        <p:sp>
          <p:nvSpPr>
            <p:cNvPr id="33" name="文本框 32"/>
            <p:cNvSpPr txBox="1"/>
            <p:nvPr/>
          </p:nvSpPr>
          <p:spPr>
            <a:xfrm>
              <a:off x="2360" y="4511"/>
              <a:ext cx="1532" cy="1735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03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890" y="4729"/>
              <a:ext cx="2283" cy="834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三次</a:t>
              </a:r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民调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3892" y="5382"/>
              <a:ext cx="3027" cy="625"/>
            </a:xfrm>
            <a:prstGeom prst="rect">
              <a:avLst/>
            </a:prstGeom>
          </p:spPr>
          <p:txBody>
            <a:bodyPr wrap="square" anchor="t" anchorCtr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Three Polls(2016-2024)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6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477520" y="5529580"/>
            <a:ext cx="91992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latin typeface="微软雅黑" charset="0"/>
                <a:ea typeface="微软雅黑" charset="0"/>
              </a:rPr>
              <a:t>理解三次民调误差的本质就是回答特朗普为何被系统性低估。</a:t>
            </a:r>
            <a:endParaRPr lang="zh-CN" altLang="en-US" sz="2400" b="1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pic>
        <p:nvPicPr>
          <p:cNvPr id="17" name="图片 16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2" y="6241162"/>
            <a:ext cx="1764416" cy="40383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35" y="1219835"/>
            <a:ext cx="8738235" cy="4162425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291465" y="288925"/>
            <a:ext cx="2538730" cy="876300"/>
            <a:chOff x="2360" y="4651"/>
            <a:chExt cx="3998" cy="1380"/>
          </a:xfrm>
        </p:grpSpPr>
        <p:sp>
          <p:nvSpPr>
            <p:cNvPr id="38" name="文本框 37"/>
            <p:cNvSpPr txBox="1"/>
            <p:nvPr/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04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3890" y="4829"/>
              <a:ext cx="2368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三重张力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3892" y="5382"/>
              <a:ext cx="2466" cy="472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Triple Tension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1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pic>
        <p:nvPicPr>
          <p:cNvPr id="17" name="图片 16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2" y="6241162"/>
            <a:ext cx="1764416" cy="403833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291465" y="288925"/>
            <a:ext cx="2538730" cy="876300"/>
            <a:chOff x="2360" y="4651"/>
            <a:chExt cx="3998" cy="1380"/>
          </a:xfrm>
        </p:grpSpPr>
        <p:sp>
          <p:nvSpPr>
            <p:cNvPr id="38" name="文本框 37"/>
            <p:cNvSpPr txBox="1"/>
            <p:nvPr/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04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3890" y="4829"/>
              <a:ext cx="2368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三重张力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3892" y="5382"/>
              <a:ext cx="2466" cy="472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Triple Tension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1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" y="1165225"/>
            <a:ext cx="4402455" cy="12103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5060" y="401955"/>
            <a:ext cx="3756660" cy="54159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1995" y="401955"/>
            <a:ext cx="4897755" cy="51530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1465" y="47567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  <a:latin typeface="微软雅黑" charset="0"/>
                <a:ea typeface="微软雅黑" charset="0"/>
              </a:rPr>
              <a:t>为什么在欧洲</a:t>
            </a:r>
            <a:r>
              <a:rPr lang="en-US" altLang="zh-CN" b="1">
                <a:solidFill>
                  <a:srgbClr val="FF0000"/>
                </a:solidFill>
                <a:latin typeface="微软雅黑" charset="0"/>
                <a:ea typeface="微软雅黑" charset="0"/>
              </a:rPr>
              <a:t>，</a:t>
            </a:r>
            <a:r>
              <a:rPr lang="zh-CN" altLang="en-US" b="1">
                <a:solidFill>
                  <a:srgbClr val="FF0000"/>
                </a:solidFill>
                <a:latin typeface="微软雅黑" charset="0"/>
                <a:ea typeface="微软雅黑" charset="0"/>
              </a:rPr>
              <a:t>民粹政党候选人的民调数据反而容易被高估</a:t>
            </a:r>
            <a:r>
              <a:rPr lang="en-US" altLang="zh-CN" b="1">
                <a:solidFill>
                  <a:srgbClr val="FF0000"/>
                </a:solidFill>
                <a:latin typeface="微软雅黑" charset="0"/>
                <a:ea typeface="微软雅黑" charset="0"/>
              </a:rPr>
              <a:t>，</a:t>
            </a:r>
            <a:r>
              <a:rPr lang="zh-CN" altLang="en-US" b="1">
                <a:solidFill>
                  <a:srgbClr val="FF0000"/>
                </a:solidFill>
                <a:latin typeface="微软雅黑" charset="0"/>
                <a:ea typeface="微软雅黑" charset="0"/>
              </a:rPr>
              <a:t>而其竞争者容易被低估</a:t>
            </a:r>
            <a:r>
              <a:rPr lang="en-US" altLang="zh-CN" b="1">
                <a:solidFill>
                  <a:srgbClr val="FF0000"/>
                </a:solidFill>
                <a:latin typeface="微软雅黑" charset="0"/>
                <a:ea typeface="微软雅黑" charset="0"/>
              </a:rPr>
              <a:t>？</a:t>
            </a:r>
            <a:endParaRPr lang="en-US" altLang="zh-CN" b="1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1995" y="2375535"/>
            <a:ext cx="3157220" cy="16998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3065" y="753110"/>
            <a:ext cx="6496685" cy="371094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932430" y="430530"/>
            <a:ext cx="13423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rgbClr val="FF0000"/>
                </a:solidFill>
                <a:latin typeface="微软雅黑" charset="0"/>
                <a:ea typeface="微软雅黑" charset="0"/>
              </a:rPr>
              <a:t>*</a:t>
            </a:r>
            <a:r>
              <a:rPr lang="zh-CN" altLang="en-US" sz="2000" b="1">
                <a:solidFill>
                  <a:srgbClr val="FF0000"/>
                </a:solidFill>
                <a:latin typeface="微软雅黑" charset="0"/>
                <a:ea typeface="微软雅黑" charset="0"/>
              </a:rPr>
              <a:t>一个延伸</a:t>
            </a:r>
            <a:endParaRPr lang="zh-CN" altLang="en-US" sz="2000" b="1">
              <a:solidFill>
                <a:srgbClr val="FF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35415" y="1710690"/>
            <a:ext cx="1664335" cy="2139950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91465" y="260667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蓝领工人阶级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；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乡村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小城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；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教育程度低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对精英的敌意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；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民族主义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本土身份文化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......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➡️选民画像的高度相似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下箭头 17"/>
          <p:cNvSpPr/>
          <p:nvPr/>
        </p:nvSpPr>
        <p:spPr>
          <a:xfrm>
            <a:off x="2056130" y="3689350"/>
            <a:ext cx="453390" cy="90741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pic>
        <p:nvPicPr>
          <p:cNvPr id="17" name="图片 16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2" y="6241162"/>
            <a:ext cx="1764416" cy="40383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970" y="288925"/>
            <a:ext cx="5550535" cy="61550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组合 36"/>
          <p:cNvGrpSpPr/>
          <p:nvPr/>
        </p:nvGrpSpPr>
        <p:grpSpPr>
          <a:xfrm>
            <a:off x="291465" y="288925"/>
            <a:ext cx="2538730" cy="876300"/>
            <a:chOff x="2360" y="4651"/>
            <a:chExt cx="3998" cy="1380"/>
          </a:xfrm>
        </p:grpSpPr>
        <p:sp>
          <p:nvSpPr>
            <p:cNvPr id="38" name="文本框 37"/>
            <p:cNvSpPr txBox="1"/>
            <p:nvPr/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04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3890" y="4829"/>
              <a:ext cx="2368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三重张力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3892" y="5382"/>
              <a:ext cx="2466" cy="472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Triple Tension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41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465" y="1165225"/>
            <a:ext cx="5414645" cy="11620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71170" y="2691765"/>
            <a:ext cx="5117465" cy="629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众多单一民调的实施机构</a:t>
            </a:r>
            <a:r>
              <a:rPr lang="en-US" altLang="zh-CN"/>
              <a:t>，</a:t>
            </a:r>
            <a:r>
              <a:rPr lang="zh-CN" altLang="en-US"/>
              <a:t>如</a:t>
            </a:r>
            <a:r>
              <a:rPr lang="en-US" altLang="zh-CN"/>
              <a:t>ABC, NBC, NY Times, Yahoo，</a:t>
            </a:r>
            <a:r>
              <a:rPr lang="zh-CN" altLang="en-US"/>
              <a:t>都有很强的</a:t>
            </a:r>
            <a:r>
              <a:rPr lang="zh-CN" altLang="en-US"/>
              <a:t>亲民主党底色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083300" y="924560"/>
            <a:ext cx="2028825" cy="4714875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9265" y="3429000"/>
            <a:ext cx="4690110" cy="1295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新闻媒体报道的“选举叙事”</a:t>
            </a:r>
            <a:r>
              <a:rPr lang="en-US" altLang="zh-CN"/>
              <a:t>：</a:t>
            </a:r>
            <a:r>
              <a:rPr lang="zh-CN" altLang="en-US"/>
              <a:t>如</a:t>
            </a:r>
            <a:r>
              <a:rPr lang="en-US" altLang="zh-CN"/>
              <a:t>NY Times, Wall Street Journal, The Washington Post</a:t>
            </a:r>
            <a:r>
              <a:rPr lang="zh-CN" altLang="en-US"/>
              <a:t>等主流媒体</a:t>
            </a:r>
            <a:r>
              <a:rPr lang="en-US" altLang="zh-CN"/>
              <a:t>，</a:t>
            </a:r>
            <a:r>
              <a:rPr lang="zh-CN" altLang="en-US"/>
              <a:t>基本都是对特朗普的“负面</a:t>
            </a:r>
            <a:r>
              <a:rPr lang="zh-CN" altLang="en-US"/>
              <a:t>报道”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69265" y="4740910"/>
            <a:ext cx="4549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选举人团</a:t>
            </a:r>
            <a:r>
              <a:rPr lang="zh-CN" altLang="en-US"/>
              <a:t>制度的存在意味着即使赢得普选票</a:t>
            </a:r>
            <a:r>
              <a:rPr lang="en-US" altLang="zh-CN"/>
              <a:t>，</a:t>
            </a:r>
            <a:r>
              <a:rPr lang="zh-CN" altLang="en-US"/>
              <a:t>也可能会在选举人票上</a:t>
            </a:r>
            <a:r>
              <a:rPr lang="zh-CN" altLang="en-US"/>
              <a:t>被横扫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pic>
        <p:nvPicPr>
          <p:cNvPr id="17" name="图片 16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2" y="6241162"/>
            <a:ext cx="1764416" cy="403833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291465" y="195580"/>
            <a:ext cx="2538730" cy="876300"/>
            <a:chOff x="2360" y="4651"/>
            <a:chExt cx="3998" cy="1380"/>
          </a:xfrm>
        </p:grpSpPr>
        <p:sp>
          <p:nvSpPr>
            <p:cNvPr id="9" name="文本框 8"/>
            <p:cNvSpPr txBox="1"/>
            <p:nvPr/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05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890" y="4831"/>
              <a:ext cx="2060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改进优化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3892" y="5382"/>
              <a:ext cx="2466" cy="472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Improvements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4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1170" y="107188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1.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多维度加权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4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930" y="1458595"/>
            <a:ext cx="5552440" cy="45650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6297930" y="109029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2.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调查方法多元化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465" y="1552575"/>
            <a:ext cx="5638800" cy="26981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8" name="矩形 7"/>
          <p:cNvSpPr/>
          <p:nvPr/>
        </p:nvSpPr>
        <p:spPr>
          <a:xfrm>
            <a:off x="2056130" y="1604645"/>
            <a:ext cx="1964690" cy="1924685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91465" y="44253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2016</a:t>
            </a:r>
            <a:r>
              <a:rPr lang="zh-CN" altLang="en-US" b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年时</a:t>
            </a:r>
            <a:r>
              <a:rPr lang="en-US" altLang="zh-CN" b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 b="1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很少州级民调做教育加权</a:t>
            </a:r>
            <a:endParaRPr lang="zh-CN" altLang="en-US" b="1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2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20" y="1503680"/>
            <a:ext cx="6125210" cy="36798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28" descr="C:/Users/Administrator/AppData/Local/Temp/picturecompress_20220520140653/output_6.pngoutput_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035422" y="5047831"/>
            <a:ext cx="3156578" cy="1810169"/>
          </a:xfrm>
          <a:prstGeom prst="rect">
            <a:avLst/>
          </a:prstGeom>
        </p:spPr>
      </p:pic>
      <p:pic>
        <p:nvPicPr>
          <p:cNvPr id="17" name="图片 16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2" y="6241162"/>
            <a:ext cx="1764416" cy="403833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291465" y="197485"/>
            <a:ext cx="2084705" cy="876300"/>
            <a:chOff x="2360" y="4651"/>
            <a:chExt cx="3283" cy="1380"/>
          </a:xfrm>
        </p:grpSpPr>
        <p:sp>
          <p:nvSpPr>
            <p:cNvPr id="26" name="文本框 25"/>
            <p:cNvSpPr txBox="1"/>
            <p:nvPr/>
          </p:nvSpPr>
          <p:spPr>
            <a:xfrm>
              <a:off x="2360" y="4724"/>
              <a:ext cx="1532" cy="1307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sz="4800" dirty="0">
                  <a:solidFill>
                    <a:schemeClr val="tx1"/>
                  </a:solidFill>
                  <a:latin typeface="微软雅黑" charset="-122"/>
                  <a:ea typeface="微软雅黑" charset="-122"/>
                </a:rPr>
                <a:t>06</a:t>
              </a:r>
              <a:endParaRPr lang="en-US" altLang="zh-CN" sz="4800" dirty="0">
                <a:solidFill>
                  <a:schemeClr val="tx1"/>
                </a:solidFill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890" y="4829"/>
              <a:ext cx="1648" cy="628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spAutoFit/>
            </a:bodyPr>
            <a:lstStyle>
              <a:defPPr>
                <a:defRPr lang="zh-CN"/>
              </a:defPPr>
              <a:lvl1pPr algn="ctr" defTabSz="914400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dist"/>
              <a:r>
                <a:rPr lang="zh-CN" altLang="en-US" sz="2000" b="1" dirty="0">
                  <a:latin typeface="微软雅黑" charset="-122"/>
                  <a:ea typeface="微软雅黑" charset="-122"/>
                </a:rPr>
                <a:t>结语</a:t>
              </a:r>
              <a:endParaRPr lang="zh-CN" altLang="en-US" sz="2000" b="1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3892" y="5382"/>
              <a:ext cx="1751" cy="397"/>
            </a:xfrm>
            <a:prstGeom prst="rect">
              <a:avLst/>
            </a:prstGeom>
          </p:spPr>
          <p:txBody>
            <a:bodyPr wrap="square" anchor="t" anchorCtr="0">
              <a:no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900" dirty="0">
                  <a:latin typeface="微软雅黑" charset="-122"/>
                  <a:ea typeface="微软雅黑" charset="-122"/>
                </a:rPr>
                <a:t>Conclusion</a:t>
              </a:r>
              <a:endParaRPr lang="en-US" altLang="zh-CN" sz="900" dirty="0">
                <a:latin typeface="微软雅黑" charset="-122"/>
                <a:ea typeface="微软雅黑" charset="-122"/>
              </a:endParaRPr>
            </a:p>
          </p:txBody>
        </p:sp>
        <p:sp>
          <p:nvSpPr>
            <p:cNvPr id="32" name="圆角矩形 103"/>
            <p:cNvSpPr/>
            <p:nvPr/>
          </p:nvSpPr>
          <p:spPr>
            <a:xfrm>
              <a:off x="2643" y="4651"/>
              <a:ext cx="965" cy="11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rgbClr val="0070C0">
                  <a:alpha val="1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400" b="1">
                <a:solidFill>
                  <a:schemeClr val="bg1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11530" y="3373120"/>
            <a:ext cx="7433945" cy="2386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a.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民调可以进行技术纠偏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但主要反映支持率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而不能进行“胜负判断”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b.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特朗普的民粹选民群体对民调机构与媒体（建制派精英）的不信任感使其有很强的拒访倾向</a:t>
            </a:r>
            <a:r>
              <a:rPr lang="en-US" altLang="zh-CN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（*</a:t>
            </a:r>
            <a:r>
              <a:rPr lang="zh-CN" altLang="en-US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与欧洲民粹主义选民的比较研究</a:t>
            </a:r>
            <a:r>
              <a:rPr lang="en-US" altLang="zh-CN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）</a:t>
            </a:r>
            <a:endParaRPr lang="zh-CN" altLang="en-US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en-US" altLang="zh-CN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c.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既然民调无法彻底消除对共和党候选人的系统性偏见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  <a:sym typeface="+mn-ea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  <a:sym typeface="+mn-ea"/>
              </a:rPr>
              <a:t>那在看民调数据时就要注意民主党候选人支持率的“虚高”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1170" y="1204595"/>
            <a:ext cx="6899275" cy="760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1.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全国民调仍然较为准确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但州级民调的准确性仍然有提升空间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1170" y="1718310"/>
            <a:ext cx="7045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2.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统计技术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选民行为以及制度环境是影响民调准确性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（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尤其是偏差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）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的三重张力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且克服难度逐渐增加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1170" y="2545715"/>
            <a:ext cx="7045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3.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民调在过去的三个周期中通过多维度加权以及调查方法多元化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不断缩小误差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7300" y="987425"/>
            <a:ext cx="2365375" cy="2385695"/>
          </a:xfrm>
          <a:prstGeom prst="rect">
            <a:avLst/>
          </a:prstGeom>
        </p:spPr>
      </p:pic>
      <p:sp>
        <p:nvSpPr>
          <p:cNvPr id="18" name="左箭头 17"/>
          <p:cNvSpPr/>
          <p:nvPr/>
        </p:nvSpPr>
        <p:spPr>
          <a:xfrm>
            <a:off x="7829550" y="1530985"/>
            <a:ext cx="859155" cy="599440"/>
          </a:xfrm>
          <a:prstGeom prst="lef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: 形状 20"/>
          <p:cNvSpPr/>
          <p:nvPr/>
        </p:nvSpPr>
        <p:spPr>
          <a:xfrm>
            <a:off x="0" y="0"/>
            <a:ext cx="3667592" cy="3429000"/>
          </a:xfrm>
          <a:custGeom>
            <a:avLst/>
            <a:gdLst>
              <a:gd name="connsiteX0" fmla="*/ 0 w 3667592"/>
              <a:gd name="connsiteY0" fmla="*/ 0 h 3429000"/>
              <a:gd name="connsiteX1" fmla="*/ 3559647 w 3667592"/>
              <a:gd name="connsiteY1" fmla="*/ 0 h 3429000"/>
              <a:gd name="connsiteX2" fmla="*/ 3613129 w 3667592"/>
              <a:gd name="connsiteY2" fmla="*/ 207996 h 3429000"/>
              <a:gd name="connsiteX3" fmla="*/ 3667592 w 3667592"/>
              <a:gd name="connsiteY3" fmla="*/ 748259 h 3429000"/>
              <a:gd name="connsiteX4" fmla="*/ 986851 w 3667592"/>
              <a:gd name="connsiteY4" fmla="*/ 3429000 h 3429000"/>
              <a:gd name="connsiteX5" fmla="*/ 189681 w 3667592"/>
              <a:gd name="connsiteY5" fmla="*/ 3308479 h 3429000"/>
              <a:gd name="connsiteX6" fmla="*/ 0 w 3667592"/>
              <a:gd name="connsiteY6" fmla="*/ 3239055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7592" h="3429000">
                <a:moveTo>
                  <a:pt x="0" y="0"/>
                </a:moveTo>
                <a:lnTo>
                  <a:pt x="3559647" y="0"/>
                </a:lnTo>
                <a:lnTo>
                  <a:pt x="3613129" y="207996"/>
                </a:lnTo>
                <a:cubicBezTo>
                  <a:pt x="3648839" y="382506"/>
                  <a:pt x="3667592" y="563193"/>
                  <a:pt x="3667592" y="748259"/>
                </a:cubicBezTo>
                <a:cubicBezTo>
                  <a:pt x="3667592" y="2228791"/>
                  <a:pt x="2467383" y="3429000"/>
                  <a:pt x="986851" y="3429000"/>
                </a:cubicBezTo>
                <a:cubicBezTo>
                  <a:pt x="709251" y="3429000"/>
                  <a:pt x="441507" y="3386805"/>
                  <a:pt x="189681" y="3308479"/>
                </a:cubicBezTo>
                <a:lnTo>
                  <a:pt x="0" y="323905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153728" y="3565188"/>
            <a:ext cx="2117324" cy="21173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469833" y="5439322"/>
            <a:ext cx="243190" cy="243190"/>
          </a:xfrm>
          <a:prstGeom prst="ellipse">
            <a:avLst/>
          </a:prstGeom>
          <a:gradFill>
            <a:gsLst>
              <a:gs pos="0">
                <a:srgbClr val="002060"/>
              </a:gs>
              <a:gs pos="100000">
                <a:srgbClr val="0070C0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ïṩľiḋe"/>
          <p:cNvSpPr txBox="1"/>
          <p:nvPr/>
        </p:nvSpPr>
        <p:spPr>
          <a:xfrm>
            <a:off x="1619250" y="2368550"/>
            <a:ext cx="8953500" cy="119634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GB" sz="6000" b="1" dirty="0">
                <a:solidFill>
                  <a:srgbClr val="080808"/>
                </a:solidFill>
                <a:latin typeface="微软雅黑" charset="-122"/>
                <a:ea typeface="微软雅黑" charset="-122"/>
                <a:sym typeface="思源黑体 CN Regular" panose="020B0500000000000000" pitchFamily="34" charset="-122"/>
              </a:rPr>
              <a:t>感</a:t>
            </a:r>
            <a:r>
              <a:rPr lang="en-US" altLang="zh-CN" sz="6000" b="1" dirty="0">
                <a:solidFill>
                  <a:srgbClr val="080808"/>
                </a:solidFill>
                <a:latin typeface="微软雅黑" charset="-122"/>
                <a:ea typeface="微软雅黑" charset="-122"/>
                <a:sym typeface="思源黑体 CN Regular" panose="020B0500000000000000" pitchFamily="34" charset="-122"/>
              </a:rPr>
              <a:t> </a:t>
            </a:r>
            <a:r>
              <a:rPr lang="zh-CN" altLang="en-GB" sz="6000" b="1" dirty="0">
                <a:solidFill>
                  <a:srgbClr val="080808"/>
                </a:solidFill>
                <a:latin typeface="微软雅黑" charset="-122"/>
                <a:ea typeface="微软雅黑" charset="-122"/>
                <a:sym typeface="思源黑体 CN Regular" panose="020B0500000000000000" pitchFamily="34" charset="-122"/>
              </a:rPr>
              <a:t>谢</a:t>
            </a:r>
            <a:r>
              <a:rPr lang="en-US" altLang="zh-CN" sz="6000" b="1" dirty="0">
                <a:solidFill>
                  <a:srgbClr val="080808"/>
                </a:solidFill>
                <a:latin typeface="微软雅黑" charset="-122"/>
                <a:ea typeface="微软雅黑" charset="-122"/>
                <a:sym typeface="思源黑体 CN Regular" panose="020B0500000000000000" pitchFamily="34" charset="-122"/>
              </a:rPr>
              <a:t> </a:t>
            </a:r>
            <a:r>
              <a:rPr lang="zh-CN" altLang="en-GB" sz="6000" b="1" dirty="0">
                <a:solidFill>
                  <a:srgbClr val="080808"/>
                </a:solidFill>
                <a:latin typeface="微软雅黑" charset="-122"/>
                <a:ea typeface="微软雅黑" charset="-122"/>
                <a:sym typeface="思源黑体 CN Regular" panose="020B0500000000000000" pitchFamily="34" charset="-122"/>
              </a:rPr>
              <a:t>聆</a:t>
            </a:r>
            <a:r>
              <a:rPr lang="en-US" altLang="zh-CN" sz="6000" b="1" dirty="0">
                <a:solidFill>
                  <a:srgbClr val="080808"/>
                </a:solidFill>
                <a:latin typeface="微软雅黑" charset="-122"/>
                <a:ea typeface="微软雅黑" charset="-122"/>
                <a:sym typeface="思源黑体 CN Regular" panose="020B0500000000000000" pitchFamily="34" charset="-122"/>
              </a:rPr>
              <a:t> </a:t>
            </a:r>
            <a:r>
              <a:rPr lang="zh-CN" altLang="en-GB" sz="6000" b="1" dirty="0">
                <a:solidFill>
                  <a:srgbClr val="080808"/>
                </a:solidFill>
                <a:latin typeface="微软雅黑" charset="-122"/>
                <a:ea typeface="微软雅黑" charset="-122"/>
                <a:sym typeface="思源黑体 CN Regular" panose="020B0500000000000000" pitchFamily="34" charset="-122"/>
              </a:rPr>
              <a:t>听</a:t>
            </a:r>
            <a:r>
              <a:rPr lang="en-US" altLang="zh-CN" sz="6000" b="1" dirty="0">
                <a:solidFill>
                  <a:srgbClr val="080808"/>
                </a:solidFill>
                <a:latin typeface="微软雅黑" charset="-122"/>
                <a:ea typeface="微软雅黑" charset="-122"/>
                <a:sym typeface="思源黑体 CN Regular" panose="020B0500000000000000" pitchFamily="34" charset="-122"/>
              </a:rPr>
              <a:t> </a:t>
            </a:r>
            <a:r>
              <a:rPr lang="zh-CN" altLang="en-US" sz="6000" b="1" dirty="0">
                <a:solidFill>
                  <a:srgbClr val="080808"/>
                </a:solidFill>
                <a:latin typeface="微软雅黑" charset="-122"/>
                <a:ea typeface="微软雅黑" charset="-122"/>
                <a:sym typeface="思源黑体 CN Regular" panose="020B0500000000000000" pitchFamily="34" charset="-122"/>
              </a:rPr>
              <a:t>，敬</a:t>
            </a:r>
            <a:r>
              <a:rPr lang="en-US" altLang="zh-CN" sz="6000" b="1" dirty="0">
                <a:solidFill>
                  <a:srgbClr val="080808"/>
                </a:solidFill>
                <a:latin typeface="微软雅黑" charset="-122"/>
                <a:ea typeface="微软雅黑" charset="-122"/>
                <a:sym typeface="思源黑体 CN Regular" panose="020B0500000000000000" pitchFamily="34" charset="-122"/>
              </a:rPr>
              <a:t> </a:t>
            </a:r>
            <a:r>
              <a:rPr lang="zh-CN" altLang="en-US" sz="6000" b="1" dirty="0">
                <a:solidFill>
                  <a:srgbClr val="080808"/>
                </a:solidFill>
                <a:latin typeface="微软雅黑" charset="-122"/>
                <a:ea typeface="微软雅黑" charset="-122"/>
                <a:sym typeface="思源黑体 CN Regular" panose="020B0500000000000000" pitchFamily="34" charset="-122"/>
              </a:rPr>
              <a:t>请</a:t>
            </a:r>
            <a:r>
              <a:rPr lang="en-US" altLang="zh-CN" sz="6000" b="1" dirty="0">
                <a:solidFill>
                  <a:srgbClr val="080808"/>
                </a:solidFill>
                <a:latin typeface="微软雅黑" charset="-122"/>
                <a:ea typeface="微软雅黑" charset="-122"/>
                <a:sym typeface="思源黑体 CN Regular" panose="020B0500000000000000" pitchFamily="34" charset="-122"/>
              </a:rPr>
              <a:t> </a:t>
            </a:r>
            <a:r>
              <a:rPr lang="zh-CN" altLang="en-US" sz="6000" b="1" dirty="0">
                <a:solidFill>
                  <a:srgbClr val="080808"/>
                </a:solidFill>
                <a:latin typeface="微软雅黑" charset="-122"/>
                <a:ea typeface="微软雅黑" charset="-122"/>
                <a:sym typeface="思源黑体 CN Regular" panose="020B0500000000000000" pitchFamily="34" charset="-122"/>
              </a:rPr>
              <a:t>指</a:t>
            </a:r>
            <a:r>
              <a:rPr lang="en-US" altLang="zh-CN" sz="6000" b="1" dirty="0">
                <a:solidFill>
                  <a:srgbClr val="080808"/>
                </a:solidFill>
                <a:latin typeface="微软雅黑" charset="-122"/>
                <a:ea typeface="微软雅黑" charset="-122"/>
                <a:sym typeface="思源黑体 CN Regular" panose="020B0500000000000000" pitchFamily="34" charset="-122"/>
              </a:rPr>
              <a:t> </a:t>
            </a:r>
            <a:r>
              <a:rPr lang="zh-CN" altLang="en-US" sz="6000" b="1" dirty="0">
                <a:solidFill>
                  <a:srgbClr val="080808"/>
                </a:solidFill>
                <a:latin typeface="微软雅黑" charset="-122"/>
                <a:ea typeface="微软雅黑" charset="-122"/>
                <a:sym typeface="思源黑体 CN Regular" panose="020B0500000000000000" pitchFamily="34" charset="-122"/>
              </a:rPr>
              <a:t>正</a:t>
            </a:r>
            <a:r>
              <a:rPr lang="zh-CN" altLang="en-GB" sz="6000" b="1" dirty="0">
                <a:solidFill>
                  <a:srgbClr val="080808"/>
                </a:solidFill>
                <a:latin typeface="微软雅黑" charset="-122"/>
                <a:ea typeface="微软雅黑" charset="-122"/>
                <a:sym typeface="思源黑体 CN Regular" panose="020B0500000000000000" pitchFamily="34" charset="-122"/>
              </a:rPr>
              <a:t>！</a:t>
            </a:r>
            <a:endParaRPr lang="zh-CN" altLang="en-GB" sz="6000" b="1" dirty="0">
              <a:solidFill>
                <a:srgbClr val="080808"/>
              </a:solidFill>
              <a:latin typeface="微软雅黑" charset="-122"/>
              <a:ea typeface="微软雅黑" charset="-122"/>
              <a:sym typeface="思源黑体 CN Regular" panose="020B0500000000000000" pitchFamily="34" charset="-122"/>
            </a:endParaRPr>
          </a:p>
        </p:txBody>
      </p:sp>
      <p:pic>
        <p:nvPicPr>
          <p:cNvPr id="11" name="图片 10" descr="C:/Users/Administrator/AppData/Local/Temp/picturecompress_20220520140653/output_23.pngoutput_2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50215" y="444500"/>
            <a:ext cx="2767965" cy="633730"/>
          </a:xfrm>
          <a:prstGeom prst="rect">
            <a:avLst/>
          </a:prstGeom>
        </p:spPr>
      </p:pic>
      <p:pic>
        <p:nvPicPr>
          <p:cNvPr id="9" name="图片 8" descr="C:/Users/Administrator/AppData/Local/Temp/picturecompress_20220520140653/output_6.pngoutput_6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8103870" y="4512945"/>
            <a:ext cx="4088130" cy="2345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2022</Words>
  <Application>WPS 表格</Application>
  <PresentationFormat>宽屏</PresentationFormat>
  <Paragraphs>230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汉仪旗黑</vt:lpstr>
      <vt:lpstr>宋体</vt:lpstr>
      <vt:lpstr>微软雅黑</vt:lpstr>
      <vt:lpstr>思源黑体 CN Regular</vt:lpstr>
      <vt:lpstr>Calibri</vt:lpstr>
      <vt:lpstr>Helvetica Neue</vt:lpstr>
      <vt:lpstr>汉仪书宋二KW</vt:lpstr>
      <vt:lpstr>Arial Unicode MS</vt:lpstr>
      <vt:lpstr>汉仪中黑KW</vt:lpstr>
      <vt:lpstr>思源黑体 CN Regular</vt:lpstr>
      <vt:lpstr>Apple Color Emoji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hebingqi</dc:creator>
  <cp:lastModifiedBy>hebingqi</cp:lastModifiedBy>
  <cp:revision>125</cp:revision>
  <dcterms:created xsi:type="dcterms:W3CDTF">2025-09-16T03:23:49Z</dcterms:created>
  <dcterms:modified xsi:type="dcterms:W3CDTF">2025-09-16T03:23:49Z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2052-6.14.0.8924</vt:lpwstr>
  </property>
  <property fmtid="{D5CDD505-2E9C-101B-9397-08002B2CF9AE}" pid="3" name="ICV">
    <vt:lpwstr>0909835065EE71F7B66619684BA19FF7_41</vt:lpwstr>
  </property>
</Properties>
</file>