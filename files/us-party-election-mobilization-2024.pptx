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62" r:id="rId4"/>
    <p:sldId id="260" r:id="rId5"/>
    <p:sldId id="263" r:id="rId6"/>
    <p:sldId id="264" r:id="rId7"/>
    <p:sldId id="258" r:id="rId8"/>
    <p:sldId id="266" r:id="rId9"/>
    <p:sldId id="256" r:id="rId10"/>
    <p:sldId id="257" r:id="rId11"/>
    <p:sldId id="265" r:id="rId12"/>
    <p:sldId id="277" r:id="rId13"/>
    <p:sldId id="268" r:id="rId14"/>
    <p:sldId id="274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66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slide" Target="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.png"/><Relationship Id="rId7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.png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image" Target="../media/image10.png"/><Relationship Id="rId7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tags" Target="../tags/tag25.xml"/><Relationship Id="rId2" Type="http://schemas.openxmlformats.org/officeDocument/2006/relationships/image" Target="../media/image6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tags" Target="../tags/tag37.xml"/><Relationship Id="rId2" Type="http://schemas.openxmlformats.org/officeDocument/2006/relationships/image" Target="../media/image14.png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36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56.xml"/><Relationship Id="rId6" Type="http://schemas.openxmlformats.org/officeDocument/2006/relationships/image" Target="../media/image19.png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C:/Users/Administrator/AppData/Local/Temp/picturecompress_20220520140653/output_6.pngoutput_6"/>
          <p:cNvPicPr>
            <a:picLocks noChangeAspect="1"/>
          </p:cNvPicPr>
          <p:nvPr/>
        </p:nvPicPr>
        <p:blipFill>
          <a:blip r:embed="rId1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4335603" y="2352675"/>
            <a:ext cx="7856397" cy="4505325"/>
          </a:xfrm>
          <a:prstGeom prst="rect">
            <a:avLst/>
          </a:prstGeom>
        </p:spPr>
      </p:pic>
      <p:sp>
        <p:nvSpPr>
          <p:cNvPr id="21" name="任意多边形: 形状 20"/>
          <p:cNvSpPr/>
          <p:nvPr/>
        </p:nvSpPr>
        <p:spPr>
          <a:xfrm>
            <a:off x="0" y="0"/>
            <a:ext cx="3667592" cy="3429000"/>
          </a:xfrm>
          <a:custGeom>
            <a:avLst/>
            <a:gdLst>
              <a:gd name="connsiteX0" fmla="*/ 0 w 3667592"/>
              <a:gd name="connsiteY0" fmla="*/ 0 h 3429000"/>
              <a:gd name="connsiteX1" fmla="*/ 3559647 w 3667592"/>
              <a:gd name="connsiteY1" fmla="*/ 0 h 3429000"/>
              <a:gd name="connsiteX2" fmla="*/ 3613129 w 3667592"/>
              <a:gd name="connsiteY2" fmla="*/ 207996 h 3429000"/>
              <a:gd name="connsiteX3" fmla="*/ 3667592 w 3667592"/>
              <a:gd name="connsiteY3" fmla="*/ 748259 h 3429000"/>
              <a:gd name="connsiteX4" fmla="*/ 986851 w 3667592"/>
              <a:gd name="connsiteY4" fmla="*/ 3429000 h 3429000"/>
              <a:gd name="connsiteX5" fmla="*/ 189681 w 3667592"/>
              <a:gd name="connsiteY5" fmla="*/ 3308479 h 3429000"/>
              <a:gd name="connsiteX6" fmla="*/ 0 w 3667592"/>
              <a:gd name="connsiteY6" fmla="*/ 3239055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7592" h="3429000">
                <a:moveTo>
                  <a:pt x="0" y="0"/>
                </a:moveTo>
                <a:lnTo>
                  <a:pt x="3559647" y="0"/>
                </a:lnTo>
                <a:lnTo>
                  <a:pt x="3613129" y="207996"/>
                </a:lnTo>
                <a:cubicBezTo>
                  <a:pt x="3648839" y="382506"/>
                  <a:pt x="3667592" y="563193"/>
                  <a:pt x="3667592" y="748259"/>
                </a:cubicBezTo>
                <a:cubicBezTo>
                  <a:pt x="3667592" y="2228791"/>
                  <a:pt x="2467383" y="3429000"/>
                  <a:pt x="986851" y="3429000"/>
                </a:cubicBezTo>
                <a:cubicBezTo>
                  <a:pt x="709251" y="3429000"/>
                  <a:pt x="441507" y="3386805"/>
                  <a:pt x="189681" y="3308479"/>
                </a:cubicBezTo>
                <a:lnTo>
                  <a:pt x="0" y="32390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218927" y="5988109"/>
            <a:ext cx="2117324" cy="21173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íṧliḋè"/>
          <p:cNvSpPr/>
          <p:nvPr/>
        </p:nvSpPr>
        <p:spPr>
          <a:xfrm>
            <a:off x="1511498" y="3267417"/>
            <a:ext cx="4363544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/>
          <a:p>
            <a:pPr algn="dist"/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BEIJING  FOREIGN  STUDIES  UNIVERSITY 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幻灯片缩放定位 26">
            <a:hlinkClick r:id="rId2" action="ppaction://hlinksldjump"/>
          </p:cNvPr>
          <p:cNvPicPr>
            <a:picLocks noGrp="1" noRot="1" noChangeAspect="1" noMove="1" noResize="1" noEditPoints="1" noAdjustHandles="1" noChangeArrowheads="1" noChangeShapeType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681" y="5339526"/>
            <a:ext cx="673290" cy="378726"/>
          </a:xfrm>
          <a:prstGeom prst="rect">
            <a:avLst/>
          </a:prstGeom>
          <a:ln w="3175">
            <a:solidFill>
              <a:prstClr val="lightGray"/>
            </a:solidFill>
          </a:ln>
          <a:effectLst>
            <a:softEdge rad="1270000"/>
          </a:effectLst>
        </p:spPr>
      </p:pic>
      <p:pic>
        <p:nvPicPr>
          <p:cNvPr id="13" name="图片 12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093" y="958686"/>
            <a:ext cx="1925840" cy="441018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593215" y="3918585"/>
            <a:ext cx="3336290" cy="346710"/>
            <a:chOff x="2490937" y="4811841"/>
            <a:chExt cx="2626360" cy="52768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4" name="矩形 13"/>
            <p:cNvSpPr/>
            <p:nvPr/>
          </p:nvSpPr>
          <p:spPr>
            <a:xfrm>
              <a:off x="2490937" y="4811841"/>
              <a:ext cx="1176655" cy="5276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002060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7592" y="4816921"/>
              <a:ext cx="1449705" cy="518795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2060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833796" y="391861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078714" y="3907427"/>
            <a:ext cx="18510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北外国关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何柄岐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02561" y="3921792"/>
            <a:ext cx="18065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2024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691640" y="1711325"/>
            <a:ext cx="88087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 b="1">
                <a:latin typeface="+mj-ea"/>
                <a:ea typeface="+mj-ea"/>
                <a:cs typeface="+mj-ea"/>
              </a:rPr>
              <a:t>激情、技艺与方法</a:t>
            </a:r>
            <a:br>
              <a:rPr lang="zh-CN" altLang="en-US" sz="4000" b="1">
                <a:latin typeface="+mj-ea"/>
                <a:ea typeface="+mj-ea"/>
                <a:cs typeface="+mj-ea"/>
              </a:rPr>
            </a:br>
            <a:r>
              <a:rPr lang="en-US" altLang="zh-CN" sz="4000" b="1">
                <a:latin typeface="+mj-ea"/>
                <a:ea typeface="+mj-ea"/>
                <a:cs typeface="+mj-ea"/>
              </a:rPr>
              <a:t>——</a:t>
            </a:r>
            <a:r>
              <a:rPr lang="zh-CN" altLang="en-US" sz="4000" b="1">
                <a:latin typeface="+mj-ea"/>
                <a:ea typeface="+mj-ea"/>
                <a:cs typeface="+mj-ea"/>
              </a:rPr>
              <a:t>美国两党选举动员路径比较</a:t>
            </a:r>
            <a:endParaRPr lang="zh-CN" altLang="en-US" sz="4000" b="1"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/>
          <p:cNvSpPr/>
          <p:nvPr/>
        </p:nvSpPr>
        <p:spPr>
          <a:xfrm rot="5400000" flipH="1">
            <a:off x="-405546" y="514263"/>
            <a:ext cx="1856718" cy="1045625"/>
          </a:xfrm>
          <a:custGeom>
            <a:avLst/>
            <a:gdLst>
              <a:gd name="connsiteX0" fmla="*/ 1809750 w 3619500"/>
              <a:gd name="connsiteY0" fmla="*/ 0 h 2038350"/>
              <a:gd name="connsiteX1" fmla="*/ 3619500 w 3619500"/>
              <a:gd name="connsiteY1" fmla="*/ 1809750 h 2038350"/>
              <a:gd name="connsiteX2" fmla="*/ 3610157 w 3619500"/>
              <a:gd name="connsiteY2" fmla="*/ 1994787 h 2038350"/>
              <a:gd name="connsiteX3" fmla="*/ 3603508 w 3619500"/>
              <a:gd name="connsiteY3" fmla="*/ 2038350 h 2038350"/>
              <a:gd name="connsiteX4" fmla="*/ 15992 w 3619500"/>
              <a:gd name="connsiteY4" fmla="*/ 2038350 h 2038350"/>
              <a:gd name="connsiteX5" fmla="*/ 9344 w 3619500"/>
              <a:gd name="connsiteY5" fmla="*/ 1994787 h 2038350"/>
              <a:gd name="connsiteX6" fmla="*/ 0 w 3619500"/>
              <a:gd name="connsiteY6" fmla="*/ 1809750 h 2038350"/>
              <a:gd name="connsiteX7" fmla="*/ 1809750 w 3619500"/>
              <a:gd name="connsiteY7" fmla="*/ 0 h 203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9500" h="2038350">
                <a:moveTo>
                  <a:pt x="1809750" y="0"/>
                </a:moveTo>
                <a:cubicBezTo>
                  <a:pt x="2809247" y="0"/>
                  <a:pt x="3619500" y="810253"/>
                  <a:pt x="3619500" y="1809750"/>
                </a:cubicBezTo>
                <a:cubicBezTo>
                  <a:pt x="3619500" y="1872219"/>
                  <a:pt x="3616335" y="1933948"/>
                  <a:pt x="3610157" y="1994787"/>
                </a:cubicBezTo>
                <a:lnTo>
                  <a:pt x="3603508" y="2038350"/>
                </a:lnTo>
                <a:lnTo>
                  <a:pt x="15992" y="2038350"/>
                </a:lnTo>
                <a:lnTo>
                  <a:pt x="9344" y="1994787"/>
                </a:lnTo>
                <a:cubicBezTo>
                  <a:pt x="3165" y="1933948"/>
                  <a:pt x="0" y="1872219"/>
                  <a:pt x="0" y="1809750"/>
                </a:cubicBezTo>
                <a:cubicBezTo>
                  <a:pt x="0" y="810253"/>
                  <a:pt x="810253" y="0"/>
                  <a:pt x="1809750" y="0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  <a:effectLst>
            <a:glow rad="469900">
              <a:srgbClr val="0070C0">
                <a:alpha val="6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/>
        </p:nvSpPr>
        <p:spPr>
          <a:xfrm flipV="1">
            <a:off x="0" y="3429000"/>
            <a:ext cx="3667592" cy="3429000"/>
          </a:xfrm>
          <a:custGeom>
            <a:avLst/>
            <a:gdLst>
              <a:gd name="connsiteX0" fmla="*/ 0 w 3667592"/>
              <a:gd name="connsiteY0" fmla="*/ 0 h 3429000"/>
              <a:gd name="connsiteX1" fmla="*/ 3559647 w 3667592"/>
              <a:gd name="connsiteY1" fmla="*/ 0 h 3429000"/>
              <a:gd name="connsiteX2" fmla="*/ 3613129 w 3667592"/>
              <a:gd name="connsiteY2" fmla="*/ 207996 h 3429000"/>
              <a:gd name="connsiteX3" fmla="*/ 3667592 w 3667592"/>
              <a:gd name="connsiteY3" fmla="*/ 748259 h 3429000"/>
              <a:gd name="connsiteX4" fmla="*/ 986851 w 3667592"/>
              <a:gd name="connsiteY4" fmla="*/ 3429000 h 3429000"/>
              <a:gd name="connsiteX5" fmla="*/ 189681 w 3667592"/>
              <a:gd name="connsiteY5" fmla="*/ 3308479 h 3429000"/>
              <a:gd name="connsiteX6" fmla="*/ 0 w 3667592"/>
              <a:gd name="connsiteY6" fmla="*/ 3239055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7592" h="3429000">
                <a:moveTo>
                  <a:pt x="0" y="0"/>
                </a:moveTo>
                <a:lnTo>
                  <a:pt x="3559647" y="0"/>
                </a:lnTo>
                <a:lnTo>
                  <a:pt x="3613129" y="207996"/>
                </a:lnTo>
                <a:cubicBezTo>
                  <a:pt x="3648839" y="382506"/>
                  <a:pt x="3667592" y="563193"/>
                  <a:pt x="3667592" y="748259"/>
                </a:cubicBezTo>
                <a:cubicBezTo>
                  <a:pt x="3667592" y="2228791"/>
                  <a:pt x="2467383" y="3429000"/>
                  <a:pt x="986851" y="3429000"/>
                </a:cubicBezTo>
                <a:cubicBezTo>
                  <a:pt x="709251" y="3429000"/>
                  <a:pt x="441507" y="3386805"/>
                  <a:pt x="189681" y="3308479"/>
                </a:cubicBezTo>
                <a:lnTo>
                  <a:pt x="0" y="32390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59605" y="108357"/>
            <a:ext cx="2117324" cy="21173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483842" y="978049"/>
            <a:ext cx="4361815" cy="706755"/>
            <a:chOff x="722477" y="765959"/>
            <a:chExt cx="4361815" cy="706755"/>
          </a:xfrm>
        </p:grpSpPr>
        <p:sp>
          <p:nvSpPr>
            <p:cNvPr id="11" name="文本框 10"/>
            <p:cNvSpPr txBox="1"/>
            <p:nvPr/>
          </p:nvSpPr>
          <p:spPr>
            <a:xfrm>
              <a:off x="722477" y="765959"/>
              <a:ext cx="1467485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zh-CN" altLang="en-US" sz="4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目</a:t>
              </a:r>
              <a:r>
                <a:rPr kumimoji="0" lang="en-US" altLang="zh-CN" sz="4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kumimoji="0" lang="zh-CN" altLang="en-US" sz="4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录</a:t>
              </a:r>
              <a:endParaRPr kumimoji="0" lang="zh-CN" altLang="en-US" sz="4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189962" y="959634"/>
              <a:ext cx="2894330" cy="460375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>
                <a:buSzPct val="25000"/>
              </a:pPr>
              <a:r>
                <a:rPr lang="en-US" altLang="zh-CN" sz="2400" dirty="0">
                  <a:latin typeface="微软雅黑" panose="020B0503020204020204" charset="-122"/>
                  <a:ea typeface="微软雅黑" panose="020B0503020204020204" charset="-122"/>
                </a:rPr>
                <a:t>CONTENTS</a:t>
              </a:r>
              <a:endParaRPr lang="en-US" altLang="zh-CN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524125" y="2742565"/>
            <a:ext cx="2894965" cy="876300"/>
            <a:chOff x="2360" y="4651"/>
            <a:chExt cx="4559" cy="1380"/>
          </a:xfrm>
        </p:grpSpPr>
        <p:sp>
          <p:nvSpPr>
            <p:cNvPr id="14" name="文本框 13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890" y="4721"/>
              <a:ext cx="2127" cy="661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问题提出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892" y="5382"/>
              <a:ext cx="3027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Introduction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520315" y="4154805"/>
            <a:ext cx="2898775" cy="876300"/>
            <a:chOff x="2360" y="4651"/>
            <a:chExt cx="4565" cy="1380"/>
          </a:xfrm>
        </p:grpSpPr>
        <p:sp>
          <p:nvSpPr>
            <p:cNvPr id="33" name="文本框 32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890" y="4828"/>
              <a:ext cx="3035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动员路径建构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892" y="5382"/>
              <a:ext cx="3027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Mobilization Path Construction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950710" y="4154805"/>
            <a:ext cx="2894965" cy="876300"/>
            <a:chOff x="2360" y="4651"/>
            <a:chExt cx="4559" cy="1380"/>
          </a:xfrm>
        </p:grpSpPr>
        <p:sp>
          <p:nvSpPr>
            <p:cNvPr id="38" name="文本框 37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890" y="4828"/>
              <a:ext cx="2368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结论与反思</a:t>
              </a:r>
              <a:endParaRPr lang="en-US" altLang="zh-CN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3892" y="5382"/>
              <a:ext cx="3027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Conclusion &amp; Reflection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2" name="图片 41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291782" y="6750418"/>
            <a:ext cx="87941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955155" y="2710815"/>
            <a:ext cx="2631440" cy="876300"/>
            <a:chOff x="2360" y="4651"/>
            <a:chExt cx="4144" cy="1380"/>
          </a:xfrm>
        </p:grpSpPr>
        <p:sp>
          <p:nvSpPr>
            <p:cNvPr id="13" name="文本框 12"/>
            <p:cNvSpPr txBox="1"/>
            <p:nvPr>
              <p:custDataLst>
                <p:tags r:id="rId3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3890" y="4827"/>
              <a:ext cx="2614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要素模型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5"/>
              </p:custDataLst>
            </p:nvPr>
          </p:nvSpPr>
          <p:spPr>
            <a:xfrm>
              <a:off x="3892" y="5382"/>
              <a:ext cx="2460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Factor Model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圆角矩形 103"/>
            <p:cNvSpPr/>
            <p:nvPr>
              <p:custDataLst>
                <p:tags r:id="rId6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270510" y="329565"/>
            <a:ext cx="2894965" cy="876300"/>
            <a:chOff x="2360" y="4651"/>
            <a:chExt cx="4559" cy="1380"/>
          </a:xfrm>
        </p:grpSpPr>
        <p:sp>
          <p:nvSpPr>
            <p:cNvPr id="14" name="文本框 13"/>
            <p:cNvSpPr txBox="1"/>
            <p:nvPr>
              <p:custDataLst>
                <p:tags r:id="rId1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"/>
              </p:custDataLst>
            </p:nvPr>
          </p:nvSpPr>
          <p:spPr>
            <a:xfrm>
              <a:off x="3890" y="4721"/>
              <a:ext cx="2127" cy="661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问题提出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3"/>
              </p:custDataLst>
            </p:nvPr>
          </p:nvSpPr>
          <p:spPr>
            <a:xfrm>
              <a:off x="3892" y="5382"/>
              <a:ext cx="3027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Introduction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圆角矩形 103"/>
            <p:cNvSpPr/>
            <p:nvPr>
              <p:custDataLst>
                <p:tags r:id="rId4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9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44880" y="2292350"/>
            <a:ext cx="4743450" cy="269303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857885" y="5422900"/>
            <a:ext cx="92290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竞选追踪调查中经常出现的关键词：</a:t>
            </a:r>
            <a:r>
              <a:rPr lang="zh-CN" altLang="en-US" b="1">
                <a:sym typeface="+mn-ea"/>
              </a:rPr>
              <a:t>话语、情绪、新媒体技术、资本、集会、营销、政策</a:t>
            </a:r>
            <a:endParaRPr lang="zh-CN" altLang="en-US" b="1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57885" y="6072505"/>
            <a:ext cx="81775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+mn-ea"/>
                <a:cs typeface="+mn-ea"/>
              </a:rPr>
              <a:t>——</a:t>
            </a:r>
            <a:r>
              <a:rPr lang="zh-CN" altLang="en-US" sz="2000" b="1">
                <a:latin typeface="+mn-ea"/>
                <a:cs typeface="+mn-ea"/>
              </a:rPr>
              <a:t>两党如何组织这些要素以最大程度动员选民？</a:t>
            </a:r>
            <a:endParaRPr lang="zh-CN" altLang="en-US" sz="2000" b="1">
              <a:latin typeface="+mn-ea"/>
              <a:cs typeface="+mn-ea"/>
            </a:endParaRPr>
          </a:p>
        </p:txBody>
      </p:sp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43330" y="1504315"/>
            <a:ext cx="62992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激情、技艺与方法？</a:t>
            </a:r>
            <a:r>
              <a:rPr lang="en-US" altLang="zh-CN" sz="2000" b="1"/>
              <a:t>——</a:t>
            </a:r>
            <a:r>
              <a:rPr lang="zh-CN" altLang="en-US" sz="2000" b="1"/>
              <a:t>转换为美国政治研究中的话语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243330" y="1429385"/>
            <a:ext cx="6696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对于美国两党动员路径，我们从以下前提（或许也是共识）出发：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42060" y="2134235"/>
            <a:ext cx="8084820" cy="2315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1. </a:t>
            </a:r>
            <a:r>
              <a:rPr lang="zh-CN" altLang="en-US" b="1"/>
              <a:t>路径≠能力；前者看流程，看机制；后者看效应，看投票率与支持率；但路径影响能力，能力体现路径并推动路径优化。</a:t>
            </a:r>
            <a:endParaRPr lang="zh-CN" altLang="en-US" b="1"/>
          </a:p>
          <a:p>
            <a:endParaRPr lang="zh-CN" altLang="en-US" b="1"/>
          </a:p>
          <a:p>
            <a:r>
              <a:rPr lang="en-US" altLang="zh-CN" b="1">
                <a:sym typeface="+mn-ea"/>
              </a:rPr>
              <a:t>2.</a:t>
            </a:r>
            <a:r>
              <a:rPr lang="zh-CN" altLang="en-US" b="1">
                <a:sym typeface="+mn-ea"/>
              </a:rPr>
              <a:t>选举动员是一个系统工程，两党的动员路径是多要素的协同</a:t>
            </a:r>
            <a:r>
              <a:rPr lang="en-US" altLang="zh-CN" b="1">
                <a:sym typeface="+mn-ea"/>
              </a:rPr>
              <a:t> </a:t>
            </a:r>
            <a:endParaRPr lang="en-US" altLang="zh-CN" b="1">
              <a:sym typeface="+mn-ea"/>
            </a:endParaRPr>
          </a:p>
          <a:p>
            <a:endParaRPr lang="en-US" altLang="zh-CN" b="1">
              <a:sym typeface="+mn-ea"/>
            </a:endParaRPr>
          </a:p>
          <a:p>
            <a:r>
              <a:rPr lang="en-US" altLang="zh-CN" b="1">
                <a:sym typeface="+mn-ea"/>
              </a:rPr>
              <a:t>3.</a:t>
            </a:r>
            <a:r>
              <a:rPr lang="zh-CN" altLang="en-US" b="1">
                <a:sym typeface="+mn-ea"/>
              </a:rPr>
              <a:t>衡量选举动员能力的核心指标是投票率</a:t>
            </a:r>
            <a:r>
              <a:rPr lang="en-US" altLang="zh-CN" b="1">
                <a:sym typeface="+mn-ea"/>
              </a:rPr>
              <a:t>(voter turnout)</a:t>
            </a:r>
            <a:r>
              <a:rPr lang="zh-CN" altLang="en-US" b="1">
                <a:sym typeface="+mn-ea"/>
              </a:rPr>
              <a:t>和支持率</a:t>
            </a:r>
            <a:r>
              <a:rPr lang="en-US" altLang="zh-CN" b="1">
                <a:sym typeface="+mn-ea"/>
              </a:rPr>
              <a:t>(voter support)</a:t>
            </a:r>
            <a:endParaRPr lang="en-US" altLang="zh-CN" b="1"/>
          </a:p>
          <a:p>
            <a:endParaRPr lang="en-US" altLang="zh-CN"/>
          </a:p>
          <a:p>
            <a:endParaRPr lang="en-US" altLang="zh-CN"/>
          </a:p>
        </p:txBody>
      </p:sp>
      <p:grpSp>
        <p:nvGrpSpPr>
          <p:cNvPr id="6" name="组合 5"/>
          <p:cNvGrpSpPr/>
          <p:nvPr/>
        </p:nvGrpSpPr>
        <p:grpSpPr>
          <a:xfrm>
            <a:off x="270510" y="329565"/>
            <a:ext cx="2894965" cy="876300"/>
            <a:chOff x="2360" y="4651"/>
            <a:chExt cx="4559" cy="1380"/>
          </a:xfrm>
        </p:grpSpPr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4"/>
              </p:custDataLst>
            </p:nvPr>
          </p:nvSpPr>
          <p:spPr>
            <a:xfrm>
              <a:off x="3890" y="4721"/>
              <a:ext cx="2127" cy="661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问题提出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5"/>
              </p:custDataLst>
            </p:nvPr>
          </p:nvSpPr>
          <p:spPr>
            <a:xfrm>
              <a:off x="3892" y="5382"/>
              <a:ext cx="3027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Introduction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圆角矩形 103"/>
            <p:cNvSpPr/>
            <p:nvPr>
              <p:custDataLst>
                <p:tags r:id="rId6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307975" y="365760"/>
            <a:ext cx="2631440" cy="876300"/>
            <a:chOff x="2360" y="4651"/>
            <a:chExt cx="4144" cy="1380"/>
          </a:xfrm>
        </p:grpSpPr>
        <p:sp>
          <p:nvSpPr>
            <p:cNvPr id="6" name="文本框 5"/>
            <p:cNvSpPr txBox="1"/>
            <p:nvPr>
              <p:custDataLst>
                <p:tags r:id="rId1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2"/>
              </p:custDataLst>
            </p:nvPr>
          </p:nvSpPr>
          <p:spPr>
            <a:xfrm>
              <a:off x="3890" y="4827"/>
              <a:ext cx="2614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要素模型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3892" y="5382"/>
              <a:ext cx="2460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Factor Model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圆角矩形 103"/>
            <p:cNvSpPr/>
            <p:nvPr>
              <p:custDataLst>
                <p:tags r:id="rId4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626745" y="1240155"/>
            <a:ext cx="8053070" cy="777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一些关键词：话语、情绪、新媒体技术、资本、集会、营销、政策（少谈）；政党是驾驭这些要素的行为体，组成要素模型（</a:t>
            </a:r>
            <a:r>
              <a:rPr lang="en-US" altLang="zh-CN"/>
              <a:t>Rogowski, 1989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64870" y="5949950"/>
            <a:ext cx="6779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2. </a:t>
            </a:r>
            <a:r>
              <a:rPr lang="zh-CN" altLang="en-US" b="1"/>
              <a:t>几乎不可能确定每个要素在政党动员路径中所占的权重数值，</a:t>
            </a:r>
            <a:br>
              <a:rPr lang="zh-CN" altLang="en-US" b="1"/>
            </a:br>
            <a:r>
              <a:rPr lang="zh-CN" altLang="en-US" b="1"/>
              <a:t>只能做大致的权重比较，并厘清不同类型的效用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864870" y="5304790"/>
            <a:ext cx="8076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1. </a:t>
            </a:r>
            <a:r>
              <a:rPr lang="zh-CN" altLang="en-US" b="1"/>
              <a:t>只体现结构关系的模型仍然是静态的，路径却是动态的</a:t>
            </a:r>
            <a:r>
              <a:rPr lang="en-US" altLang="zh-CN" b="1"/>
              <a:t>→</a:t>
            </a:r>
            <a:r>
              <a:rPr lang="zh-CN" altLang="en-US" b="1"/>
              <a:t>要素模型要动起来，要素间要彼此互动（从结构到过程）</a:t>
            </a:r>
            <a:endParaRPr lang="zh-CN" altLang="en-US" b="1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00455" y="2009775"/>
            <a:ext cx="6972300" cy="285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1620" y="1125220"/>
            <a:ext cx="397192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2570" y="3354070"/>
            <a:ext cx="3990975" cy="223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140" y="1723390"/>
            <a:ext cx="4836160" cy="313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790" y="1851025"/>
            <a:ext cx="3456305" cy="220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524625" y="856615"/>
            <a:ext cx="24841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484505" y="5822950"/>
            <a:ext cx="10418445" cy="890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宋体" pitchFamily="2" charset="-122"/>
                <a:ea typeface="宋体" pitchFamily="2" charset="-122"/>
                <a:cs typeface="宋体" pitchFamily="2" charset="-122"/>
              </a:rPr>
              <a:t>资本是动员的必要条件；永远都在</a:t>
            </a:r>
            <a:r>
              <a:rPr lang="en-US" altLang="zh-CN" b="1">
                <a:latin typeface="宋体" pitchFamily="2" charset="-122"/>
                <a:ea typeface="宋体" pitchFamily="2" charset="-122"/>
                <a:cs typeface="宋体" pitchFamily="2" charset="-122"/>
              </a:rPr>
              <a:t>“</a:t>
            </a:r>
            <a:r>
              <a:rPr lang="zh-CN" altLang="en-US" b="1">
                <a:latin typeface="宋体" pitchFamily="2" charset="-122"/>
                <a:ea typeface="宋体" pitchFamily="2" charset="-122"/>
                <a:cs typeface="宋体" pitchFamily="2" charset="-122"/>
              </a:rPr>
              <a:t>创纪录</a:t>
            </a:r>
            <a:r>
              <a:rPr lang="en-US" altLang="zh-CN" b="1">
                <a:latin typeface="宋体" pitchFamily="2" charset="-122"/>
                <a:ea typeface="宋体" pitchFamily="2" charset="-122"/>
                <a:cs typeface="宋体" pitchFamily="2" charset="-122"/>
              </a:rPr>
              <a:t>”</a:t>
            </a:r>
            <a:r>
              <a:rPr lang="zh-CN" altLang="en-US" b="1">
                <a:latin typeface="宋体" pitchFamily="2" charset="-122"/>
                <a:ea typeface="宋体" pitchFamily="2" charset="-122"/>
                <a:cs typeface="宋体" pitchFamily="2" charset="-122"/>
              </a:rPr>
              <a:t>地烧钱；</a:t>
            </a:r>
            <a:br>
              <a:rPr lang="zh-CN" altLang="en-US" b="1">
                <a:latin typeface="宋体" pitchFamily="2" charset="-122"/>
                <a:ea typeface="宋体" pitchFamily="2" charset="-122"/>
                <a:cs typeface="宋体" pitchFamily="2" charset="-122"/>
              </a:rPr>
            </a:br>
            <a:r>
              <a:rPr lang="zh-CN" altLang="en-US" b="1">
                <a:latin typeface="宋体" pitchFamily="2" charset="-122"/>
                <a:ea typeface="宋体" pitchFamily="2" charset="-122"/>
                <a:cs typeface="宋体" pitchFamily="2" charset="-122"/>
              </a:rPr>
              <a:t>相比于哈里斯，特朗普更依赖大金主，对草根募捐者依赖更少（依赖少</a:t>
            </a:r>
            <a:r>
              <a:rPr lang="en-US" altLang="zh-CN" b="1">
                <a:latin typeface="宋体" pitchFamily="2" charset="-122"/>
                <a:ea typeface="宋体" pitchFamily="2" charset="-122"/>
                <a:cs typeface="宋体" pitchFamily="2" charset="-122"/>
              </a:rPr>
              <a:t>-</a:t>
            </a:r>
            <a:r>
              <a:rPr lang="zh-CN" altLang="en-US" b="1">
                <a:latin typeface="宋体" pitchFamily="2" charset="-122"/>
                <a:ea typeface="宋体" pitchFamily="2" charset="-122"/>
                <a:cs typeface="宋体" pitchFamily="2" charset="-122"/>
              </a:rPr>
              <a:t>动员少？因果说不清楚）</a:t>
            </a:r>
            <a:endParaRPr lang="zh-CN" altLang="en-US" b="1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r>
              <a:rPr lang="zh-CN" altLang="en-US" b="1">
                <a:latin typeface="宋体" pitchFamily="2" charset="-122"/>
                <a:ea typeface="宋体" pitchFamily="2" charset="-122"/>
                <a:cs typeface="宋体" pitchFamily="2" charset="-122"/>
              </a:rPr>
              <a:t>一个恶果是：选举政治沦为金钱政治</a:t>
            </a:r>
            <a:endParaRPr lang="zh-CN" altLang="en-US" b="1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86690" y="-73660"/>
            <a:ext cx="4313365" cy="1568450"/>
            <a:chOff x="2360" y="4143"/>
            <a:chExt cx="6561" cy="2470"/>
          </a:xfrm>
        </p:grpSpPr>
        <p:sp>
          <p:nvSpPr>
            <p:cNvPr id="33" name="文本框 32"/>
            <p:cNvSpPr txBox="1"/>
            <p:nvPr>
              <p:custDataLst>
                <p:tags r:id="rId9"/>
              </p:custDataLst>
            </p:nvPr>
          </p:nvSpPr>
          <p:spPr>
            <a:xfrm>
              <a:off x="2360" y="4143"/>
              <a:ext cx="1532" cy="2470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10"/>
              </p:custDataLst>
            </p:nvPr>
          </p:nvSpPr>
          <p:spPr>
            <a:xfrm>
              <a:off x="3890" y="4831"/>
              <a:ext cx="5031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动员路径建构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资本铺路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11"/>
              </p:custDataLst>
            </p:nvPr>
          </p:nvSpPr>
          <p:spPr>
            <a:xfrm>
              <a:off x="3892" y="5382"/>
              <a:ext cx="3027" cy="798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Mobilization Path Construction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圆角矩形 103"/>
            <p:cNvSpPr/>
            <p:nvPr>
              <p:custDataLst>
                <p:tags r:id="rId12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2" name="组合 21"/>
          <p:cNvGrpSpPr/>
          <p:nvPr/>
        </p:nvGrpSpPr>
        <p:grpSpPr>
          <a:xfrm>
            <a:off x="328930" y="358140"/>
            <a:ext cx="6589395" cy="876300"/>
            <a:chOff x="2360" y="4651"/>
            <a:chExt cx="10377" cy="1380"/>
          </a:xfrm>
        </p:grpSpPr>
        <p:sp>
          <p:nvSpPr>
            <p:cNvPr id="33" name="文本框 32"/>
            <p:cNvSpPr txBox="1"/>
            <p:nvPr>
              <p:custDataLst>
                <p:tags r:id="rId1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2"/>
              </p:custDataLst>
            </p:nvPr>
          </p:nvSpPr>
          <p:spPr>
            <a:xfrm>
              <a:off x="3890" y="4833"/>
              <a:ext cx="8847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动员路径建构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舆论战营销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人设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endParaRPr lang="en-US" altLang="zh-CN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3"/>
              </p:custDataLst>
            </p:nvPr>
          </p:nvSpPr>
          <p:spPr>
            <a:xfrm>
              <a:off x="3892" y="5382"/>
              <a:ext cx="3027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Mobilization Path Construction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圆角矩形 103"/>
            <p:cNvSpPr/>
            <p:nvPr>
              <p:custDataLst>
                <p:tags r:id="rId4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28930" y="1121410"/>
            <a:ext cx="5219065" cy="5378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7995" y="2818765"/>
            <a:ext cx="6067425" cy="15049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" y="1121410"/>
            <a:ext cx="5349875" cy="36449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610225" y="4897120"/>
            <a:ext cx="610552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政治营销早已有之，</a:t>
            </a:r>
            <a:r>
              <a:rPr lang="en-US" altLang="zh-CN">
                <a:sym typeface="+mn-ea"/>
              </a:rPr>
              <a:t>(Kelly, 1956; </a:t>
            </a:r>
            <a:r>
              <a:rPr lang="zh-CN" altLang="en-US">
                <a:sym typeface="+mn-ea"/>
              </a:rPr>
              <a:t>赵可金，</a:t>
            </a:r>
            <a:r>
              <a:rPr lang="en-US" altLang="zh-CN">
                <a:sym typeface="+mn-ea"/>
              </a:rPr>
              <a:t>2008)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但后真相时代下新媒体技术与情绪煽动合流的政治营销，</a:t>
            </a:r>
            <a:r>
              <a:rPr lang="en-US" altLang="zh-CN">
                <a:sym typeface="+mn-ea"/>
              </a:rPr>
              <a:t>2024</a:t>
            </a:r>
            <a:r>
              <a:rPr lang="zh-CN" altLang="en-US">
                <a:sym typeface="+mn-ea"/>
              </a:rPr>
              <a:t>是首次。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线上更多的是曝光效应，争取独立选民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3070" y="1503680"/>
            <a:ext cx="485394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05880" y="1418590"/>
            <a:ext cx="4043045" cy="301688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7000240" y="2136140"/>
            <a:ext cx="3738245" cy="1086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405880" y="4618990"/>
            <a:ext cx="5151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2024 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（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7.22-11.5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）特朗普集会次数达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96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次；</a:t>
            </a:r>
            <a:br>
              <a:rPr lang="zh-CN" altLang="en-US">
                <a:latin typeface="Times New Roman" panose="02020503050405090304" charset="0"/>
                <a:cs typeface="Times New Roman" panose="02020503050405090304" charset="0"/>
              </a:rPr>
            </a:b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PA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最多，为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22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次；其中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15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次是在少数族裔聚集区</a:t>
            </a:r>
            <a:endParaRPr lang="zh-CN" altLang="en-US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46785" y="4704080"/>
            <a:ext cx="4991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2020 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（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8.17-11.2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）特朗普集会次数达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65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次；</a:t>
            </a:r>
            <a:br>
              <a:rPr lang="zh-CN" altLang="en-US">
                <a:latin typeface="Times New Roman" panose="02020503050405090304" charset="0"/>
                <a:cs typeface="Times New Roman" panose="02020503050405090304" charset="0"/>
              </a:rPr>
            </a:b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PA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最多，为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14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次</a:t>
            </a:r>
            <a:endParaRPr lang="zh-CN" altLang="en-US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70850" y="4067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375" y="2268220"/>
            <a:ext cx="3313430" cy="31877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223010" y="56680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2024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（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7.22-11.5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）哈里斯集会次数达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92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次；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PA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最多，为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14</a:t>
            </a:r>
            <a:r>
              <a:rPr lang="zh-CN" altLang="en-US">
                <a:latin typeface="Times New Roman" panose="02020503050405090304" charset="0"/>
                <a:cs typeface="Times New Roman" panose="02020503050405090304" charset="0"/>
              </a:rPr>
              <a:t>次</a:t>
            </a:r>
            <a:endParaRPr lang="zh-CN" altLang="en-US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937885" y="5447665"/>
            <a:ext cx="52190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线上宣传也很发达，但是线下才是政党动员主战场，地点很重要！</a:t>
            </a:r>
            <a:endParaRPr lang="zh-CN" altLang="en-US" sz="2000" b="1"/>
          </a:p>
        </p:txBody>
      </p:sp>
      <p:grpSp>
        <p:nvGrpSpPr>
          <p:cNvPr id="2" name="组合 1"/>
          <p:cNvGrpSpPr/>
          <p:nvPr/>
        </p:nvGrpSpPr>
        <p:grpSpPr>
          <a:xfrm>
            <a:off x="328930" y="358140"/>
            <a:ext cx="6589395" cy="876300"/>
            <a:chOff x="2360" y="4651"/>
            <a:chExt cx="10377" cy="1380"/>
          </a:xfrm>
        </p:grpSpPr>
        <p:sp>
          <p:nvSpPr>
            <p:cNvPr id="4" name="文本框 3"/>
            <p:cNvSpPr txBox="1"/>
            <p:nvPr>
              <p:custDataLst>
                <p:tags r:id="rId6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3890" y="4833"/>
              <a:ext cx="8847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动员路径建构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情绪动员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借势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集会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8"/>
              </p:custDataLst>
            </p:nvPr>
          </p:nvSpPr>
          <p:spPr>
            <a:xfrm>
              <a:off x="3892" y="5382"/>
              <a:ext cx="3027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Mobilization Path Construction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" name="圆角矩形 103"/>
            <p:cNvSpPr/>
            <p:nvPr>
              <p:custDataLst>
                <p:tags r:id="rId9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521200" y="283845"/>
          <a:ext cx="7439025" cy="6148705"/>
        </p:xfrm>
        <a:graphic>
          <a:graphicData uri="http://schemas.openxmlformats.org/drawingml/2006/table">
            <a:tbl>
              <a:tblPr/>
              <a:tblGrid>
                <a:gridCol w="991235"/>
                <a:gridCol w="990600"/>
                <a:gridCol w="1242060"/>
                <a:gridCol w="1913890"/>
                <a:gridCol w="2301240"/>
              </a:tblGrid>
              <a:tr h="236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序号</a:t>
                      </a:r>
                      <a:endParaRPr lang="en-US" altLang="en-US" sz="700" b="1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latin typeface="Times New Roman" panose="02020503050405090304" charset="0"/>
                          <a:cs typeface="Times New Roman" panose="02020503050405090304" charset="0"/>
                        </a:rPr>
                        <a:t>时间</a:t>
                      </a:r>
                      <a:endParaRPr lang="en-US" altLang="en-US" sz="700" b="1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latin typeface="Times New Roman" panose="02020503050405090304" charset="0"/>
                          <a:cs typeface="Times New Roman" panose="02020503050405090304" charset="0"/>
                        </a:rPr>
                        <a:t>地点(城市)</a:t>
                      </a:r>
                      <a:endParaRPr lang="en-US" altLang="en-US" sz="700" b="1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latin typeface="Times New Roman" panose="02020503050405090304" charset="0"/>
                          <a:cs typeface="Times New Roman" panose="02020503050405090304" charset="0"/>
                        </a:rPr>
                        <a:t>集会意图</a:t>
                      </a:r>
                      <a:endParaRPr lang="en-US" altLang="en-US" sz="700" b="1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latin typeface="Times New Roman" panose="02020503050405090304" charset="0"/>
                          <a:cs typeface="Times New Roman" panose="02020503050405090304" charset="0"/>
                        </a:rPr>
                        <a:t>判断原因</a:t>
                      </a:r>
                      <a:endParaRPr lang="en-US" altLang="en-US" sz="700" b="1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1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2024/11/04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highlight>
                            <a:srgbClr val="FFFF00"/>
                          </a:highlight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Pittsburgh</a:t>
                      </a:r>
                      <a:endParaRPr lang="en-US" altLang="en-US" sz="700" b="0">
                        <a:highlight>
                          <a:srgbClr val="FFFF00"/>
                        </a:highlight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拉动少数族裔选票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非洲裔23.0%，亚裔 5.8%，西班牙裔3.2%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55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2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2024/11/04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highlight>
                            <a:srgbClr val="FFFF00"/>
                          </a:highlight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Reading</a:t>
                      </a:r>
                      <a:endParaRPr lang="en-US" altLang="en-US" sz="700" b="0">
                        <a:highlight>
                          <a:srgbClr val="FFFF00"/>
                        </a:highlight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拉动少数族裔选票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西班牙裔68.9%, 非裔8.5%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31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3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2024/11/03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Lititz*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C00000"/>
                          </a:solidFill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既不是少数族裔聚集区，基础制造业基础也不好，蓝领工人也不多，福音天主教徒也不多分布也不算很多</a:t>
                      </a:r>
                      <a:endParaRPr lang="en-US" altLang="en-US" sz="700" b="0">
                        <a:solidFill>
                          <a:srgbClr val="C00000"/>
                        </a:solidFill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4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2024/10/29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Allentown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拉动少数族裔选票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拉丁裔54%，非裔10%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8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5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2024/10/26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State College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拉动亚裔选票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亚裔10%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6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2024/10/20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Lancaster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拉动西班牙裔/拉丁选票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西班牙裔/拉丁裔40%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74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7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2024/10/19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Latrobe</a:t>
                      </a:r>
                      <a:r>
                        <a:rPr lang="en-US" sz="700" b="0">
                          <a:solidFill>
                            <a:srgbClr val="FF0000"/>
                          </a:solidFill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*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C00000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endParaRPr lang="en-US" altLang="en-US" sz="700" b="0">
                        <a:solidFill>
                          <a:srgbClr val="C00000"/>
                        </a:solidFill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C00000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endParaRPr lang="en-US" altLang="en-US" sz="700" b="0">
                        <a:solidFill>
                          <a:srgbClr val="C00000"/>
                        </a:solidFill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97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8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2024/10/17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highlight>
                            <a:srgbClr val="FFFF00"/>
                          </a:highlight>
                          <a:latin typeface="Times New Roman" panose="02020503050405090304" charset="0"/>
                          <a:cs typeface="Times New Roman" panose="02020503050405090304" charset="0"/>
                        </a:rPr>
                        <a:t>Pittsburgh</a:t>
                      </a:r>
                      <a:endParaRPr lang="en-US" altLang="en-US" sz="700" b="0">
                        <a:highlight>
                          <a:srgbClr val="FFFF00"/>
                        </a:highlight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拉动少数族裔选票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非洲裔23.0%，亚裔 5.8%，西班牙裔3.2%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9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2024/10/14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Oaks</a:t>
                      </a:r>
                      <a:r>
                        <a:rPr lang="en-US" sz="700" b="0">
                          <a:solidFill>
                            <a:srgbClr val="FF0000"/>
                          </a:solidFill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*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C00000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endParaRPr lang="en-US" altLang="en-US" sz="700" b="0">
                        <a:solidFill>
                          <a:srgbClr val="C00000"/>
                        </a:solidFill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C00000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endParaRPr lang="en-US" altLang="en-US" sz="700" b="0">
                        <a:solidFill>
                          <a:srgbClr val="C00000"/>
                        </a:solidFill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55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10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2024/10/09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highlight>
                            <a:srgbClr val="FFFF00"/>
                          </a:highlight>
                          <a:latin typeface="Times New Roman" panose="02020503050405090304" charset="0"/>
                          <a:cs typeface="Times New Roman" panose="02020503050405090304" charset="0"/>
                        </a:rPr>
                        <a:t>Reading</a:t>
                      </a:r>
                      <a:endParaRPr lang="en-US" altLang="en-US" sz="700" b="0">
                        <a:highlight>
                          <a:srgbClr val="FFFF00"/>
                        </a:highlight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拉动少数族裔选票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西班牙裔68.9%, 非裔8.5%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11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2024/10/09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Scranton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阐述自己的经济纲领，巩固民粹主义基本盘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基础制造业发达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90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12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2024/10/05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Butler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象征意义，共和党团结象征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遭受枪击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13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2024/09/29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Erie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巩固民粹基本盘；拉动少数族裔选票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基础制造业发达；非裔17%，西班牙裔8%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14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2024/09/23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Indiana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巩固民粹基本盘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44%居民生活在贫困线以下；基础制造业发达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97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15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2024/09/10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363636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Philadelphia</a:t>
                      </a:r>
                      <a:endParaRPr lang="en-US" altLang="en-US" sz="700" b="0">
                        <a:solidFill>
                          <a:srgbClr val="363636"/>
                        </a:solidFill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宣传政纲；拉动少数族裔选票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宾州的核心城市；40%非裔，15%西班牙裔，8%亚裔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74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16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2024/09/04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Harrisburg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拉动少数族裔选票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40%非裔，25%西班牙裔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17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2024/08/30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363636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Johnstown</a:t>
                      </a:r>
                      <a:endParaRPr lang="en-US" altLang="en-US" sz="700" b="0">
                        <a:solidFill>
                          <a:srgbClr val="363636"/>
                        </a:solidFill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巩固民粹基本盘；拉动少数族裔选票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20%非裔，4%西班牙裔；34%生活在贫困线以下；基础制造业发达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18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2024/08/19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363636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York</a:t>
                      </a:r>
                      <a:endParaRPr lang="en-US" altLang="en-US" sz="700" b="0">
                        <a:solidFill>
                          <a:srgbClr val="363636"/>
                        </a:solidFill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拉动少数族裔选票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38%西班牙裔，23%非裔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74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19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2024/08/17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363636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Wilkes-Barre</a:t>
                      </a:r>
                      <a:endParaRPr lang="en-US" altLang="en-US" sz="700" b="0">
                        <a:solidFill>
                          <a:srgbClr val="363636"/>
                        </a:solidFill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少数族裔选票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15%非裔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20</a:t>
                      </a:r>
                      <a:endParaRPr lang="en-US" altLang="en-US" sz="7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2024/07/31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363636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Harrisburg</a:t>
                      </a:r>
                      <a:endParaRPr lang="en-US" altLang="en-US" sz="700" b="0">
                        <a:solidFill>
                          <a:srgbClr val="363636"/>
                        </a:solidFill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拉动少数族裔选票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Times New Roman" panose="02020503050405090304" charset="0"/>
                          <a:cs typeface="Times New Roman" panose="02020503050405090304" charset="0"/>
                        </a:rPr>
                        <a:t>40%非裔，25%西班牙裔</a:t>
                      </a:r>
                      <a:endParaRPr lang="en-US" altLang="en-US" sz="700" b="0">
                        <a:latin typeface="Times New Roman" panose="02020503050405090304" charset="0"/>
                        <a:ea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30505" y="5022850"/>
            <a:ext cx="406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宋体" pitchFamily="2" charset="-122"/>
                <a:ea typeface="宋体" pitchFamily="2" charset="-122"/>
              </a:rPr>
              <a:t>无法穷尽所有信息；但两党的行动都体现出一个共识：高强度、高聚焦的集会是政党动员的重要保证，甚至是首要保证！</a:t>
            </a:r>
            <a:endParaRPr lang="zh-CN" altLang="en-US" sz="2000" b="1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8930" y="358140"/>
            <a:ext cx="2894965" cy="876300"/>
            <a:chOff x="2360" y="4651"/>
            <a:chExt cx="4559" cy="1380"/>
          </a:xfrm>
        </p:grpSpPr>
        <p:sp>
          <p:nvSpPr>
            <p:cNvPr id="3" name="文本框 2"/>
            <p:cNvSpPr txBox="1"/>
            <p:nvPr>
              <p:custDataLst>
                <p:tags r:id="rId2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3890" y="4833"/>
              <a:ext cx="3029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动员路径建构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4"/>
              </p:custDataLst>
            </p:nvPr>
          </p:nvSpPr>
          <p:spPr>
            <a:xfrm>
              <a:off x="3892" y="5382"/>
              <a:ext cx="3027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Mobilization Path Construction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圆角矩形 103"/>
            <p:cNvSpPr/>
            <p:nvPr>
              <p:custDataLst>
                <p:tags r:id="rId5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054735" y="1234440"/>
            <a:ext cx="33997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情绪动员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借势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集会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0505" y="38747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+mn-ea"/>
                <a:cs typeface="+mn-ea"/>
              </a:rPr>
              <a:t>20</a:t>
            </a:r>
            <a:r>
              <a:rPr lang="zh-CN" altLang="en-US" b="1">
                <a:latin typeface="+mn-ea"/>
                <a:cs typeface="+mn-ea"/>
              </a:rPr>
              <a:t>年线下集会减少，客观上削弱了特朗普的情绪动员优势</a:t>
            </a:r>
            <a:endParaRPr lang="zh-CN" altLang="en-US" b="1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328930" y="358140"/>
            <a:ext cx="6589395" cy="876300"/>
            <a:chOff x="2360" y="4651"/>
            <a:chExt cx="10377" cy="1380"/>
          </a:xfrm>
        </p:grpSpPr>
        <p:sp>
          <p:nvSpPr>
            <p:cNvPr id="4" name="文本框 3"/>
            <p:cNvSpPr txBox="1"/>
            <p:nvPr>
              <p:custDataLst>
                <p:tags r:id="rId1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3890" y="4833"/>
              <a:ext cx="8847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动员路径建构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情绪动员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借势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集会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3"/>
              </p:custDataLst>
            </p:nvPr>
          </p:nvSpPr>
          <p:spPr>
            <a:xfrm>
              <a:off x="3892" y="5382"/>
              <a:ext cx="3027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Mobilization Path Construction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圆角矩形 103"/>
            <p:cNvSpPr/>
            <p:nvPr>
              <p:custDataLst>
                <p:tags r:id="rId4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572770" y="1234440"/>
            <a:ext cx="10598150" cy="5400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有关民粹主义动员</a:t>
            </a:r>
            <a:r>
              <a:rPr lang="en-US" altLang="zh-CN"/>
              <a:t>(Populism Mobilization)</a:t>
            </a:r>
            <a:r>
              <a:rPr lang="zh-CN" altLang="en-US"/>
              <a:t>的研究多如牛毛：</a:t>
            </a:r>
            <a:r>
              <a:rPr lang="en-US" altLang="zh-CN"/>
              <a:t>Oliver and Rahn, 2016; </a:t>
            </a:r>
            <a:r>
              <a:rPr lang="zh-CN" altLang="en-US"/>
              <a:t>刁大明，</a:t>
            </a:r>
            <a:r>
              <a:rPr lang="en-US" altLang="zh-CN"/>
              <a:t>2016</a:t>
            </a:r>
            <a:r>
              <a:rPr lang="zh-CN" altLang="en-US"/>
              <a:t>；</a:t>
            </a:r>
            <a:r>
              <a:rPr lang="en-US" altLang="zh-CN"/>
              <a:t>Inglehart and Norris, 2017; </a:t>
            </a:r>
            <a:r>
              <a:rPr lang="zh-CN" altLang="en-US"/>
              <a:t>谢韬，</a:t>
            </a:r>
            <a:r>
              <a:rPr lang="en-US" altLang="zh-CN"/>
              <a:t>2021......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产生原因（田野，</a:t>
            </a:r>
            <a:r>
              <a:rPr lang="en-US" altLang="zh-CN"/>
              <a:t>2020</a:t>
            </a:r>
            <a:r>
              <a:rPr lang="zh-CN" altLang="en-US"/>
              <a:t>）</a:t>
            </a:r>
            <a:r>
              <a:rPr lang="en-US" altLang="zh-CN"/>
              <a:t>: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全球化中经济利益受损；</a:t>
            </a:r>
            <a:r>
              <a:rPr lang="en-US" altLang="zh-CN"/>
              <a:t>2. </a:t>
            </a:r>
            <a:r>
              <a:rPr lang="zh-CN" altLang="en-US"/>
              <a:t>身份政治带来的被忽视感；</a:t>
            </a:r>
            <a:r>
              <a:rPr lang="en-US" altLang="zh-CN"/>
              <a:t>3. </a:t>
            </a:r>
            <a:r>
              <a:rPr lang="zh-CN" altLang="en-US"/>
              <a:t>个体心理差异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历史路径的解释：</a:t>
            </a:r>
            <a:endParaRPr lang="zh-CN" altLang="en-US"/>
          </a:p>
          <a:p>
            <a:r>
              <a:rPr lang="zh-CN" b="1">
                <a:latin typeface="+mn-ea"/>
                <a:cs typeface="+mn-ea"/>
                <a:sym typeface="+mn-ea"/>
              </a:rPr>
              <a:t>两党的运作不是简单的simple mirror images，而是asymmetry</a:t>
            </a:r>
            <a:r>
              <a:rPr lang="en-US" altLang="zh-CN" b="1">
                <a:latin typeface="+mn-ea"/>
                <a:cs typeface="+mn-ea"/>
                <a:sym typeface="+mn-ea"/>
              </a:rPr>
              <a:t> rooted in history</a:t>
            </a:r>
            <a:r>
              <a:rPr lang="zh-CN" altLang="en-US" b="1">
                <a:latin typeface="+mn-ea"/>
                <a:cs typeface="+mn-ea"/>
                <a:sym typeface="+mn-ea"/>
              </a:rPr>
              <a:t>；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Grossmann and Hopkins, 2016)</a:t>
            </a:r>
            <a:r>
              <a:rPr lang="zh-CN" altLang="en-US">
                <a:sym typeface="+mn-ea"/>
              </a:rPr>
              <a:t>；</a:t>
            </a:r>
            <a:r>
              <a:rPr lang="en-US" altLang="zh-CN">
                <a:sym typeface="+mn-ea"/>
              </a:rPr>
              <a:t>Jacksonism/</a:t>
            </a:r>
            <a:r>
              <a:rPr lang="zh-CN" altLang="en-US">
                <a:sym typeface="+mn-ea"/>
              </a:rPr>
              <a:t>保守主义的回潮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谢韬，</a:t>
            </a:r>
            <a:r>
              <a:rPr lang="en-US" altLang="zh-CN">
                <a:sym typeface="+mn-ea"/>
              </a:rPr>
              <a:t>2021)</a:t>
            </a:r>
            <a:br>
              <a:rPr lang="zh-CN" altLang="en-US" b="1">
                <a:latin typeface="+mn-ea"/>
                <a:cs typeface="+mn-ea"/>
                <a:sym typeface="+mn-ea"/>
              </a:rPr>
            </a:br>
            <a:endParaRPr lang="zh-CN" b="1">
              <a:latin typeface="+mn-ea"/>
              <a:cs typeface="+mn-ea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35" y="3792220"/>
            <a:ext cx="8987790" cy="27089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770" y="3811905"/>
            <a:ext cx="8987790" cy="2708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2" name="组合 21"/>
          <p:cNvGrpSpPr/>
          <p:nvPr/>
        </p:nvGrpSpPr>
        <p:grpSpPr>
          <a:xfrm>
            <a:off x="186690" y="248920"/>
            <a:ext cx="6167755" cy="876300"/>
            <a:chOff x="2360" y="4651"/>
            <a:chExt cx="9713" cy="1380"/>
          </a:xfrm>
        </p:grpSpPr>
        <p:sp>
          <p:nvSpPr>
            <p:cNvPr id="33" name="文本框 32"/>
            <p:cNvSpPr txBox="1"/>
            <p:nvPr>
              <p:custDataLst>
                <p:tags r:id="rId1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2"/>
              </p:custDataLst>
            </p:nvPr>
          </p:nvSpPr>
          <p:spPr>
            <a:xfrm>
              <a:off x="3890" y="4833"/>
              <a:ext cx="8183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动员路径建构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基于要素禀赋的路径分化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3"/>
              </p:custDataLst>
            </p:nvPr>
          </p:nvSpPr>
          <p:spPr>
            <a:xfrm>
              <a:off x="3892" y="5382"/>
              <a:ext cx="3027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Mobilization Path Construction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圆角矩形 103"/>
            <p:cNvSpPr/>
            <p:nvPr>
              <p:custDataLst>
                <p:tags r:id="rId4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77875" y="1329055"/>
            <a:ext cx="3683635" cy="2029460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159510" y="761365"/>
          <a:ext cx="10041890" cy="47383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2535"/>
                <a:gridCol w="3782060"/>
                <a:gridCol w="3757295"/>
              </a:tblGrid>
              <a:tr h="394970">
                <a:tc rowSpan="2">
                  <a:txBody>
                    <a:bodyPr/>
                    <a:p>
                      <a:pPr algn="ctr"/>
                      <a:r>
                        <a:rPr lang="zh-CN" altLang="en-US" sz="2000" b="1" kern="100" dirty="0"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charset="0"/>
                        </a:rPr>
                        <a:t>选民群体扩张时期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charset="0"/>
                        </a:rPr>
                        <a:t> </a:t>
                      </a:r>
                      <a:endParaRPr lang="en-US" sz="2000" b="1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p>
                      <a:pPr algn="ctr"/>
                      <a:r>
                        <a:rPr lang="zh-CN" altLang="en-US" sz="2000" b="0" kern="100" dirty="0"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信息网络</a:t>
                      </a:r>
                      <a:r>
                        <a:rPr lang="en-US" sz="2000" b="0" kern="100" dirty="0"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/</a:t>
                      </a:r>
                      <a:r>
                        <a:rPr lang="zh-CN" altLang="en-US" sz="2000" b="0" kern="100" dirty="0"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政策纲领</a:t>
                      </a:r>
                      <a:r>
                        <a:rPr lang="zh-CN" sz="2000" b="0" kern="100" dirty="0"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的比例</a:t>
                      </a:r>
                      <a:endParaRPr lang="zh-CN" sz="2000" b="0" kern="100" dirty="0">
                        <a:solidFill>
                          <a:schemeClr val="bg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cPr/>
                </a:tc>
              </a:tr>
              <a:tr h="394970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zh-CN" sz="2000" b="0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charset="0"/>
                        </a:rPr>
                        <a:t>（相对）高</a:t>
                      </a:r>
                      <a:endParaRPr lang="zh-CN" sz="2000" b="0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/>
                      <a:r>
                        <a:rPr lang="zh-CN" sz="2000" b="0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charset="0"/>
                        </a:rPr>
                        <a:t>（相对）低</a:t>
                      </a:r>
                      <a:endParaRPr lang="zh-CN" sz="2000" b="0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1974215">
                <a:tc>
                  <a:txBody>
                    <a:bodyPr/>
                    <a:p>
                      <a:pPr algn="ctr"/>
                      <a:r>
                        <a:rPr lang="zh-CN" sz="2000" b="0" kern="100" dirty="0"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charset="0"/>
                        </a:rPr>
                        <a:t>情绪动员充裕</a:t>
                      </a:r>
                      <a:endParaRPr lang="zh-CN" sz="2000" b="0" kern="100" dirty="0">
                        <a:solidFill>
                          <a:schemeClr val="bg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/>
                      <a:r>
                        <a:rPr lang="zh-CN" sz="2000" b="1" kern="100" dirty="0"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最有效</a:t>
                      </a:r>
                      <a:endParaRPr lang="zh-CN" sz="2000" b="1" kern="100" dirty="0">
                        <a:solidFill>
                          <a:schemeClr val="accent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  <a:p>
                      <a:pPr algn="ctr"/>
                      <a:r>
                        <a:rPr lang="zh-CN" altLang="en-US" sz="2000" b="0" kern="100" dirty="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情绪化的话语和叙事更受青睐；</a:t>
                      </a:r>
                      <a:endParaRPr lang="zh-CN" altLang="en-US" sz="2000" b="0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  <a:p>
                      <a:pPr algn="ctr"/>
                      <a:r>
                        <a:rPr lang="zh-CN" altLang="en-US" sz="2000" b="0" kern="100" dirty="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大肆利用信息网络进行营销</a:t>
                      </a:r>
                      <a:endParaRPr lang="en-US" altLang="zh-CN" sz="2000" b="0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  <a:p>
                      <a:pPr algn="ctr"/>
                      <a:endParaRPr lang="en-US" altLang="zh-CN" sz="2000" b="0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/>
                      <a:r>
                        <a:rPr lang="zh-CN" sz="2000" b="1" kern="100" dirty="0"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次有效</a:t>
                      </a:r>
                      <a:endParaRPr lang="zh-CN" sz="2000" b="1" kern="100" dirty="0">
                        <a:solidFill>
                          <a:schemeClr val="accent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  <a:p>
                      <a:pPr algn="ctr"/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情绪化的话语和叙事更受青睐；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  <a:p>
                      <a:pPr algn="ctr"/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多向选民阐释政策纲领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  <a:p>
                      <a:pPr algn="ctr"/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（特朗普）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1974215">
                <a:tc>
                  <a:txBody>
                    <a:bodyPr/>
                    <a:p>
                      <a:pPr algn="ctr"/>
                      <a:r>
                        <a:rPr lang="zh-CN" sz="2000" b="0" kern="100" dirty="0"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charset="0"/>
                        </a:rPr>
                        <a:t>情绪动员稀缺</a:t>
                      </a:r>
                      <a:endParaRPr lang="zh-CN" sz="2000" b="0" kern="100" dirty="0">
                        <a:solidFill>
                          <a:schemeClr val="bg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/>
                      <a:r>
                        <a:rPr lang="zh-CN" sz="2000" b="1" kern="100" dirty="0"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次次有效</a:t>
                      </a:r>
                      <a:endParaRPr lang="zh-CN" sz="2000" b="1" kern="100" dirty="0">
                        <a:solidFill>
                          <a:schemeClr val="accent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  <a:p>
                      <a:pPr algn="ctr"/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尝试进行情绪化的话语叙事；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  <a:p>
                      <a:pPr algn="ctr"/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但更偏向利用信息网络营销人设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  <a:p>
                      <a:pPr algn="ctr"/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（希拉里，哈里斯）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  <a:p>
                      <a:pPr algn="ctr"/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/>
                      <a:r>
                        <a:rPr lang="zh-CN" sz="2000" b="1" kern="100" dirty="0"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最无效</a:t>
                      </a:r>
                      <a:endParaRPr lang="zh-CN" sz="2000" b="1" kern="100" dirty="0">
                        <a:solidFill>
                          <a:schemeClr val="accent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  <a:p>
                      <a:pPr algn="ctr"/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尝试进行情绪化的话语叙事；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  <a:p>
                      <a:pPr algn="ctr"/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但更偏向阐释清晰的纲领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158240" y="5499735"/>
            <a:ext cx="10041890" cy="1294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</a:t>
            </a:r>
            <a:r>
              <a:rPr lang="zh-CN" altLang="en-US"/>
              <a:t>由于两党对竞选集会的重视，集会可以被视为常数；而两党政策纲领的清晰程度可成为变量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现代信息网络动员能力是民主党的充裕要素，主流媒体几乎都带有民主党色彩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情绪动员能力则是共和党的充裕要素，其话语和叙事在线下集会能发挥最大威力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基于</a:t>
            </a:r>
            <a:r>
              <a:rPr lang="en-US" altLang="zh-CN"/>
              <a:t>“</a:t>
            </a:r>
            <a:r>
              <a:rPr lang="zh-CN" altLang="en-US"/>
              <a:t>选举市场</a:t>
            </a:r>
            <a:r>
              <a:rPr lang="en-US" altLang="zh-CN"/>
              <a:t>”(</a:t>
            </a:r>
            <a:r>
              <a:rPr lang="zh-CN" altLang="en-US"/>
              <a:t>赵可金，</a:t>
            </a:r>
            <a:r>
              <a:rPr lang="en-US" altLang="zh-CN"/>
              <a:t>2008)</a:t>
            </a:r>
            <a:r>
              <a:rPr lang="zh-CN" altLang="en-US"/>
              <a:t>假设的各要素间的互动，上述表格能够解释两党动员策略的选择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7" name="组合 36"/>
          <p:cNvGrpSpPr/>
          <p:nvPr/>
        </p:nvGrpSpPr>
        <p:grpSpPr>
          <a:xfrm>
            <a:off x="504190" y="332740"/>
            <a:ext cx="2894965" cy="876300"/>
            <a:chOff x="2360" y="4651"/>
            <a:chExt cx="4559" cy="1380"/>
          </a:xfrm>
        </p:grpSpPr>
        <p:sp>
          <p:nvSpPr>
            <p:cNvPr id="38" name="文本框 37"/>
            <p:cNvSpPr txBox="1"/>
            <p:nvPr>
              <p:custDataLst>
                <p:tags r:id="rId1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2"/>
              </p:custDataLst>
            </p:nvPr>
          </p:nvSpPr>
          <p:spPr>
            <a:xfrm>
              <a:off x="3890" y="4827"/>
              <a:ext cx="1885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结论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矩形 39"/>
            <p:cNvSpPr/>
            <p:nvPr>
              <p:custDataLst>
                <p:tags r:id="rId3"/>
              </p:custDataLst>
            </p:nvPr>
          </p:nvSpPr>
          <p:spPr>
            <a:xfrm>
              <a:off x="3892" y="5382"/>
              <a:ext cx="3027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Conclusion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圆角矩形 103"/>
            <p:cNvSpPr/>
            <p:nvPr>
              <p:custDataLst>
                <p:tags r:id="rId4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683895" y="3731260"/>
            <a:ext cx="9134475" cy="2970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1. </a:t>
            </a:r>
            <a:r>
              <a:rPr lang="zh-CN" altLang="en-US" b="1"/>
              <a:t>充裕的资本是政党动员得以展开的</a:t>
            </a:r>
            <a:r>
              <a:rPr lang="en-US" altLang="zh-CN" b="1"/>
              <a:t>“</a:t>
            </a:r>
            <a:r>
              <a:rPr lang="zh-CN" altLang="en-US" b="1"/>
              <a:t>压舱石</a:t>
            </a:r>
            <a:r>
              <a:rPr lang="en-US" altLang="zh-CN" b="1"/>
              <a:t>”</a:t>
            </a:r>
            <a:r>
              <a:rPr lang="zh-CN" altLang="en-US" b="1"/>
              <a:t>，但易导致选举政治沦为金钱政治</a:t>
            </a:r>
            <a:r>
              <a:rPr lang="en-US" altLang="zh-CN" b="1"/>
              <a:t> 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>
                <a:sym typeface="+mn-ea"/>
              </a:rPr>
              <a:t>2. </a:t>
            </a:r>
            <a:r>
              <a:rPr lang="zh-CN" altLang="en-US" b="1">
                <a:sym typeface="+mn-ea"/>
              </a:rPr>
              <a:t>高强度、高聚焦的集会仍然是动员选民的最有效途径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en-US" altLang="zh-CN" b="1">
                <a:sym typeface="+mn-ea"/>
              </a:rPr>
              <a:t>3. </a:t>
            </a:r>
            <a:r>
              <a:rPr lang="zh-CN" altLang="en-US" b="1">
                <a:sym typeface="+mn-ea"/>
              </a:rPr>
              <a:t>尽管新媒体技术发展迅猛，但它在当下选举动员中的作用仍然是次要的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en-US" altLang="zh-CN" b="1">
                <a:sym typeface="+mn-ea"/>
              </a:rPr>
              <a:t>4. </a:t>
            </a:r>
            <a:r>
              <a:rPr lang="zh-CN" altLang="en-US" b="1">
                <a:sym typeface="+mn-ea"/>
              </a:rPr>
              <a:t>政党动员选民的核心始终是调用不同的要素来巩固、调动基本盘，并争取独立选民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en-US" altLang="zh-CN" b="1">
                <a:sym typeface="+mn-ea"/>
              </a:rPr>
              <a:t>5. </a:t>
            </a:r>
            <a:r>
              <a:rPr lang="zh-CN" altLang="en-US" b="1">
                <a:sym typeface="+mn-ea"/>
              </a:rPr>
              <a:t>两党在动员中所能调用的要素比例也是不同的，情绪动员是共和党的充裕要素，信息舆论是民主党的充裕要素，基于不同的要素会有不同的动员选择偏好</a:t>
            </a:r>
            <a:endParaRPr lang="zh-CN" altLang="en-US" b="1"/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83895" y="1209040"/>
            <a:ext cx="8622030" cy="25222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7" name="组合 36"/>
          <p:cNvGrpSpPr/>
          <p:nvPr/>
        </p:nvGrpSpPr>
        <p:grpSpPr>
          <a:xfrm>
            <a:off x="504190" y="332740"/>
            <a:ext cx="2168525" cy="876300"/>
            <a:chOff x="2360" y="4651"/>
            <a:chExt cx="3415" cy="1380"/>
          </a:xfrm>
        </p:grpSpPr>
        <p:sp>
          <p:nvSpPr>
            <p:cNvPr id="38" name="文本框 37"/>
            <p:cNvSpPr txBox="1"/>
            <p:nvPr>
              <p:custDataLst>
                <p:tags r:id="rId1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en-US" altLang="zh-CN" sz="4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2"/>
              </p:custDataLst>
            </p:nvPr>
          </p:nvSpPr>
          <p:spPr>
            <a:xfrm>
              <a:off x="3890" y="4827"/>
              <a:ext cx="1885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反思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矩形 39"/>
            <p:cNvSpPr/>
            <p:nvPr>
              <p:custDataLst>
                <p:tags r:id="rId3"/>
              </p:custDataLst>
            </p:nvPr>
          </p:nvSpPr>
          <p:spPr>
            <a:xfrm>
              <a:off x="3892" y="5382"/>
              <a:ext cx="1883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</a:rPr>
                <a:t>Reflection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圆角矩形 103"/>
            <p:cNvSpPr/>
            <p:nvPr>
              <p:custDataLst>
                <p:tags r:id="rId4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340610" y="20199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3895" y="1209040"/>
            <a:ext cx="9343390" cy="2508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1.</a:t>
            </a:r>
            <a:r>
              <a:rPr lang="en-US" altLang="zh-CN" b="1"/>
              <a:t> </a:t>
            </a:r>
            <a:r>
              <a:rPr lang="zh-CN" altLang="en-US" b="1"/>
              <a:t>借用</a:t>
            </a:r>
            <a:r>
              <a:rPr lang="en-US" altLang="zh-CN" b="1"/>
              <a:t>IPE</a:t>
            </a:r>
            <a:r>
              <a:rPr lang="zh-CN" altLang="en-US" b="1"/>
              <a:t>概念</a:t>
            </a:r>
            <a:r>
              <a:rPr lang="en-US" altLang="zh-CN" b="1"/>
              <a:t>(</a:t>
            </a:r>
            <a:r>
              <a:rPr lang="zh-CN" altLang="en-US" b="1"/>
              <a:t>要素模型</a:t>
            </a:r>
            <a:r>
              <a:rPr lang="en-US" altLang="zh-CN" b="1"/>
              <a:t>)</a:t>
            </a:r>
            <a:r>
              <a:rPr lang="zh-CN" altLang="en-US" b="1"/>
              <a:t>阐释美国政治的不妥</a:t>
            </a:r>
            <a:endParaRPr lang="zh-CN" altLang="en-US" b="1"/>
          </a:p>
          <a:p>
            <a:endParaRPr lang="zh-CN" altLang="en-US" b="1"/>
          </a:p>
          <a:p>
            <a:r>
              <a:rPr lang="en-US" altLang="zh-CN" b="1"/>
              <a:t>2. </a:t>
            </a:r>
            <a:r>
              <a:rPr lang="zh-CN" altLang="en-US" b="1">
                <a:sym typeface="+mn-ea"/>
              </a:rPr>
              <a:t>美国政治≠国际关系≠比较政治；陷入了美国政治研究方法论上的窘境（尽管本研究着重借鉴了社会联盟范式）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en-US" altLang="zh-CN" b="1">
                <a:sym typeface="+mn-ea"/>
              </a:rPr>
              <a:t>3. </a:t>
            </a:r>
            <a:r>
              <a:rPr lang="zh-CN" altLang="en-US" b="1">
                <a:sym typeface="+mn-ea"/>
              </a:rPr>
              <a:t>泛而不细，框架里的每个变量/要素对动员能力/投票率的影响都可以单独成为一个研究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en-US" altLang="zh-CN" b="1">
                <a:sym typeface="+mn-ea"/>
              </a:rPr>
              <a:t>4. </a:t>
            </a:r>
            <a:r>
              <a:rPr lang="zh-CN" altLang="en-US" b="1">
                <a:sym typeface="+mn-ea"/>
              </a:rPr>
              <a:t>政党与选举难以分割，谈论政党变成了谈论选举，导致失焦</a:t>
            </a:r>
            <a:endParaRPr lang="zh-CN" altLang="en-US" b="1"/>
          </a:p>
          <a:p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683895" y="3717290"/>
            <a:ext cx="10108565" cy="3101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/>
              <a:t>主要参考资料：</a:t>
            </a:r>
            <a:endParaRPr lang="zh-CN" altLang="en-US" sz="1600" b="1"/>
          </a:p>
          <a:p>
            <a:r>
              <a:rPr lang="en-US" altLang="zh-CN" sz="1600">
                <a:sym typeface="+mn-ea"/>
              </a:rPr>
              <a:t>1. Ronald </a:t>
            </a:r>
            <a:r>
              <a:rPr lang="en-US" altLang="zh-CN" sz="1600">
                <a:sym typeface="+mn-ea"/>
              </a:rPr>
              <a:t>Rogowski, </a:t>
            </a:r>
            <a:r>
              <a:rPr lang="en-US" altLang="zh-CN" sz="1600" i="1">
                <a:sym typeface="+mn-ea"/>
              </a:rPr>
              <a:t>Commerce and coalitions: How trade affects domestic political alignments,</a:t>
            </a:r>
            <a:r>
              <a:rPr lang="en-US" altLang="zh-CN" sz="1600">
                <a:sym typeface="+mn-ea"/>
              </a:rPr>
              <a:t> Princeton University Press, 1990.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2. Hans-Georg </a:t>
            </a:r>
            <a:r>
              <a:rPr lang="en-US" altLang="zh-CN" sz="1600">
                <a:sym typeface="+mn-ea"/>
              </a:rPr>
              <a:t>Betz and Michael Oswald, "Emotional mobilization: The affective underpinnings of right-wing populist party support,"</a:t>
            </a:r>
            <a:r>
              <a:rPr lang="en-US" altLang="zh-CN" sz="1600" i="1">
                <a:sym typeface="+mn-ea"/>
              </a:rPr>
              <a:t> The Palgrave handbook of populism,</a:t>
            </a:r>
            <a:r>
              <a:rPr lang="en-US" altLang="zh-CN" sz="1600">
                <a:sym typeface="+mn-ea"/>
              </a:rPr>
              <a:t> Vol.22, No.2, 2022, 115-143.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3. Matt </a:t>
            </a:r>
            <a:r>
              <a:rPr lang="en-US" altLang="zh-CN" sz="1600"/>
              <a:t>Grossmann and David A. Hopkins, </a:t>
            </a:r>
            <a:r>
              <a:rPr lang="en-US" altLang="zh-CN" sz="1600" i="1"/>
              <a:t>Asymmetric politics: Ideological Republicans and group interest Democrats,</a:t>
            </a:r>
            <a:r>
              <a:rPr lang="en-US" altLang="zh-CN" sz="1600"/>
              <a:t> Oxford University Press, 2016.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4. </a:t>
            </a:r>
            <a:r>
              <a:rPr lang="zh-CN" altLang="en-US" sz="1600">
                <a:sym typeface="+mn-ea"/>
              </a:rPr>
              <a:t>刁大明：《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特朗普现象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探析》，《现代国际关系》</a:t>
            </a:r>
            <a:r>
              <a:rPr lang="en-US" altLang="zh-CN" sz="1600">
                <a:sym typeface="+mn-ea"/>
              </a:rPr>
              <a:t>2016</a:t>
            </a:r>
            <a:r>
              <a:rPr lang="zh-CN" altLang="en-US" sz="1600">
                <a:sym typeface="+mn-ea"/>
              </a:rPr>
              <a:t>年第</a:t>
            </a:r>
            <a:r>
              <a:rPr lang="en-US" altLang="zh-CN" sz="1600">
                <a:sym typeface="+mn-ea"/>
              </a:rPr>
              <a:t>4</a:t>
            </a:r>
            <a:r>
              <a:rPr lang="zh-CN" altLang="en-US" sz="1600">
                <a:sym typeface="+mn-ea"/>
              </a:rPr>
              <a:t>期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5. </a:t>
            </a:r>
            <a:r>
              <a:rPr lang="zh-CN" altLang="en-US" sz="1600">
                <a:sym typeface="+mn-ea"/>
              </a:rPr>
              <a:t>谢韬：《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贱民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还是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王子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》，《探索与争鸣》</a:t>
            </a:r>
            <a:r>
              <a:rPr lang="en-US" altLang="zh-CN" sz="1600">
                <a:sym typeface="+mn-ea"/>
              </a:rPr>
              <a:t>2021</a:t>
            </a:r>
            <a:r>
              <a:rPr lang="zh-CN" altLang="en-US" sz="1600">
                <a:sym typeface="+mn-ea"/>
              </a:rPr>
              <a:t>年第</a:t>
            </a:r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期</a:t>
            </a:r>
            <a:endParaRPr lang="zh-CN" altLang="en-US" sz="1600"/>
          </a:p>
          <a:p>
            <a:r>
              <a:rPr lang="en-US" altLang="zh-CN" sz="1600"/>
              <a:t>6. </a:t>
            </a:r>
            <a:r>
              <a:rPr lang="zh-CN" altLang="en-US" sz="1600"/>
              <a:t>赵可金：《美国政治营销的兴起》，《美国研究》</a:t>
            </a:r>
            <a:r>
              <a:rPr lang="en-US" altLang="zh-CN" sz="1600"/>
              <a:t>2008</a:t>
            </a:r>
            <a:r>
              <a:rPr lang="zh-CN" altLang="en-US" sz="1600"/>
              <a:t>年第</a:t>
            </a:r>
            <a:r>
              <a:rPr lang="en-US" altLang="zh-CN" sz="1600"/>
              <a:t>2</a:t>
            </a:r>
            <a:r>
              <a:rPr lang="zh-CN" altLang="en-US" sz="1600"/>
              <a:t>期</a:t>
            </a:r>
            <a:endParaRPr lang="zh-CN" altLang="en-US" sz="1600"/>
          </a:p>
          <a:p>
            <a:r>
              <a:rPr lang="zh-CN" altLang="en-US" sz="1600"/>
              <a:t>新闻网站：</a:t>
            </a:r>
            <a:r>
              <a:rPr lang="en-US" altLang="zh-CN" sz="1600">
                <a:sym typeface="+mn-ea"/>
              </a:rPr>
              <a:t>AP News, The </a:t>
            </a:r>
            <a:r>
              <a:rPr lang="en-US" altLang="zh-CN" sz="1600"/>
              <a:t>Washington Post, AdImpact, OpenSecre</a:t>
            </a:r>
            <a:r>
              <a:rPr lang="en-US" altLang="zh-CN"/>
              <a:t>ts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TABLE_ENDDRAG_ORIGIN_RECT" val="585*484"/>
  <p:tag name="TABLE_ENDDRAG_RECT" val="20*7*585*484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TABLE_ENDDRAG_ORIGIN_RECT" val="790*373"/>
  <p:tag name="TABLE_ENDDRAG_RECT" val="34*36*790*373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commondata" val="eyJoZGlkIjoiODdmZmRiMWE3ZDdiYWViY2JhOTNkMDFiNDAwNjY5Yj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3941</Words>
  <Application>WPS 文字</Application>
  <PresentationFormat>宽屏</PresentationFormat>
  <Paragraphs>443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汉仪旗黑</vt:lpstr>
      <vt:lpstr>汉仪书宋二KW</vt:lpstr>
      <vt:lpstr>Times New Roman</vt:lpstr>
      <vt:lpstr>Calibri</vt:lpstr>
      <vt:lpstr>Helvetica Neue</vt:lpstr>
      <vt:lpstr>宋体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hpP</dc:creator>
  <cp:lastModifiedBy>hebingqi</cp:lastModifiedBy>
  <cp:revision>192</cp:revision>
  <dcterms:created xsi:type="dcterms:W3CDTF">2025-01-08T00:45:52Z</dcterms:created>
  <dcterms:modified xsi:type="dcterms:W3CDTF">2025-01-08T00:45:52Z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2052-6.14.0.8924</vt:lpwstr>
  </property>
</Properties>
</file>